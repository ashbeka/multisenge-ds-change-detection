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62" r:id="rId4"/>
    <p:sldId id="290" r:id="rId5"/>
    <p:sldId id="281" r:id="rId6"/>
    <p:sldId id="282" r:id="rId7"/>
    <p:sldId id="291" r:id="rId8"/>
    <p:sldId id="283" r:id="rId9"/>
    <p:sldId id="258" r:id="rId10"/>
    <p:sldId id="261" r:id="rId11"/>
    <p:sldId id="265" r:id="rId12"/>
    <p:sldId id="292" r:id="rId13"/>
    <p:sldId id="263" r:id="rId14"/>
    <p:sldId id="264" r:id="rId15"/>
    <p:sldId id="294" r:id="rId16"/>
    <p:sldId id="295" r:id="rId17"/>
    <p:sldId id="296" r:id="rId18"/>
    <p:sldId id="297" r:id="rId19"/>
    <p:sldId id="298" r:id="rId20"/>
    <p:sldId id="299" r:id="rId21"/>
    <p:sldId id="300" r:id="rId22"/>
    <p:sldId id="301" r:id="rId23"/>
    <p:sldId id="302" r:id="rId24"/>
    <p:sldId id="303" r:id="rId25"/>
    <p:sldId id="274" r:id="rId26"/>
    <p:sldId id="293"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7F"/>
    <a:srgbClr val="5A7FE7"/>
    <a:srgbClr val="9BC3F4"/>
    <a:srgbClr val="5A87EC"/>
    <a:srgbClr val="008000"/>
    <a:srgbClr val="FF9999"/>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82772" autoAdjust="0"/>
  </p:normalViewPr>
  <p:slideViewPr>
    <p:cSldViewPr snapToGrid="0">
      <p:cViewPr varScale="1">
        <p:scale>
          <a:sx n="92" d="100"/>
          <a:sy n="92" d="100"/>
        </p:scale>
        <p:origin x="123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189507-4EFF-47EF-BFAB-112AD8DEF933}" type="datetimeFigureOut">
              <a:rPr lang="en-US" smtClean="0"/>
              <a:t>7/24/2025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44C49-3EB0-4BA0-8387-002D45EC2E03}" type="slidenum">
              <a:rPr lang="en-US" smtClean="0"/>
              <a:t>‹#›</a:t>
            </a:fld>
            <a:endParaRPr lang="en-US"/>
          </a:p>
        </p:txBody>
      </p:sp>
    </p:spTree>
    <p:extLst>
      <p:ext uri="{BB962C8B-B14F-4D97-AF65-F5344CB8AC3E}">
        <p14:creationId xmlns:p14="http://schemas.microsoft.com/office/powerpoint/2010/main" val="1165438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My name is Naish Ibrahim, and today I will present my research on </a:t>
            </a:r>
            <a:r>
              <a:rPr lang="en-US" b="1" dirty="0"/>
              <a:t>Surface Pattern Recognition Using Shape Subspace.</a:t>
            </a:r>
            <a:r>
              <a:rPr lang="en-US" dirty="0"/>
              <a:t> </a:t>
            </a:r>
          </a:p>
        </p:txBody>
      </p:sp>
      <p:sp>
        <p:nvSpPr>
          <p:cNvPr id="4" name="Slide Number Placeholder 3"/>
          <p:cNvSpPr>
            <a:spLocks noGrp="1"/>
          </p:cNvSpPr>
          <p:nvPr>
            <p:ph type="sldNum" sz="quarter" idx="5"/>
          </p:nvPr>
        </p:nvSpPr>
        <p:spPr/>
        <p:txBody>
          <a:bodyPr/>
          <a:lstStyle/>
          <a:p>
            <a:fld id="{95144C49-3EB0-4BA0-8387-002D45EC2E03}" type="slidenum">
              <a:rPr lang="en-US" smtClean="0"/>
              <a:t>1</a:t>
            </a:fld>
            <a:endParaRPr lang="en-US"/>
          </a:p>
        </p:txBody>
      </p:sp>
    </p:spTree>
    <p:extLst>
      <p:ext uri="{BB962C8B-B14F-4D97-AF65-F5344CB8AC3E}">
        <p14:creationId xmlns:p14="http://schemas.microsoft.com/office/powerpoint/2010/main" val="1846050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presentation will cover the following sections.</a:t>
            </a:r>
          </a:p>
          <a:p>
            <a:endParaRPr lang="en-US" dirty="0"/>
          </a:p>
          <a:p>
            <a:r>
              <a:rPr lang="en-US" dirty="0"/>
              <a:t>Let’s start by understanding the research problem.</a:t>
            </a:r>
          </a:p>
        </p:txBody>
      </p:sp>
      <p:sp>
        <p:nvSpPr>
          <p:cNvPr id="4" name="Slide Number Placeholder 3"/>
          <p:cNvSpPr>
            <a:spLocks noGrp="1"/>
          </p:cNvSpPr>
          <p:nvPr>
            <p:ph type="sldNum" sz="quarter" idx="5"/>
          </p:nvPr>
        </p:nvSpPr>
        <p:spPr/>
        <p:txBody>
          <a:bodyPr/>
          <a:lstStyle/>
          <a:p>
            <a:fld id="{95144C49-3EB0-4BA0-8387-002D45EC2E03}" type="slidenum">
              <a:rPr lang="en-US" smtClean="0"/>
              <a:t>2</a:t>
            </a:fld>
            <a:endParaRPr lang="en-US"/>
          </a:p>
        </p:txBody>
      </p:sp>
    </p:spTree>
    <p:extLst>
      <p:ext uri="{BB962C8B-B14F-4D97-AF65-F5344CB8AC3E}">
        <p14:creationId xmlns:p14="http://schemas.microsoft.com/office/powerpoint/2010/main" val="1039310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Our research aims to address the following question:</a:t>
            </a:r>
          </a:p>
          <a:p>
            <a:br>
              <a:rPr lang="en-US" dirty="0"/>
            </a:br>
            <a:r>
              <a:rPr lang="en-US" b="1" dirty="0"/>
              <a:t>How can subspace-based methods be used to detect surface irregularities in point cloud data?</a:t>
            </a:r>
          </a:p>
          <a:p>
            <a:endParaRPr lang="en-US" dirty="0"/>
          </a:p>
          <a:p>
            <a:r>
              <a:rPr lang="en-US" dirty="0"/>
              <a:t>Point clouds are commonly used in applications such as quality control and robotics, where detecting small surface defects is critical. </a:t>
            </a:r>
          </a:p>
          <a:p>
            <a:endParaRPr lang="en-US" dirty="0"/>
          </a:p>
          <a:p>
            <a:r>
              <a:rPr lang="en-US" dirty="0"/>
              <a:t>Traditional methods for surface analysis, such as curvature estimation and edge detection, often find difficulties in identifying minor deformations, especially in complex surfaces.</a:t>
            </a:r>
            <a:br>
              <a:rPr lang="en-US" dirty="0"/>
            </a:br>
            <a:br>
              <a:rPr lang="en-US" dirty="0"/>
            </a:br>
            <a:r>
              <a:rPr lang="en-US" dirty="0"/>
              <a:t>Our research aims to address these limitations by leveraging subspace-based methods to provide a more robust and efficient method for surface pattern recognition</a:t>
            </a:r>
          </a:p>
        </p:txBody>
      </p:sp>
      <p:sp>
        <p:nvSpPr>
          <p:cNvPr id="4" name="Slide Number Placeholder 3"/>
          <p:cNvSpPr>
            <a:spLocks noGrp="1"/>
          </p:cNvSpPr>
          <p:nvPr>
            <p:ph type="sldNum" sz="quarter" idx="5"/>
          </p:nvPr>
        </p:nvSpPr>
        <p:spPr/>
        <p:txBody>
          <a:bodyPr/>
          <a:lstStyle/>
          <a:p>
            <a:fld id="{95144C49-3EB0-4BA0-8387-002D45EC2E03}" type="slidenum">
              <a:rPr lang="en-US" smtClean="0"/>
              <a:t>3</a:t>
            </a:fld>
            <a:endParaRPr lang="en-US"/>
          </a:p>
        </p:txBody>
      </p:sp>
    </p:spTree>
    <p:extLst>
      <p:ext uri="{BB962C8B-B14F-4D97-AF65-F5344CB8AC3E}">
        <p14:creationId xmlns:p14="http://schemas.microsoft.com/office/powerpoint/2010/main" val="3162921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an overview of point cloud processing.</a:t>
            </a:r>
          </a:p>
          <a:p>
            <a:endParaRPr lang="en-US" dirty="0"/>
          </a:p>
          <a:p>
            <a:r>
              <a:rPr lang="en-US" dirty="0"/>
              <a:t>A point cloud is a set of data points in a three-dimensional space, where each point represents a position on the surface of an object.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cloud data is typically obtained using sensors like LiDAR and structured light scanners, and is commonly used in applications such as 3D mapping, object recognition, and quality inspection.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Despite its usefulness, processing point cloud data presents several challenges.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main challenges is that point clouds are unstructured, meaning they lack inherent connectivity information between points.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challenge is the presence of noise and inconsistencies, which arise due to environmental factors or sensor limitations.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addition, handling large-scale point cloud data can be computationally expensive, requiring efficient algorithms for real-time processing.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overcome these challenges, our research explores subspace-based methods that provide a mathematical framework to analyze and extract meaningful geometric information from point cloud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4</a:t>
            </a:fld>
            <a:endParaRPr lang="en-US"/>
          </a:p>
        </p:txBody>
      </p:sp>
    </p:spTree>
    <p:extLst>
      <p:ext uri="{BB962C8B-B14F-4D97-AF65-F5344CB8AC3E}">
        <p14:creationId xmlns:p14="http://schemas.microsoft.com/office/powerpoint/2010/main" val="3026541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subspace is a fundamental concept in our research, as it provides a compact representation of the geometric structure of point clouds.</a:t>
            </a:r>
          </a:p>
          <a:p>
            <a:endParaRPr lang="en-US" dirty="0"/>
          </a:p>
          <a:p>
            <a:r>
              <a:rPr lang="en-US" dirty="0"/>
              <a:t>The process begins by centering the data, which involves subtracting the mean position of the points to eliminate any translational bias. </a:t>
            </a:r>
          </a:p>
          <a:p>
            <a:endParaRPr lang="en-US" dirty="0"/>
          </a:p>
          <a:p>
            <a:r>
              <a:rPr lang="en-US" dirty="0"/>
              <a:t>After centering, Singular Value Decomposition, or SVD, is applied to the centered matrix to extract the most significant geometric features.</a:t>
            </a:r>
          </a:p>
          <a:p>
            <a:endParaRPr lang="en-US" dirty="0"/>
          </a:p>
          <a:p>
            <a:r>
              <a:rPr lang="en-US" dirty="0"/>
              <a:t>The resulting subspace captures the primary shape characteristics of the object, allowing us to compare different surfaces efficiently. </a:t>
            </a:r>
          </a:p>
          <a:p>
            <a:endParaRPr lang="en-US" dirty="0"/>
          </a:p>
          <a:p>
            <a:r>
              <a:rPr lang="en-US" dirty="0"/>
              <a:t>By representing the shape in a lower-dimensional space, we can analyze and detect patterns without being overwhelmed by the complexity of the original high-dimensional data.</a:t>
            </a:r>
          </a:p>
        </p:txBody>
      </p:sp>
      <p:sp>
        <p:nvSpPr>
          <p:cNvPr id="4" name="Slide Number Placeholder 3"/>
          <p:cNvSpPr>
            <a:spLocks noGrp="1"/>
          </p:cNvSpPr>
          <p:nvPr>
            <p:ph type="sldNum" sz="quarter" idx="5"/>
          </p:nvPr>
        </p:nvSpPr>
        <p:spPr/>
        <p:txBody>
          <a:bodyPr/>
          <a:lstStyle/>
          <a:p>
            <a:fld id="{95144C49-3EB0-4BA0-8387-002D45EC2E03}" type="slidenum">
              <a:rPr lang="en-US" smtClean="0"/>
              <a:t>5</a:t>
            </a:fld>
            <a:endParaRPr lang="en-US"/>
          </a:p>
        </p:txBody>
      </p:sp>
    </p:spTree>
    <p:extLst>
      <p:ext uri="{BB962C8B-B14F-4D97-AF65-F5344CB8AC3E}">
        <p14:creationId xmlns:p14="http://schemas.microsoft.com/office/powerpoint/2010/main" val="2579276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existing methods related to our research. One such method is the </a:t>
            </a:r>
            <a:r>
              <a:rPr lang="en-US" b="1" dirty="0"/>
              <a:t>Factorization Approach</a:t>
            </a:r>
            <a:r>
              <a:rPr lang="en-US" dirty="0"/>
              <a:t>,</a:t>
            </a:r>
          </a:p>
          <a:p>
            <a:endParaRPr lang="en-US" dirty="0"/>
          </a:p>
          <a:p>
            <a:r>
              <a:rPr lang="en-US" dirty="0"/>
              <a:t>This method decomposes a measurement matrix into motion and shape components by tracking feature points across a sequence of images.</a:t>
            </a:r>
          </a:p>
          <a:p>
            <a:endParaRPr lang="en-US" dirty="0"/>
          </a:p>
          <a:p>
            <a:r>
              <a:rPr lang="en-US" dirty="0"/>
              <a:t>The factorization approach has several advantages.</a:t>
            </a:r>
          </a:p>
          <a:p>
            <a:endParaRPr lang="en-US" dirty="0"/>
          </a:p>
          <a:p>
            <a:r>
              <a:rPr lang="en-US" dirty="0"/>
              <a:t>It is robust to transformations such as translation, rotation, and scaling, making it suitable for various applications.</a:t>
            </a:r>
          </a:p>
          <a:p>
            <a:endParaRPr lang="en-US" dirty="0"/>
          </a:p>
          <a:p>
            <a:r>
              <a:rPr lang="en-US" dirty="0"/>
              <a:t>In addition, the use of canonical angles allows for accurate similarity measurements between different 3D objects. </a:t>
            </a:r>
          </a:p>
          <a:p>
            <a:endParaRPr lang="en-US" dirty="0"/>
          </a:p>
          <a:p>
            <a:r>
              <a:rPr lang="en-US" dirty="0"/>
              <a:t>However, the effectiveness of this method relies on the accurate tracking of feature points, which can be challenging in practical scenarios, especially when dealing with noisy or incomplete data.</a:t>
            </a:r>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6</a:t>
            </a:fld>
            <a:endParaRPr lang="en-US"/>
          </a:p>
        </p:txBody>
      </p:sp>
    </p:spTree>
    <p:extLst>
      <p:ext uri="{BB962C8B-B14F-4D97-AF65-F5344CB8AC3E}">
        <p14:creationId xmlns:p14="http://schemas.microsoft.com/office/powerpoint/2010/main" val="3425685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relevant approach is the </a:t>
            </a:r>
            <a:r>
              <a:rPr lang="en-US" b="1" dirty="0"/>
              <a:t>Direct 3D Feature Extraction Approach</a:t>
            </a:r>
          </a:p>
          <a:p>
            <a:endParaRPr lang="en-US" b="1" dirty="0"/>
          </a:p>
          <a:p>
            <a:r>
              <a:rPr lang="en-US" dirty="0"/>
              <a:t>Unlike the factorization method, this approach does not require tracking feature points over time.</a:t>
            </a:r>
          </a:p>
          <a:p>
            <a:endParaRPr lang="en-US" dirty="0"/>
          </a:p>
          <a:p>
            <a:r>
              <a:rPr lang="en-US" dirty="0"/>
              <a:t>Instead, it directly analyzes 3D point cloud data to extract key geometric features.</a:t>
            </a:r>
          </a:p>
          <a:p>
            <a:endParaRPr lang="en-US" dirty="0"/>
          </a:p>
          <a:p>
            <a:r>
              <a:rPr lang="en-US" dirty="0"/>
              <a:t>It was initially used in personal authentication applications, where micro-feature points (such as moles or facial contours) were analyzed to distinguish individuals.</a:t>
            </a:r>
          </a:p>
          <a:p>
            <a:endParaRPr lang="en-US" b="1" dirty="0"/>
          </a:p>
          <a:p>
            <a:r>
              <a:rPr lang="en-US" dirty="0"/>
              <a:t>The process involves identifying key feature points, converting them into a shape subspace, and comparing the subspaces using canonical angles.</a:t>
            </a:r>
          </a:p>
          <a:p>
            <a:endParaRPr lang="en-US" b="1" dirty="0"/>
          </a:p>
          <a:p>
            <a:r>
              <a:rPr lang="en-US" dirty="0"/>
              <a:t>By eliminating the need for sequential tracking, this approach offers a more efficient and reliable solution for analyzing complex surfaces.</a:t>
            </a:r>
            <a:endParaRPr lang="en-US" b="1" dirty="0"/>
          </a:p>
          <a:p>
            <a:endParaRPr lang="en-US" b="1" dirty="0"/>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7</a:t>
            </a:fld>
            <a:endParaRPr lang="en-US"/>
          </a:p>
        </p:txBody>
      </p:sp>
    </p:spTree>
    <p:extLst>
      <p:ext uri="{BB962C8B-B14F-4D97-AF65-F5344CB8AC3E}">
        <p14:creationId xmlns:p14="http://schemas.microsoft.com/office/powerpoint/2010/main" val="2805594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major concept in related research is the </a:t>
            </a:r>
            <a:r>
              <a:rPr lang="en-US" b="1" dirty="0"/>
              <a:t>Difference Subspace (DS)</a:t>
            </a:r>
          </a:p>
          <a:p>
            <a:endParaRPr lang="en-US" dirty="0"/>
          </a:p>
          <a:p>
            <a:r>
              <a:rPr lang="en-US" dirty="0"/>
              <a:t>Which focuses on capturing local shape variations by comparing the orthogonal projection matrices of different subspaces.</a:t>
            </a:r>
          </a:p>
          <a:p>
            <a:endParaRPr lang="en-US" dirty="0"/>
          </a:p>
          <a:p>
            <a:r>
              <a:rPr lang="en-US" dirty="0"/>
              <a:t>Unlike traditional global comparison methods, the difference subspace technique analyzes localized differences, making it more sensitive to small-scale surface variations.</a:t>
            </a:r>
          </a:p>
          <a:p>
            <a:endParaRPr lang="en-US" dirty="0"/>
          </a:p>
          <a:p>
            <a:r>
              <a:rPr lang="en-US" dirty="0"/>
              <a:t>This approach has proven to be highly effective in detecting subtle deformations that might be missed by conventional methods.</a:t>
            </a:r>
          </a:p>
          <a:p>
            <a:endParaRPr lang="en-US" dirty="0"/>
          </a:p>
          <a:p>
            <a:r>
              <a:rPr lang="en-US" dirty="0"/>
              <a:t>By isolating differences at a subspace level, it provides a precise and computationally efficient way to analyze surface patterns.</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8</a:t>
            </a:fld>
            <a:endParaRPr lang="en-US"/>
          </a:p>
        </p:txBody>
      </p:sp>
    </p:spTree>
    <p:extLst>
      <p:ext uri="{BB962C8B-B14F-4D97-AF65-F5344CB8AC3E}">
        <p14:creationId xmlns:p14="http://schemas.microsoft.com/office/powerpoint/2010/main" val="1832482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method follows a structured workflow. </a:t>
            </a:r>
          </a:p>
          <a:p>
            <a:endParaRPr lang="en-US" dirty="0"/>
          </a:p>
          <a:p>
            <a:r>
              <a:rPr lang="en-US" dirty="0"/>
              <a:t>First, we input the 3D point cloud data representing the synthetic floor surface. </a:t>
            </a:r>
          </a:p>
          <a:p>
            <a:endParaRPr lang="en-US" dirty="0"/>
          </a:p>
          <a:p>
            <a:r>
              <a:rPr lang="en-US" dirty="0"/>
              <a:t>The floor is then divided into smaller patches to facilitate localized analysis. </a:t>
            </a:r>
          </a:p>
          <a:p>
            <a:endParaRPr lang="en-US" dirty="0"/>
          </a:p>
          <a:p>
            <a:r>
              <a:rPr lang="en-US" dirty="0"/>
              <a:t>Once the patches are defined, we perform centering by subtracting the mean of each patch, which removes translational bias and standardizes the data.</a:t>
            </a:r>
          </a:p>
          <a:p>
            <a:endParaRPr lang="en-US" dirty="0"/>
          </a:p>
          <a:p>
            <a:r>
              <a:rPr lang="en-US" dirty="0"/>
              <a:t>Next, we compute the shape subspace for each patch using Singular Value Decomposition, or SVD, to extract its dominant features. </a:t>
            </a:r>
          </a:p>
          <a:p>
            <a:endParaRPr lang="en-US" dirty="0"/>
          </a:p>
          <a:p>
            <a:r>
              <a:rPr lang="en-US" dirty="0"/>
              <a:t>Finally, we calculate the difference subspace by comparing neighboring patches to detect surface variations.</a:t>
            </a:r>
          </a:p>
          <a:p>
            <a:endParaRPr lang="en-US" dirty="0"/>
          </a:p>
          <a:p>
            <a:r>
              <a:rPr lang="en-US" dirty="0"/>
              <a:t>The Difference Subspace (DS) Method:</a:t>
            </a:r>
          </a:p>
          <a:p>
            <a:r>
              <a:rPr lang="en-US" dirty="0"/>
              <a:t>Patch A → Shape Subspace S_A (from SVD) </a:t>
            </a:r>
          </a:p>
          <a:p>
            <a:r>
              <a:rPr lang="en-US" dirty="0"/>
              <a:t>Patch B → Shape Subspace S_B (from SVD)</a:t>
            </a:r>
          </a:p>
          <a:p>
            <a:endParaRPr lang="en-US" dirty="0"/>
          </a:p>
          <a:p>
            <a:r>
              <a:rPr lang="en-US" dirty="0"/>
              <a:t>Step 2: Create Projection Matrices</a:t>
            </a:r>
          </a:p>
          <a:p>
            <a:r>
              <a:rPr lang="en-US" dirty="0"/>
              <a:t>P_A = S_A × S_A^T</a:t>
            </a:r>
          </a:p>
          <a:p>
            <a:r>
              <a:rPr lang="en-US" dirty="0"/>
              <a:t>P_B = S_B × S_B^T</a:t>
            </a:r>
          </a:p>
          <a:p>
            <a:endParaRPr lang="en-US" dirty="0"/>
          </a:p>
          <a:p>
            <a:r>
              <a:rPr lang="en-US" dirty="0"/>
              <a:t>Step 3: Sum the Projection Matrices</a:t>
            </a:r>
          </a:p>
          <a:p>
            <a:r>
              <a:rPr lang="en-US" dirty="0"/>
              <a:t>S = P_A + P_B</a:t>
            </a:r>
          </a:p>
          <a:p>
            <a:endParaRPr lang="en-US" dirty="0"/>
          </a:p>
          <a:p>
            <a:r>
              <a:rPr lang="en-US" dirty="0"/>
              <a:t>Step 4: Get Eigenvalues of S</a:t>
            </a:r>
          </a:p>
          <a:p>
            <a:r>
              <a:rPr lang="en-US" dirty="0"/>
              <a:t>Eigenvalue decomposition: </a:t>
            </a:r>
            <a:r>
              <a:rPr lang="en-US" dirty="0" err="1"/>
              <a:t>Sv</a:t>
            </a:r>
            <a:r>
              <a:rPr lang="en-US" dirty="0"/>
              <a:t> = </a:t>
            </a:r>
            <a:r>
              <a:rPr lang="en-US" dirty="0" err="1"/>
              <a:t>λv</a:t>
            </a:r>
            <a:endParaRPr lang="en-US" dirty="0"/>
          </a:p>
          <a:p>
            <a:r>
              <a:rPr lang="en-US" dirty="0"/>
              <a:t>Eigenvalues tell us: </a:t>
            </a:r>
          </a:p>
          <a:p>
            <a:r>
              <a:rPr lang="en-US" dirty="0"/>
              <a:t>λ = 2: Direction in both subspaces (overlap) </a:t>
            </a:r>
          </a:p>
          <a:p>
            <a:r>
              <a:rPr lang="en-US" dirty="0"/>
              <a:t>λ = 1: Direction in one subspace only </a:t>
            </a:r>
          </a:p>
          <a:p>
            <a:r>
              <a:rPr lang="en-US" dirty="0"/>
              <a:t>λ = 0: Direction in neither subspace</a:t>
            </a:r>
          </a:p>
          <a:p>
            <a:endParaRPr lang="en-US" dirty="0"/>
          </a:p>
          <a:p>
            <a:r>
              <a:rPr lang="en-US" dirty="0"/>
              <a:t>Step 5: Extract the Difference</a:t>
            </a:r>
          </a:p>
          <a:p>
            <a:r>
              <a:rPr lang="en-US" dirty="0"/>
              <a:t>Difference Subspace = eigenvectors where λ &lt; 1 </a:t>
            </a:r>
          </a:p>
          <a:p>
            <a:r>
              <a:rPr lang="en-US" dirty="0"/>
              <a:t>These are the directions where patches DIFFER!</a:t>
            </a:r>
          </a:p>
          <a:p>
            <a:endParaRPr lang="en-US" dirty="0"/>
          </a:p>
          <a:p>
            <a:r>
              <a:rPr lang="en-US" dirty="0"/>
              <a:t>Step 6: Measure the Difference</a:t>
            </a:r>
          </a:p>
          <a:p>
            <a:r>
              <a:rPr lang="en-US" dirty="0"/>
              <a:t>Size/magnitude of difference = </a:t>
            </a:r>
          </a:p>
          <a:p>
            <a:pPr marL="171450" indent="-171450">
              <a:buFontTx/>
              <a:buChar char="-"/>
            </a:pPr>
            <a:r>
              <a:rPr lang="en-US" dirty="0"/>
              <a:t>Number of eigenvalues &lt; 1 </a:t>
            </a:r>
          </a:p>
          <a:p>
            <a:pPr marL="171450" indent="-171450">
              <a:buFontTx/>
              <a:buChar char="-"/>
            </a:pPr>
            <a:r>
              <a:rPr lang="en-US" dirty="0"/>
              <a:t>How close they are to 0 </a:t>
            </a:r>
          </a:p>
          <a:p>
            <a:pPr marL="171450" indent="-171450">
              <a:buFontTx/>
              <a:buChar char="-"/>
            </a:pPr>
            <a:r>
              <a:rPr lang="en-US" dirty="0"/>
              <a:t>Result: A single number (e.g., 0.8) showing how different the patches are</a:t>
            </a:r>
          </a:p>
          <a:p>
            <a:endParaRPr lang="en-US" dirty="0"/>
          </a:p>
          <a:p>
            <a:endParaRPr lang="en-US" dirty="0"/>
          </a:p>
          <a:p>
            <a:r>
              <a:rPr lang="en-US" dirty="0"/>
              <a:t>This approach allows us to systematically analyze the floor surface and identify regions that exhibit deviations from the expected pattern.</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9</a:t>
            </a:fld>
            <a:endParaRPr lang="en-US"/>
          </a:p>
        </p:txBody>
      </p:sp>
    </p:spTree>
    <p:extLst>
      <p:ext uri="{BB962C8B-B14F-4D97-AF65-F5344CB8AC3E}">
        <p14:creationId xmlns:p14="http://schemas.microsoft.com/office/powerpoint/2010/main" val="4026907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To conduct our experiments, we created a synthetic floor surface with the following specifications:</a:t>
            </a:r>
          </a:p>
          <a:p>
            <a:endParaRPr lang="en-US" dirty="0"/>
          </a:p>
          <a:p>
            <a:r>
              <a:rPr lang="en-US" dirty="0"/>
              <a:t>A synthetic floor data with 10,000 uniformly spaced points across a 50x50 cm grid</a:t>
            </a:r>
          </a:p>
          <a:p>
            <a:endParaRPr lang="en-US" dirty="0"/>
          </a:p>
          <a:p>
            <a:pPr>
              <a:buFont typeface="Arial" panose="020B0604020202020204" pitchFamily="34" charset="0"/>
              <a:buNone/>
            </a:pPr>
            <a:r>
              <a:rPr lang="en-US" dirty="0"/>
              <a:t>This synthetic setup provides a controlled environment to evaluate the effectiveness of our method in detecting surface irregularities.</a:t>
            </a:r>
          </a:p>
        </p:txBody>
      </p:sp>
      <p:sp>
        <p:nvSpPr>
          <p:cNvPr id="4" name="Slide Number Placeholder 3"/>
          <p:cNvSpPr>
            <a:spLocks noGrp="1"/>
          </p:cNvSpPr>
          <p:nvPr>
            <p:ph type="sldNum" sz="quarter" idx="5"/>
          </p:nvPr>
        </p:nvSpPr>
        <p:spPr/>
        <p:txBody>
          <a:bodyPr/>
          <a:lstStyle/>
          <a:p>
            <a:fld id="{95144C49-3EB0-4BA0-8387-002D45EC2E03}" type="slidenum">
              <a:rPr lang="en-US" smtClean="0"/>
              <a:t>10</a:t>
            </a:fld>
            <a:endParaRPr lang="en-US"/>
          </a:p>
        </p:txBody>
      </p:sp>
    </p:spTree>
    <p:extLst>
      <p:ext uri="{BB962C8B-B14F-4D97-AF65-F5344CB8AC3E}">
        <p14:creationId xmlns:p14="http://schemas.microsoft.com/office/powerpoint/2010/main" val="2946165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introduced several types of surface irregularities to test the robustness of our method. </a:t>
            </a:r>
          </a:p>
          <a:p>
            <a:endParaRPr lang="en-US" dirty="0"/>
          </a:p>
          <a:p>
            <a:r>
              <a:rPr lang="en-US" dirty="0"/>
              <a:t>These include single bumps, double bumps, ridges, corners, and random distributions. </a:t>
            </a:r>
          </a:p>
          <a:p>
            <a:endParaRPr lang="en-US" dirty="0"/>
          </a:p>
          <a:p>
            <a:r>
              <a:rPr lang="en-US" dirty="0"/>
              <a:t>By analyzing these predefined patterns, we can assess the accuracy and reliability of our approach in detecting different types of surface deformations.</a:t>
            </a:r>
          </a:p>
        </p:txBody>
      </p:sp>
      <p:sp>
        <p:nvSpPr>
          <p:cNvPr id="4" name="Slide Number Placeholder 3"/>
          <p:cNvSpPr>
            <a:spLocks noGrp="1"/>
          </p:cNvSpPr>
          <p:nvPr>
            <p:ph type="sldNum" sz="quarter" idx="5"/>
          </p:nvPr>
        </p:nvSpPr>
        <p:spPr/>
        <p:txBody>
          <a:bodyPr/>
          <a:lstStyle/>
          <a:p>
            <a:fld id="{95144C49-3EB0-4BA0-8387-002D45EC2E03}" type="slidenum">
              <a:rPr lang="en-US" smtClean="0"/>
              <a:t>11</a:t>
            </a:fld>
            <a:endParaRPr lang="en-US"/>
          </a:p>
        </p:txBody>
      </p:sp>
    </p:spTree>
    <p:extLst>
      <p:ext uri="{BB962C8B-B14F-4D97-AF65-F5344CB8AC3E}">
        <p14:creationId xmlns:p14="http://schemas.microsoft.com/office/powerpoint/2010/main" val="2700358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surface is divided into smaller patches to facilitate localized analysis.</a:t>
            </a:r>
          </a:p>
          <a:p>
            <a:endParaRPr lang="en-US" dirty="0"/>
          </a:p>
          <a:p>
            <a:r>
              <a:rPr lang="en-US" dirty="0"/>
              <a:t>We experimented with different grid sizes, ranging from 3x3 to 10x10 patches</a:t>
            </a:r>
          </a:p>
          <a:p>
            <a:endParaRPr lang="en-US" dirty="0"/>
          </a:p>
          <a:p>
            <a:r>
              <a:rPr lang="en-US" dirty="0"/>
              <a:t>The patch sizes influence the trade-off between detection accuracy and computational efficiency.</a:t>
            </a:r>
          </a:p>
          <a:p>
            <a:endParaRPr lang="en-US" dirty="0"/>
          </a:p>
          <a:p>
            <a:r>
              <a:rPr lang="en-US" i="1" dirty="0"/>
              <a:t>This allows for detailed analysis of smaller surface regions.</a:t>
            </a:r>
          </a:p>
          <a:p>
            <a:endParaRPr lang="en-US" i="1" dirty="0"/>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13</a:t>
            </a:fld>
            <a:endParaRPr lang="en-US"/>
          </a:p>
        </p:txBody>
      </p:sp>
    </p:spTree>
    <p:extLst>
      <p:ext uri="{BB962C8B-B14F-4D97-AF65-F5344CB8AC3E}">
        <p14:creationId xmlns:p14="http://schemas.microsoft.com/office/powerpoint/2010/main" val="1282401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detect surface variations, the Difference Subspace (DS) was computed using:</a:t>
            </a:r>
          </a:p>
          <a:p>
            <a:endParaRPr lang="en-US" dirty="0"/>
          </a:p>
          <a:p>
            <a:r>
              <a:rPr lang="en-US" b="1" dirty="0"/>
              <a:t>4-neighbor approach</a:t>
            </a:r>
            <a:r>
              <a:rPr lang="en-US" dirty="0"/>
              <a:t>, which focuses on immediate neighbors and offers higher sensitivity.</a:t>
            </a:r>
          </a:p>
          <a:p>
            <a:endParaRPr lang="en-US" dirty="0"/>
          </a:p>
          <a:p>
            <a:r>
              <a:rPr lang="en-US" b="1" dirty="0"/>
              <a:t>8-neighbor approach</a:t>
            </a:r>
            <a:r>
              <a:rPr lang="en-US" dirty="0"/>
              <a:t>, which considers a broader context and provides more stability.</a:t>
            </a:r>
          </a:p>
          <a:p>
            <a:endParaRPr lang="en-US" dirty="0"/>
          </a:p>
          <a:p>
            <a:r>
              <a:rPr lang="en-US" dirty="0"/>
              <a:t>This comparison helps in understanding the effectiveness of different neighborhood configurations.</a:t>
            </a:r>
          </a:p>
          <a:p>
            <a:endParaRPr lang="en-US" dirty="0"/>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14</a:t>
            </a:fld>
            <a:endParaRPr lang="en-US"/>
          </a:p>
        </p:txBody>
      </p:sp>
    </p:spTree>
    <p:extLst>
      <p:ext uri="{BB962C8B-B14F-4D97-AF65-F5344CB8AC3E}">
        <p14:creationId xmlns:p14="http://schemas.microsoft.com/office/powerpoint/2010/main" val="1300544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forward, our research will focus on introducing noise into the synthetic floor dataset to evaluate the robustness of our method under realistic conditions.</a:t>
            </a:r>
          </a:p>
          <a:p>
            <a:endParaRPr lang="en-US" dirty="0"/>
          </a:p>
          <a:p>
            <a:r>
              <a:rPr lang="en-US" dirty="0"/>
              <a:t>We also plan to apply the method to real-world datasets, such as industrial surfaces and natural terrains, to further validate its applicability.</a:t>
            </a:r>
          </a:p>
          <a:p>
            <a:endParaRPr lang="en-US" dirty="0"/>
          </a:p>
          <a:p>
            <a:r>
              <a:rPr lang="en-US" dirty="0"/>
              <a:t>Additionally, optimizing computational efficiency will be crucial to handle larger datasets and enable real-time processing, which is essential for applications in manufacturing and autonomous robotics.</a:t>
            </a:r>
          </a:p>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25</a:t>
            </a:fld>
            <a:endParaRPr lang="en-US"/>
          </a:p>
        </p:txBody>
      </p:sp>
    </p:spTree>
    <p:extLst>
      <p:ext uri="{BB962C8B-B14F-4D97-AF65-F5344CB8AC3E}">
        <p14:creationId xmlns:p14="http://schemas.microsoft.com/office/powerpoint/2010/main" val="1926672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144C49-3EB0-4BA0-8387-002D45EC2E03}" type="slidenum">
              <a:rPr lang="en-US" smtClean="0"/>
              <a:t>27</a:t>
            </a:fld>
            <a:endParaRPr lang="en-US"/>
          </a:p>
        </p:txBody>
      </p:sp>
    </p:spTree>
    <p:extLst>
      <p:ext uri="{BB962C8B-B14F-4D97-AF65-F5344CB8AC3E}">
        <p14:creationId xmlns:p14="http://schemas.microsoft.com/office/powerpoint/2010/main" val="347098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79B69-E8B3-D21B-138B-CBC37DB5DA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55E9A2-2AD2-8D7D-0CC9-1F7F01CA4F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22FC21-BA0B-D2C3-BF46-D4BD6A2D6460}"/>
              </a:ext>
            </a:extLst>
          </p:cNvPr>
          <p:cNvSpPr>
            <a:spLocks noGrp="1"/>
          </p:cNvSpPr>
          <p:nvPr>
            <p:ph type="dt" sz="half" idx="10"/>
          </p:nvPr>
        </p:nvSpPr>
        <p:spPr/>
        <p:txBody>
          <a:bodyPr/>
          <a:lstStyle/>
          <a:p>
            <a:fld id="{D82DA47C-BC6B-4102-9AEA-6EE18C2F915D}" type="datetime1">
              <a:rPr lang="en-US" smtClean="0"/>
              <a:t>7/24/2025</a:t>
            </a:fld>
            <a:endParaRPr lang="en-US"/>
          </a:p>
        </p:txBody>
      </p:sp>
      <p:sp>
        <p:nvSpPr>
          <p:cNvPr id="5" name="Footer Placeholder 4">
            <a:extLst>
              <a:ext uri="{FF2B5EF4-FFF2-40B4-BE49-F238E27FC236}">
                <a16:creationId xmlns:a16="http://schemas.microsoft.com/office/drawing/2014/main" id="{7ACFCBAC-BB8F-8DA8-ECC8-E5D0A9BF7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A0D0C-4B43-834E-794D-16E97E5BBB1B}"/>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24577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6AFA-8F50-031A-68DB-6D323DEB8E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303617-3961-F779-2B9B-852194F9C1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06F194-E451-89B3-6864-87FE150B8C37}"/>
              </a:ext>
            </a:extLst>
          </p:cNvPr>
          <p:cNvSpPr>
            <a:spLocks noGrp="1"/>
          </p:cNvSpPr>
          <p:nvPr>
            <p:ph type="dt" sz="half" idx="10"/>
          </p:nvPr>
        </p:nvSpPr>
        <p:spPr/>
        <p:txBody>
          <a:bodyPr/>
          <a:lstStyle/>
          <a:p>
            <a:fld id="{6412CEA5-07EB-4E28-AF87-C964FC55E1E2}" type="datetime1">
              <a:rPr lang="en-US" smtClean="0"/>
              <a:t>7/24/2025</a:t>
            </a:fld>
            <a:endParaRPr lang="en-US"/>
          </a:p>
        </p:txBody>
      </p:sp>
      <p:sp>
        <p:nvSpPr>
          <p:cNvPr id="5" name="Footer Placeholder 4">
            <a:extLst>
              <a:ext uri="{FF2B5EF4-FFF2-40B4-BE49-F238E27FC236}">
                <a16:creationId xmlns:a16="http://schemas.microsoft.com/office/drawing/2014/main" id="{3F74633F-2C67-B2ED-5620-0916D329B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BA6A7D-1864-CCC7-E298-64B594D46CDD}"/>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1542497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90B6D-7097-C199-B6C0-97BC36449C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29F82F-2C69-AD87-4BB1-2DF21881C3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2F8F01-C5BA-15D0-CC54-C872DD8BE536}"/>
              </a:ext>
            </a:extLst>
          </p:cNvPr>
          <p:cNvSpPr>
            <a:spLocks noGrp="1"/>
          </p:cNvSpPr>
          <p:nvPr>
            <p:ph type="dt" sz="half" idx="10"/>
          </p:nvPr>
        </p:nvSpPr>
        <p:spPr/>
        <p:txBody>
          <a:bodyPr/>
          <a:lstStyle/>
          <a:p>
            <a:fld id="{DBAD202A-2F0B-4C31-B048-76BB32A6EC55}" type="datetime1">
              <a:rPr lang="en-US" smtClean="0"/>
              <a:t>7/24/2025</a:t>
            </a:fld>
            <a:endParaRPr lang="en-US"/>
          </a:p>
        </p:txBody>
      </p:sp>
      <p:sp>
        <p:nvSpPr>
          <p:cNvPr id="5" name="Footer Placeholder 4">
            <a:extLst>
              <a:ext uri="{FF2B5EF4-FFF2-40B4-BE49-F238E27FC236}">
                <a16:creationId xmlns:a16="http://schemas.microsoft.com/office/drawing/2014/main" id="{B62C9211-CBA1-3A63-034A-E647A8A5F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1DFBE-D400-23B9-FC97-184BA3F4092D}"/>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368180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DA5C9-DD55-AEF1-88ED-CC393C931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CAAA39-85C2-CBFB-B43A-96223B09D5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1AEA3D-E9A4-CFCE-5241-273713CD63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84AA93-A784-B02D-87F5-897890894D9A}"/>
              </a:ext>
            </a:extLst>
          </p:cNvPr>
          <p:cNvSpPr>
            <a:spLocks noGrp="1"/>
          </p:cNvSpPr>
          <p:nvPr>
            <p:ph type="dt" sz="half" idx="10"/>
          </p:nvPr>
        </p:nvSpPr>
        <p:spPr/>
        <p:txBody>
          <a:bodyPr/>
          <a:lstStyle/>
          <a:p>
            <a:fld id="{787A3172-CAE6-49F4-9967-B448876651CD}" type="datetime1">
              <a:rPr lang="en-US" smtClean="0"/>
              <a:t>7/24/2025</a:t>
            </a:fld>
            <a:endParaRPr lang="en-US"/>
          </a:p>
        </p:txBody>
      </p:sp>
      <p:sp>
        <p:nvSpPr>
          <p:cNvPr id="6" name="Footer Placeholder 5">
            <a:extLst>
              <a:ext uri="{FF2B5EF4-FFF2-40B4-BE49-F238E27FC236}">
                <a16:creationId xmlns:a16="http://schemas.microsoft.com/office/drawing/2014/main" id="{8FEE6AFD-DD48-52A2-84F8-891CC90702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8D2298-A26E-F8D1-BE90-A6703A3E0793}"/>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672050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F4CC-4931-9717-2DC4-0EF5CC3B2E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723005-3D3B-A33B-1F2F-23FC3F0DD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B5D848-375A-DFCF-5C6A-4A9DA6829C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88B4C9-1629-DD9E-F761-308F7E81E5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4AF70-D5C4-D366-B016-C2DBB04731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21036-257C-591C-5F08-2A164D4A6FF7}"/>
              </a:ext>
            </a:extLst>
          </p:cNvPr>
          <p:cNvSpPr>
            <a:spLocks noGrp="1"/>
          </p:cNvSpPr>
          <p:nvPr>
            <p:ph type="dt" sz="half" idx="10"/>
          </p:nvPr>
        </p:nvSpPr>
        <p:spPr/>
        <p:txBody>
          <a:bodyPr/>
          <a:lstStyle/>
          <a:p>
            <a:fld id="{7DD741D4-33E9-4CAD-845D-EEA55DA50B0B}" type="datetime1">
              <a:rPr lang="en-US" smtClean="0"/>
              <a:t>7/24/2025</a:t>
            </a:fld>
            <a:endParaRPr lang="en-US"/>
          </a:p>
        </p:txBody>
      </p:sp>
      <p:sp>
        <p:nvSpPr>
          <p:cNvPr id="8" name="Footer Placeholder 7">
            <a:extLst>
              <a:ext uri="{FF2B5EF4-FFF2-40B4-BE49-F238E27FC236}">
                <a16:creationId xmlns:a16="http://schemas.microsoft.com/office/drawing/2014/main" id="{1ED59986-999C-F3D9-4E14-039F690E77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2493E5-1A5C-D355-E7B2-40BC8B5E6917}"/>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170224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45A73-1683-9010-8A82-E65B91F4D9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090D94-A148-6882-8D3A-807C964C2A2D}"/>
              </a:ext>
            </a:extLst>
          </p:cNvPr>
          <p:cNvSpPr>
            <a:spLocks noGrp="1"/>
          </p:cNvSpPr>
          <p:nvPr>
            <p:ph type="dt" sz="half" idx="10"/>
          </p:nvPr>
        </p:nvSpPr>
        <p:spPr/>
        <p:txBody>
          <a:bodyPr/>
          <a:lstStyle/>
          <a:p>
            <a:fld id="{A14C6FF3-5946-4D91-A08B-0BAAA18629F9}" type="datetime1">
              <a:rPr lang="en-US" smtClean="0"/>
              <a:t>7/24/2025</a:t>
            </a:fld>
            <a:endParaRPr lang="en-US"/>
          </a:p>
        </p:txBody>
      </p:sp>
      <p:sp>
        <p:nvSpPr>
          <p:cNvPr id="4" name="Footer Placeholder 3">
            <a:extLst>
              <a:ext uri="{FF2B5EF4-FFF2-40B4-BE49-F238E27FC236}">
                <a16:creationId xmlns:a16="http://schemas.microsoft.com/office/drawing/2014/main" id="{9FF956F3-299C-BAE8-0B2A-4E10BBB404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4E4668-F296-5665-CD6B-D5E79FA8A10D}"/>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592535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673E6F-32D4-333A-A703-89A3F756E23C}"/>
              </a:ext>
            </a:extLst>
          </p:cNvPr>
          <p:cNvSpPr>
            <a:spLocks noGrp="1"/>
          </p:cNvSpPr>
          <p:nvPr>
            <p:ph type="dt" sz="half" idx="10"/>
          </p:nvPr>
        </p:nvSpPr>
        <p:spPr/>
        <p:txBody>
          <a:bodyPr/>
          <a:lstStyle/>
          <a:p>
            <a:fld id="{1329383F-2F10-414F-8647-49009542142B}" type="datetime1">
              <a:rPr lang="en-US" smtClean="0"/>
              <a:t>7/24/2025</a:t>
            </a:fld>
            <a:endParaRPr lang="en-US"/>
          </a:p>
        </p:txBody>
      </p:sp>
      <p:sp>
        <p:nvSpPr>
          <p:cNvPr id="3" name="Footer Placeholder 2">
            <a:extLst>
              <a:ext uri="{FF2B5EF4-FFF2-40B4-BE49-F238E27FC236}">
                <a16:creationId xmlns:a16="http://schemas.microsoft.com/office/drawing/2014/main" id="{85370552-A7B8-4890-351B-5E21D286FA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CF443E-5E09-A6F3-815C-63BAF32AB9FB}"/>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414798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CD6E-4826-600F-7704-F586B70E2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E43A66-46CD-C8BC-81B9-192AC18874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C0415D-78A8-1AB7-F451-8F2CB546C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8706D7-7A15-6EAD-7FD1-7CAAAE576993}"/>
              </a:ext>
            </a:extLst>
          </p:cNvPr>
          <p:cNvSpPr>
            <a:spLocks noGrp="1"/>
          </p:cNvSpPr>
          <p:nvPr>
            <p:ph type="dt" sz="half" idx="10"/>
          </p:nvPr>
        </p:nvSpPr>
        <p:spPr/>
        <p:txBody>
          <a:bodyPr/>
          <a:lstStyle/>
          <a:p>
            <a:fld id="{460B6EC9-8EC3-41C5-8C41-C28F3431A6F7}" type="datetime1">
              <a:rPr lang="en-US" smtClean="0"/>
              <a:t>7/24/2025</a:t>
            </a:fld>
            <a:endParaRPr lang="en-US"/>
          </a:p>
        </p:txBody>
      </p:sp>
      <p:sp>
        <p:nvSpPr>
          <p:cNvPr id="6" name="Footer Placeholder 5">
            <a:extLst>
              <a:ext uri="{FF2B5EF4-FFF2-40B4-BE49-F238E27FC236}">
                <a16:creationId xmlns:a16="http://schemas.microsoft.com/office/drawing/2014/main" id="{360C119F-9694-7BBF-4AA1-1234CA90E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2B4020-7628-1CD4-F164-B8F3CDF4462A}"/>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272309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01D1D-3982-445B-0D72-E49F60EFD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36D055-FBBA-B6A8-31AE-AEB47BEC3D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B7EDB1-853B-6E91-D8E7-FE3CB33E7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EFCAEE-F3C4-CD72-2C26-C8460979074F}"/>
              </a:ext>
            </a:extLst>
          </p:cNvPr>
          <p:cNvSpPr>
            <a:spLocks noGrp="1"/>
          </p:cNvSpPr>
          <p:nvPr>
            <p:ph type="dt" sz="half" idx="10"/>
          </p:nvPr>
        </p:nvSpPr>
        <p:spPr/>
        <p:txBody>
          <a:bodyPr/>
          <a:lstStyle/>
          <a:p>
            <a:fld id="{67745A0E-1362-4C1B-B84C-0DE2ED233AAB}" type="datetime1">
              <a:rPr lang="en-US" smtClean="0"/>
              <a:t>7/24/2025</a:t>
            </a:fld>
            <a:endParaRPr lang="en-US"/>
          </a:p>
        </p:txBody>
      </p:sp>
      <p:sp>
        <p:nvSpPr>
          <p:cNvPr id="6" name="Footer Placeholder 5">
            <a:extLst>
              <a:ext uri="{FF2B5EF4-FFF2-40B4-BE49-F238E27FC236}">
                <a16:creationId xmlns:a16="http://schemas.microsoft.com/office/drawing/2014/main" id="{50C9CEB9-8F50-D81C-35E3-BF3342497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EB5D9C-39F0-CC70-7A06-ADC2FBE92C2D}"/>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914050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68A1A-17CC-398A-E4A2-84B95B243B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9F8242-D590-F6D3-C7D9-B635E1A20B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D89F3B-1837-DD88-D090-DA445252EEE7}"/>
              </a:ext>
            </a:extLst>
          </p:cNvPr>
          <p:cNvSpPr>
            <a:spLocks noGrp="1"/>
          </p:cNvSpPr>
          <p:nvPr>
            <p:ph type="dt" sz="half" idx="10"/>
          </p:nvPr>
        </p:nvSpPr>
        <p:spPr/>
        <p:txBody>
          <a:bodyPr/>
          <a:lstStyle/>
          <a:p>
            <a:fld id="{AE7FE63A-2FEA-4B4B-BE6D-3081671DE833}" type="datetime1">
              <a:rPr lang="en-US" smtClean="0"/>
              <a:t>7/24/2025</a:t>
            </a:fld>
            <a:endParaRPr lang="en-US"/>
          </a:p>
        </p:txBody>
      </p:sp>
      <p:sp>
        <p:nvSpPr>
          <p:cNvPr id="5" name="Footer Placeholder 4">
            <a:extLst>
              <a:ext uri="{FF2B5EF4-FFF2-40B4-BE49-F238E27FC236}">
                <a16:creationId xmlns:a16="http://schemas.microsoft.com/office/drawing/2014/main" id="{9CF68649-69C1-A367-4D4D-9CD613251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EB859E-1A8E-D17A-B97C-302D5C3E49CB}"/>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270851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1BF9D6-9BD2-FA93-A80C-E1FA12FA5B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941716-BCC8-4A21-3E83-D96BB1A015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F1325-0EF9-1177-1095-62A86C7B0F1C}"/>
              </a:ext>
            </a:extLst>
          </p:cNvPr>
          <p:cNvSpPr>
            <a:spLocks noGrp="1"/>
          </p:cNvSpPr>
          <p:nvPr>
            <p:ph type="dt" sz="half" idx="10"/>
          </p:nvPr>
        </p:nvSpPr>
        <p:spPr/>
        <p:txBody>
          <a:bodyPr/>
          <a:lstStyle/>
          <a:p>
            <a:fld id="{3E798767-329E-4C01-9860-DA0812836269}" type="datetime1">
              <a:rPr lang="en-US" smtClean="0"/>
              <a:t>7/24/2025</a:t>
            </a:fld>
            <a:endParaRPr lang="en-US"/>
          </a:p>
        </p:txBody>
      </p:sp>
      <p:sp>
        <p:nvSpPr>
          <p:cNvPr id="5" name="Footer Placeholder 4">
            <a:extLst>
              <a:ext uri="{FF2B5EF4-FFF2-40B4-BE49-F238E27FC236}">
                <a16:creationId xmlns:a16="http://schemas.microsoft.com/office/drawing/2014/main" id="{5563569B-C08A-B2AB-1374-6B0CB9D27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6B7E0-5D50-5F52-85D8-F1DB8C7E4143}"/>
              </a:ext>
            </a:extLst>
          </p:cNvPr>
          <p:cNvSpPr>
            <a:spLocks noGrp="1"/>
          </p:cNvSpPr>
          <p:nvPr>
            <p:ph type="sldNum" sz="quarter" idx="12"/>
          </p:nvPr>
        </p:nvSpPr>
        <p:spPr/>
        <p:txBody>
          <a:bodyPr/>
          <a:lstStyle/>
          <a:p>
            <a:fld id="{DADAC235-C9E6-487D-8BF0-E0D19F810E81}" type="slidenum">
              <a:rPr lang="en-US" smtClean="0"/>
              <a:t>‹#›</a:t>
            </a:fld>
            <a:endParaRPr lang="en-US"/>
          </a:p>
        </p:txBody>
      </p:sp>
    </p:spTree>
    <p:extLst>
      <p:ext uri="{BB962C8B-B14F-4D97-AF65-F5344CB8AC3E}">
        <p14:creationId xmlns:p14="http://schemas.microsoft.com/office/powerpoint/2010/main" val="2942824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BF08A0-824D-626F-050C-9EED6AF6DB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C6EE08-A1F7-EE01-CA98-5E5D65DF8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6C2429-1D6E-717E-0B8D-102E32C1A2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0894CA-41DB-4B08-9D6A-A423F5988404}" type="datetime1">
              <a:rPr lang="en-US" smtClean="0"/>
              <a:t>7/24/2025</a:t>
            </a:fld>
            <a:endParaRPr lang="en-US"/>
          </a:p>
        </p:txBody>
      </p:sp>
      <p:sp>
        <p:nvSpPr>
          <p:cNvPr id="5" name="Footer Placeholder 4">
            <a:extLst>
              <a:ext uri="{FF2B5EF4-FFF2-40B4-BE49-F238E27FC236}">
                <a16:creationId xmlns:a16="http://schemas.microsoft.com/office/drawing/2014/main" id="{19394A84-9660-0135-59CE-F9FBB66933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7E1C49-61E9-070E-F186-9838691A05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AC235-C9E6-487D-8BF0-E0D19F810E81}" type="slidenum">
              <a:rPr lang="en-US" smtClean="0"/>
              <a:t>‹#›</a:t>
            </a:fld>
            <a:endParaRPr lang="en-US"/>
          </a:p>
        </p:txBody>
      </p:sp>
    </p:spTree>
    <p:extLst>
      <p:ext uri="{BB962C8B-B14F-4D97-AF65-F5344CB8AC3E}">
        <p14:creationId xmlns:p14="http://schemas.microsoft.com/office/powerpoint/2010/main" val="3837276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24E-017D-BBB7-7EB7-878AB581E7D4}"/>
              </a:ext>
            </a:extLst>
          </p:cNvPr>
          <p:cNvSpPr>
            <a:spLocks noGrp="1"/>
          </p:cNvSpPr>
          <p:nvPr>
            <p:ph type="ctrTitle"/>
          </p:nvPr>
        </p:nvSpPr>
        <p:spPr>
          <a:xfrm>
            <a:off x="1524000" y="406400"/>
            <a:ext cx="9144000" cy="2387600"/>
          </a:xfrm>
        </p:spPr>
        <p:txBody>
          <a:bodyPr>
            <a:normAutofit/>
          </a:bodyPr>
          <a:lstStyle/>
          <a:p>
            <a:r>
              <a:rPr lang="en-US" dirty="0"/>
              <a:t>Surface Pattern Recognition Using Shape Subspace</a:t>
            </a:r>
          </a:p>
        </p:txBody>
      </p:sp>
      <p:sp>
        <p:nvSpPr>
          <p:cNvPr id="3" name="Subtitle 2">
            <a:extLst>
              <a:ext uri="{FF2B5EF4-FFF2-40B4-BE49-F238E27FC236}">
                <a16:creationId xmlns:a16="http://schemas.microsoft.com/office/drawing/2014/main" id="{75D9699F-6F49-A735-3EA0-8C4CDF7B2DE6}"/>
              </a:ext>
            </a:extLst>
          </p:cNvPr>
          <p:cNvSpPr>
            <a:spLocks noGrp="1"/>
          </p:cNvSpPr>
          <p:nvPr>
            <p:ph type="subTitle" idx="1"/>
          </p:nvPr>
        </p:nvSpPr>
        <p:spPr/>
        <p:txBody>
          <a:bodyPr/>
          <a:lstStyle/>
          <a:p>
            <a:pPr algn="ctr"/>
            <a:r>
              <a:rPr lang="en-US" altLang="ja-JP" sz="2400" dirty="0"/>
              <a:t>Naish Ibrahim</a:t>
            </a:r>
          </a:p>
          <a:p>
            <a:pPr algn="ctr"/>
            <a:r>
              <a:rPr lang="en-US" altLang="ja-JP" dirty="0"/>
              <a:t>Supervisor: Kazuhiro Fukui</a:t>
            </a:r>
            <a:endParaRPr lang="en-US" altLang="ja-JP" sz="2400" dirty="0"/>
          </a:p>
          <a:p>
            <a:endParaRPr lang="en-US" dirty="0"/>
          </a:p>
        </p:txBody>
      </p:sp>
      <p:sp>
        <p:nvSpPr>
          <p:cNvPr id="5" name="Slide Number Placeholder 4">
            <a:extLst>
              <a:ext uri="{FF2B5EF4-FFF2-40B4-BE49-F238E27FC236}">
                <a16:creationId xmlns:a16="http://schemas.microsoft.com/office/drawing/2014/main" id="{BEE36EAC-B476-BAF4-F43A-2A84088F119A}"/>
              </a:ext>
            </a:extLst>
          </p:cNvPr>
          <p:cNvSpPr>
            <a:spLocks noGrp="1"/>
          </p:cNvSpPr>
          <p:nvPr>
            <p:ph type="sldNum" sz="quarter" idx="12"/>
          </p:nvPr>
        </p:nvSpPr>
        <p:spPr/>
        <p:txBody>
          <a:bodyPr/>
          <a:lstStyle/>
          <a:p>
            <a:fld id="{DADAC235-C9E6-487D-8BF0-E0D19F810E81}" type="slidenum">
              <a:rPr lang="en-US" smtClean="0"/>
              <a:t>1</a:t>
            </a:fld>
            <a:endParaRPr lang="en-US"/>
          </a:p>
        </p:txBody>
      </p:sp>
    </p:spTree>
    <p:extLst>
      <p:ext uri="{BB962C8B-B14F-4D97-AF65-F5344CB8AC3E}">
        <p14:creationId xmlns:p14="http://schemas.microsoft.com/office/powerpoint/2010/main" val="429632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2FB2-36C8-A76D-8E21-35DFBDB3C0AD}"/>
              </a:ext>
            </a:extLst>
          </p:cNvPr>
          <p:cNvSpPr>
            <a:spLocks noGrp="1"/>
          </p:cNvSpPr>
          <p:nvPr>
            <p:ph type="title"/>
          </p:nvPr>
        </p:nvSpPr>
        <p:spPr/>
        <p:txBody>
          <a:bodyPr/>
          <a:lstStyle/>
          <a:p>
            <a:r>
              <a:rPr lang="en-US" altLang="ja-JP" dirty="0">
                <a:latin typeface="游ゴシック (Body)"/>
              </a:rPr>
              <a:t>Contents</a:t>
            </a:r>
            <a:endParaRPr lang="en-US" dirty="0"/>
          </a:p>
        </p:txBody>
      </p:sp>
      <p:sp>
        <p:nvSpPr>
          <p:cNvPr id="3" name="Content Placeholder 2">
            <a:extLst>
              <a:ext uri="{FF2B5EF4-FFF2-40B4-BE49-F238E27FC236}">
                <a16:creationId xmlns:a16="http://schemas.microsoft.com/office/drawing/2014/main" id="{C92CCE6D-3F18-2AA3-CA72-D1E5C7EEBF57}"/>
              </a:ext>
            </a:extLst>
          </p:cNvPr>
          <p:cNvSpPr>
            <a:spLocks noGrp="1"/>
          </p:cNvSpPr>
          <p:nvPr>
            <p:ph idx="1"/>
          </p:nvPr>
        </p:nvSpPr>
        <p:spPr/>
        <p:txBody>
          <a:bodyPr/>
          <a:lstStyle/>
          <a:p>
            <a:r>
              <a:rPr lang="en-US" altLang="ja-JP" dirty="0"/>
              <a:t>Research Problem</a:t>
            </a:r>
          </a:p>
          <a:p>
            <a:r>
              <a:rPr lang="en-US" altLang="ja-JP" dirty="0"/>
              <a:t>Research Background</a:t>
            </a:r>
          </a:p>
          <a:p>
            <a:r>
              <a:rPr lang="en-US" altLang="ja-JP" dirty="0"/>
              <a:t>Related Research</a:t>
            </a:r>
          </a:p>
          <a:p>
            <a:r>
              <a:rPr lang="en-US" altLang="ja-JP" dirty="0"/>
              <a:t>Proposed Method</a:t>
            </a:r>
          </a:p>
          <a:p>
            <a:r>
              <a:rPr lang="en-US" altLang="ja-JP" dirty="0"/>
              <a:t>Experiment</a:t>
            </a:r>
          </a:p>
          <a:p>
            <a:r>
              <a:rPr lang="en-US" altLang="ja-JP" dirty="0"/>
              <a:t>Future Work</a:t>
            </a:r>
          </a:p>
          <a:p>
            <a:r>
              <a:rPr lang="en-US" altLang="ja-JP" dirty="0"/>
              <a:t>Conclusion</a:t>
            </a:r>
          </a:p>
          <a:p>
            <a:endParaRPr lang="en-US" dirty="0"/>
          </a:p>
        </p:txBody>
      </p:sp>
      <p:sp>
        <p:nvSpPr>
          <p:cNvPr id="4" name="Slide Number Placeholder 3">
            <a:extLst>
              <a:ext uri="{FF2B5EF4-FFF2-40B4-BE49-F238E27FC236}">
                <a16:creationId xmlns:a16="http://schemas.microsoft.com/office/drawing/2014/main" id="{48CE1F82-3099-3CF9-266E-C6D823072936}"/>
              </a:ext>
            </a:extLst>
          </p:cNvPr>
          <p:cNvSpPr>
            <a:spLocks noGrp="1"/>
          </p:cNvSpPr>
          <p:nvPr>
            <p:ph type="sldNum" sz="quarter" idx="12"/>
          </p:nvPr>
        </p:nvSpPr>
        <p:spPr/>
        <p:txBody>
          <a:bodyPr/>
          <a:lstStyle/>
          <a:p>
            <a:fld id="{DADAC235-C9E6-487D-8BF0-E0D19F810E81}" type="slidenum">
              <a:rPr lang="en-US" smtClean="0"/>
              <a:t>2</a:t>
            </a:fld>
            <a:endParaRPr lang="en-US"/>
          </a:p>
        </p:txBody>
      </p:sp>
    </p:spTree>
    <p:extLst>
      <p:ext uri="{BB962C8B-B14F-4D97-AF65-F5344CB8AC3E}">
        <p14:creationId xmlns:p14="http://schemas.microsoft.com/office/powerpoint/2010/main" val="3314168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F2B6B-0DF9-2767-37CB-9783252CE935}"/>
              </a:ext>
            </a:extLst>
          </p:cNvPr>
          <p:cNvSpPr>
            <a:spLocks noGrp="1"/>
          </p:cNvSpPr>
          <p:nvPr>
            <p:ph type="title"/>
          </p:nvPr>
        </p:nvSpPr>
        <p:spPr/>
        <p:txBody>
          <a:bodyPr/>
          <a:lstStyle/>
          <a:p>
            <a:r>
              <a:rPr lang="en-US" dirty="0">
                <a:latin typeface="游ゴシック (Body)"/>
              </a:rPr>
              <a:t>Research Problem</a:t>
            </a:r>
          </a:p>
        </p:txBody>
      </p:sp>
      <p:sp>
        <p:nvSpPr>
          <p:cNvPr id="3" name="Content Placeholder 2">
            <a:extLst>
              <a:ext uri="{FF2B5EF4-FFF2-40B4-BE49-F238E27FC236}">
                <a16:creationId xmlns:a16="http://schemas.microsoft.com/office/drawing/2014/main" id="{1C173A82-A73C-4264-B425-5B69ED55C696}"/>
              </a:ext>
            </a:extLst>
          </p:cNvPr>
          <p:cNvSpPr>
            <a:spLocks noGrp="1"/>
          </p:cNvSpPr>
          <p:nvPr>
            <p:ph idx="1"/>
          </p:nvPr>
        </p:nvSpPr>
        <p:spPr/>
        <p:txBody>
          <a:bodyPr/>
          <a:lstStyle/>
          <a:p>
            <a:r>
              <a:rPr lang="en-US" dirty="0"/>
              <a:t>How can Subspace-based methods be used to detect surface irregularities in Point Cloud data?</a:t>
            </a:r>
          </a:p>
        </p:txBody>
      </p:sp>
      <p:sp>
        <p:nvSpPr>
          <p:cNvPr id="4" name="Slide Number Placeholder 3">
            <a:extLst>
              <a:ext uri="{FF2B5EF4-FFF2-40B4-BE49-F238E27FC236}">
                <a16:creationId xmlns:a16="http://schemas.microsoft.com/office/drawing/2014/main" id="{37188781-42C8-4D04-A3E2-A9D6A153AB2F}"/>
              </a:ext>
            </a:extLst>
          </p:cNvPr>
          <p:cNvSpPr>
            <a:spLocks noGrp="1"/>
          </p:cNvSpPr>
          <p:nvPr>
            <p:ph type="sldNum" sz="quarter" idx="12"/>
          </p:nvPr>
        </p:nvSpPr>
        <p:spPr/>
        <p:txBody>
          <a:bodyPr/>
          <a:lstStyle/>
          <a:p>
            <a:fld id="{DADAC235-C9E6-487D-8BF0-E0D19F810E81}" type="slidenum">
              <a:rPr lang="en-US" smtClean="0"/>
              <a:t>3</a:t>
            </a:fld>
            <a:endParaRPr lang="en-US"/>
          </a:p>
        </p:txBody>
      </p:sp>
      <p:pic>
        <p:nvPicPr>
          <p:cNvPr id="6" name="Picture 5">
            <a:extLst>
              <a:ext uri="{FF2B5EF4-FFF2-40B4-BE49-F238E27FC236}">
                <a16:creationId xmlns:a16="http://schemas.microsoft.com/office/drawing/2014/main" id="{553833A4-FACD-4D39-CF9E-E5DAB5DCD2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9299" y="3429000"/>
            <a:ext cx="2952750" cy="1552575"/>
          </a:xfrm>
          <a:prstGeom prst="rect">
            <a:avLst/>
          </a:prstGeom>
        </p:spPr>
      </p:pic>
      <p:pic>
        <p:nvPicPr>
          <p:cNvPr id="8" name="Picture 7">
            <a:extLst>
              <a:ext uri="{FF2B5EF4-FFF2-40B4-BE49-F238E27FC236}">
                <a16:creationId xmlns:a16="http://schemas.microsoft.com/office/drawing/2014/main" id="{71931175-3887-87B9-D4A5-C2F6271426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3834" y="3570239"/>
            <a:ext cx="2466975" cy="1847850"/>
          </a:xfrm>
          <a:prstGeom prst="rect">
            <a:avLst/>
          </a:prstGeom>
        </p:spPr>
      </p:pic>
    </p:spTree>
    <p:extLst>
      <p:ext uri="{BB962C8B-B14F-4D97-AF65-F5344CB8AC3E}">
        <p14:creationId xmlns:p14="http://schemas.microsoft.com/office/powerpoint/2010/main" val="3704462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E72EA-B514-6FD0-FCB7-29E936721F26}"/>
              </a:ext>
            </a:extLst>
          </p:cNvPr>
          <p:cNvSpPr>
            <a:spLocks noGrp="1"/>
          </p:cNvSpPr>
          <p:nvPr>
            <p:ph type="title"/>
          </p:nvPr>
        </p:nvSpPr>
        <p:spPr>
          <a:xfrm>
            <a:off x="838200" y="146552"/>
            <a:ext cx="10515600" cy="1325563"/>
          </a:xfrm>
        </p:spPr>
        <p:txBody>
          <a:bodyPr>
            <a:normAutofit/>
          </a:bodyPr>
          <a:lstStyle/>
          <a:p>
            <a:r>
              <a:rPr lang="en-US" sz="4000" dirty="0">
                <a:latin typeface="游ゴシック (Body)"/>
              </a:rPr>
              <a:t>Research Background</a:t>
            </a:r>
          </a:p>
        </p:txBody>
      </p:sp>
      <p:sp>
        <p:nvSpPr>
          <p:cNvPr id="3" name="Content Placeholder 2">
            <a:extLst>
              <a:ext uri="{FF2B5EF4-FFF2-40B4-BE49-F238E27FC236}">
                <a16:creationId xmlns:a16="http://schemas.microsoft.com/office/drawing/2014/main" id="{7144523E-AD27-1DE4-99F5-8214784C8ECC}"/>
              </a:ext>
            </a:extLst>
          </p:cNvPr>
          <p:cNvSpPr>
            <a:spLocks noGrp="1"/>
          </p:cNvSpPr>
          <p:nvPr>
            <p:ph idx="1"/>
          </p:nvPr>
        </p:nvSpPr>
        <p:spPr>
          <a:xfrm>
            <a:off x="838200" y="2291379"/>
            <a:ext cx="10515600" cy="3885584"/>
          </a:xfrm>
        </p:spPr>
        <p:txBody>
          <a:bodyPr/>
          <a:lstStyle/>
          <a:p>
            <a:r>
              <a:rPr kumimoji="1" lang="en-US" sz="1800" dirty="0"/>
              <a:t>Point Cloud processing involves handling 3D data represented as a collection of points in space (x, y, z) coordinates.</a:t>
            </a:r>
          </a:p>
          <a:p>
            <a:r>
              <a:rPr kumimoji="1" lang="en-US" sz="1800" dirty="0"/>
              <a:t>Example of point cloud data file</a:t>
            </a:r>
          </a:p>
          <a:p>
            <a:endParaRPr lang="en-US" dirty="0"/>
          </a:p>
        </p:txBody>
      </p:sp>
      <p:sp>
        <p:nvSpPr>
          <p:cNvPr id="4" name="Slide Number Placeholder 3">
            <a:extLst>
              <a:ext uri="{FF2B5EF4-FFF2-40B4-BE49-F238E27FC236}">
                <a16:creationId xmlns:a16="http://schemas.microsoft.com/office/drawing/2014/main" id="{961C2037-E89F-6EEE-5ABE-563B86FFDEC7}"/>
              </a:ext>
            </a:extLst>
          </p:cNvPr>
          <p:cNvSpPr>
            <a:spLocks noGrp="1"/>
          </p:cNvSpPr>
          <p:nvPr>
            <p:ph type="sldNum" sz="quarter" idx="12"/>
          </p:nvPr>
        </p:nvSpPr>
        <p:spPr/>
        <p:txBody>
          <a:bodyPr/>
          <a:lstStyle/>
          <a:p>
            <a:fld id="{DADAC235-C9E6-487D-8BF0-E0D19F810E81}" type="slidenum">
              <a:rPr lang="en-US" smtClean="0"/>
              <a:t>4</a:t>
            </a:fld>
            <a:endParaRPr lang="en-US"/>
          </a:p>
        </p:txBody>
      </p:sp>
      <p:sp>
        <p:nvSpPr>
          <p:cNvPr id="5" name="TextBox 4">
            <a:extLst>
              <a:ext uri="{FF2B5EF4-FFF2-40B4-BE49-F238E27FC236}">
                <a16:creationId xmlns:a16="http://schemas.microsoft.com/office/drawing/2014/main" id="{7AF49AE0-F4C8-1447-6961-46AE98DB39B1}"/>
              </a:ext>
            </a:extLst>
          </p:cNvPr>
          <p:cNvSpPr txBox="1"/>
          <p:nvPr/>
        </p:nvSpPr>
        <p:spPr>
          <a:xfrm>
            <a:off x="857415" y="1290918"/>
            <a:ext cx="4196122" cy="523220"/>
          </a:xfrm>
          <a:prstGeom prst="rect">
            <a:avLst/>
          </a:prstGeom>
          <a:noFill/>
        </p:spPr>
        <p:txBody>
          <a:bodyPr wrap="square" rtlCol="0">
            <a:spAutoFit/>
          </a:bodyPr>
          <a:lstStyle/>
          <a:p>
            <a:r>
              <a:rPr lang="en-US" sz="2800" dirty="0">
                <a:latin typeface="游ゴシック (Body)"/>
              </a:rPr>
              <a:t>Point Cloud Processing</a:t>
            </a:r>
          </a:p>
        </p:txBody>
      </p:sp>
      <p:pic>
        <p:nvPicPr>
          <p:cNvPr id="9" name="Picture 8">
            <a:extLst>
              <a:ext uri="{FF2B5EF4-FFF2-40B4-BE49-F238E27FC236}">
                <a16:creationId xmlns:a16="http://schemas.microsoft.com/office/drawing/2014/main" id="{AA81B8E0-0657-A81E-3FAC-CA47A9610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5554" y="12748"/>
            <a:ext cx="2248095" cy="2248095"/>
          </a:xfrm>
          <a:prstGeom prst="rect">
            <a:avLst/>
          </a:prstGeom>
        </p:spPr>
      </p:pic>
      <p:graphicFrame>
        <p:nvGraphicFramePr>
          <p:cNvPr id="10" name="Table 9">
            <a:extLst>
              <a:ext uri="{FF2B5EF4-FFF2-40B4-BE49-F238E27FC236}">
                <a16:creationId xmlns:a16="http://schemas.microsoft.com/office/drawing/2014/main" id="{AC0ADD7A-5889-D965-341B-77848170E22F}"/>
              </a:ext>
            </a:extLst>
          </p:cNvPr>
          <p:cNvGraphicFramePr>
            <a:graphicFrameLocks noGrp="1"/>
          </p:cNvGraphicFramePr>
          <p:nvPr>
            <p:extLst>
              <p:ext uri="{D42A27DB-BD31-4B8C-83A1-F6EECF244321}">
                <p14:modId xmlns:p14="http://schemas.microsoft.com/office/powerpoint/2010/main" val="2434404678"/>
              </p:ext>
            </p:extLst>
          </p:nvPr>
        </p:nvGraphicFramePr>
        <p:xfrm>
          <a:off x="1001957" y="3672647"/>
          <a:ext cx="2998392" cy="1843900"/>
        </p:xfrm>
        <a:graphic>
          <a:graphicData uri="http://schemas.openxmlformats.org/drawingml/2006/table">
            <a:tbl>
              <a:tblPr firstRow="1" bandRow="1">
                <a:tableStyleId>{C083E6E3-FA7D-4D7B-A595-EF9225AFEA82}</a:tableStyleId>
              </a:tblPr>
              <a:tblGrid>
                <a:gridCol w="999464">
                  <a:extLst>
                    <a:ext uri="{9D8B030D-6E8A-4147-A177-3AD203B41FA5}">
                      <a16:colId xmlns:a16="http://schemas.microsoft.com/office/drawing/2014/main" val="574157511"/>
                    </a:ext>
                  </a:extLst>
                </a:gridCol>
                <a:gridCol w="999464">
                  <a:extLst>
                    <a:ext uri="{9D8B030D-6E8A-4147-A177-3AD203B41FA5}">
                      <a16:colId xmlns:a16="http://schemas.microsoft.com/office/drawing/2014/main" val="20761963"/>
                    </a:ext>
                  </a:extLst>
                </a:gridCol>
                <a:gridCol w="999464">
                  <a:extLst>
                    <a:ext uri="{9D8B030D-6E8A-4147-A177-3AD203B41FA5}">
                      <a16:colId xmlns:a16="http://schemas.microsoft.com/office/drawing/2014/main" val="3525902860"/>
                    </a:ext>
                  </a:extLst>
                </a:gridCol>
              </a:tblGrid>
              <a:tr h="365547">
                <a:tc>
                  <a:txBody>
                    <a:bodyPr/>
                    <a:lstStyle/>
                    <a:p>
                      <a:pPr algn="ctr"/>
                      <a:r>
                        <a:rPr lang="en-US" dirty="0"/>
                        <a:t>X</a:t>
                      </a:r>
                    </a:p>
                  </a:txBody>
                  <a:tcPr/>
                </a:tc>
                <a:tc>
                  <a:txBody>
                    <a:bodyPr/>
                    <a:lstStyle/>
                    <a:p>
                      <a:pPr algn="ctr"/>
                      <a:r>
                        <a:rPr lang="en-US" dirty="0"/>
                        <a:t>Y</a:t>
                      </a:r>
                    </a:p>
                  </a:txBody>
                  <a:tcPr/>
                </a:tc>
                <a:tc>
                  <a:txBody>
                    <a:bodyPr/>
                    <a:lstStyle/>
                    <a:p>
                      <a:pPr algn="ctr"/>
                      <a:r>
                        <a:rPr lang="en-US" dirty="0"/>
                        <a:t>Z</a:t>
                      </a:r>
                    </a:p>
                  </a:txBody>
                  <a:tcPr/>
                </a:tc>
                <a:extLst>
                  <a:ext uri="{0D108BD9-81ED-4DB2-BD59-A6C34878D82A}">
                    <a16:rowId xmlns:a16="http://schemas.microsoft.com/office/drawing/2014/main" val="1273759200"/>
                  </a:ext>
                </a:extLst>
              </a:tr>
              <a:tr h="369535">
                <a:tc>
                  <a:txBody>
                    <a:bodyPr/>
                    <a:lstStyle/>
                    <a:p>
                      <a:pPr algn="ctr"/>
                      <a:r>
                        <a:rPr lang="en-US" dirty="0"/>
                        <a:t>100</a:t>
                      </a:r>
                    </a:p>
                  </a:txBody>
                  <a:tcPr/>
                </a:tc>
                <a:tc>
                  <a:txBody>
                    <a:bodyPr/>
                    <a:lstStyle/>
                    <a:p>
                      <a:pPr algn="ctr"/>
                      <a:r>
                        <a:rPr lang="en-US" dirty="0"/>
                        <a:t>150</a:t>
                      </a:r>
                    </a:p>
                  </a:txBody>
                  <a:tcPr/>
                </a:tc>
                <a:tc>
                  <a:txBody>
                    <a:bodyPr/>
                    <a:lstStyle/>
                    <a:p>
                      <a:pPr algn="ctr"/>
                      <a:r>
                        <a:rPr lang="en-US" dirty="0"/>
                        <a:t>100</a:t>
                      </a:r>
                    </a:p>
                  </a:txBody>
                  <a:tcPr/>
                </a:tc>
                <a:extLst>
                  <a:ext uri="{0D108BD9-81ED-4DB2-BD59-A6C34878D82A}">
                    <a16:rowId xmlns:a16="http://schemas.microsoft.com/office/drawing/2014/main" val="3152489411"/>
                  </a:ext>
                </a:extLst>
              </a:tr>
              <a:tr h="369535">
                <a:tc>
                  <a:txBody>
                    <a:bodyPr/>
                    <a:lstStyle/>
                    <a:p>
                      <a:pPr algn="ctr"/>
                      <a:r>
                        <a:rPr lang="en-US" dirty="0"/>
                        <a:t>200</a:t>
                      </a:r>
                    </a:p>
                  </a:txBody>
                  <a:tcPr/>
                </a:tc>
                <a:tc>
                  <a:txBody>
                    <a:bodyPr/>
                    <a:lstStyle/>
                    <a:p>
                      <a:pPr algn="ctr"/>
                      <a:r>
                        <a:rPr lang="en-US" dirty="0"/>
                        <a:t>200</a:t>
                      </a:r>
                    </a:p>
                  </a:txBody>
                  <a:tcPr/>
                </a:tc>
                <a:tc>
                  <a:txBody>
                    <a:bodyPr/>
                    <a:lstStyle/>
                    <a:p>
                      <a:pPr algn="ctr"/>
                      <a:r>
                        <a:rPr lang="en-US" dirty="0"/>
                        <a:t>210</a:t>
                      </a:r>
                    </a:p>
                  </a:txBody>
                  <a:tcPr/>
                </a:tc>
                <a:extLst>
                  <a:ext uri="{0D108BD9-81ED-4DB2-BD59-A6C34878D82A}">
                    <a16:rowId xmlns:a16="http://schemas.microsoft.com/office/drawing/2014/main" val="3094816276"/>
                  </a:ext>
                </a:extLst>
              </a:tr>
              <a:tr h="369535">
                <a:tc>
                  <a:txBody>
                    <a:bodyPr/>
                    <a:lstStyle/>
                    <a:p>
                      <a:pPr algn="ctr"/>
                      <a:r>
                        <a:rPr lang="en-US" dirty="0"/>
                        <a:t>10</a:t>
                      </a:r>
                    </a:p>
                  </a:txBody>
                  <a:tcPr/>
                </a:tc>
                <a:tc>
                  <a:txBody>
                    <a:bodyPr/>
                    <a:lstStyle/>
                    <a:p>
                      <a:pPr algn="ctr"/>
                      <a:r>
                        <a:rPr lang="en-US" dirty="0"/>
                        <a:t>50</a:t>
                      </a:r>
                    </a:p>
                  </a:txBody>
                  <a:tcPr/>
                </a:tc>
                <a:tc>
                  <a:txBody>
                    <a:bodyPr/>
                    <a:lstStyle/>
                    <a:p>
                      <a:pPr algn="ctr"/>
                      <a:r>
                        <a:rPr lang="en-US" dirty="0"/>
                        <a:t>100</a:t>
                      </a:r>
                    </a:p>
                  </a:txBody>
                  <a:tcPr/>
                </a:tc>
                <a:extLst>
                  <a:ext uri="{0D108BD9-81ED-4DB2-BD59-A6C34878D82A}">
                    <a16:rowId xmlns:a16="http://schemas.microsoft.com/office/drawing/2014/main" val="3265435151"/>
                  </a:ext>
                </a:extLst>
              </a:tr>
              <a:tr h="369535">
                <a:tc>
                  <a:txBody>
                    <a:bodyPr/>
                    <a:lstStyle/>
                    <a:p>
                      <a:pPr algn="ctr"/>
                      <a:r>
                        <a:rPr lang="en-US" dirty="0"/>
                        <a:t>35</a:t>
                      </a:r>
                    </a:p>
                  </a:txBody>
                  <a:tcPr/>
                </a:tc>
                <a:tc>
                  <a:txBody>
                    <a:bodyPr/>
                    <a:lstStyle/>
                    <a:p>
                      <a:pPr algn="ctr"/>
                      <a:r>
                        <a:rPr lang="en-US" dirty="0"/>
                        <a:t>10</a:t>
                      </a:r>
                    </a:p>
                  </a:txBody>
                  <a:tcPr/>
                </a:tc>
                <a:tc>
                  <a:txBody>
                    <a:bodyPr/>
                    <a:lstStyle/>
                    <a:p>
                      <a:pPr algn="ctr"/>
                      <a:r>
                        <a:rPr lang="en-US" dirty="0"/>
                        <a:t>35</a:t>
                      </a:r>
                    </a:p>
                  </a:txBody>
                  <a:tcPr/>
                </a:tc>
                <a:extLst>
                  <a:ext uri="{0D108BD9-81ED-4DB2-BD59-A6C34878D82A}">
                    <a16:rowId xmlns:a16="http://schemas.microsoft.com/office/drawing/2014/main" val="363369944"/>
                  </a:ext>
                </a:extLst>
              </a:tr>
            </a:tbl>
          </a:graphicData>
        </a:graphic>
      </p:graphicFrame>
      <p:graphicFrame>
        <p:nvGraphicFramePr>
          <p:cNvPr id="12" name="Table 11">
            <a:extLst>
              <a:ext uri="{FF2B5EF4-FFF2-40B4-BE49-F238E27FC236}">
                <a16:creationId xmlns:a16="http://schemas.microsoft.com/office/drawing/2014/main" id="{73F04D5D-7801-59BE-9758-E77029E79ABC}"/>
              </a:ext>
            </a:extLst>
          </p:cNvPr>
          <p:cNvGraphicFramePr>
            <a:graphicFrameLocks noGrp="1"/>
          </p:cNvGraphicFramePr>
          <p:nvPr>
            <p:extLst>
              <p:ext uri="{D42A27DB-BD31-4B8C-83A1-F6EECF244321}">
                <p14:modId xmlns:p14="http://schemas.microsoft.com/office/powerpoint/2010/main" val="3242873674"/>
              </p:ext>
            </p:extLst>
          </p:nvPr>
        </p:nvGraphicFramePr>
        <p:xfrm>
          <a:off x="4596804" y="3672647"/>
          <a:ext cx="2998392" cy="1843900"/>
        </p:xfrm>
        <a:graphic>
          <a:graphicData uri="http://schemas.openxmlformats.org/drawingml/2006/table">
            <a:tbl>
              <a:tblPr firstRow="1" bandRow="1">
                <a:tableStyleId>{C083E6E3-FA7D-4D7B-A595-EF9225AFEA82}</a:tableStyleId>
              </a:tblPr>
              <a:tblGrid>
                <a:gridCol w="999464">
                  <a:extLst>
                    <a:ext uri="{9D8B030D-6E8A-4147-A177-3AD203B41FA5}">
                      <a16:colId xmlns:a16="http://schemas.microsoft.com/office/drawing/2014/main" val="574157511"/>
                    </a:ext>
                  </a:extLst>
                </a:gridCol>
                <a:gridCol w="999464">
                  <a:extLst>
                    <a:ext uri="{9D8B030D-6E8A-4147-A177-3AD203B41FA5}">
                      <a16:colId xmlns:a16="http://schemas.microsoft.com/office/drawing/2014/main" val="20761963"/>
                    </a:ext>
                  </a:extLst>
                </a:gridCol>
                <a:gridCol w="999464">
                  <a:extLst>
                    <a:ext uri="{9D8B030D-6E8A-4147-A177-3AD203B41FA5}">
                      <a16:colId xmlns:a16="http://schemas.microsoft.com/office/drawing/2014/main" val="3525902860"/>
                    </a:ext>
                  </a:extLst>
                </a:gridCol>
              </a:tblGrid>
              <a:tr h="365547">
                <a:tc>
                  <a:txBody>
                    <a:bodyPr/>
                    <a:lstStyle/>
                    <a:p>
                      <a:pPr algn="ctr"/>
                      <a:r>
                        <a:rPr lang="en-US" dirty="0"/>
                        <a:t>R</a:t>
                      </a:r>
                    </a:p>
                  </a:txBody>
                  <a:tcPr>
                    <a:solidFill>
                      <a:srgbClr val="FF5050"/>
                    </a:solidFill>
                  </a:tcPr>
                </a:tc>
                <a:tc>
                  <a:txBody>
                    <a:bodyPr/>
                    <a:lstStyle/>
                    <a:p>
                      <a:pPr algn="ctr"/>
                      <a:r>
                        <a:rPr lang="en-US" dirty="0"/>
                        <a:t>G</a:t>
                      </a:r>
                    </a:p>
                  </a:txBody>
                  <a:tcPr>
                    <a:solidFill>
                      <a:srgbClr val="008000"/>
                    </a:solidFill>
                  </a:tcPr>
                </a:tc>
                <a:tc>
                  <a:txBody>
                    <a:bodyPr/>
                    <a:lstStyle/>
                    <a:p>
                      <a:pPr algn="ctr"/>
                      <a:r>
                        <a:rPr lang="en-US" dirty="0"/>
                        <a:t>B</a:t>
                      </a:r>
                    </a:p>
                  </a:txBody>
                  <a:tcPr>
                    <a:solidFill>
                      <a:srgbClr val="5A87EC"/>
                    </a:solidFill>
                  </a:tcPr>
                </a:tc>
                <a:extLst>
                  <a:ext uri="{0D108BD9-81ED-4DB2-BD59-A6C34878D82A}">
                    <a16:rowId xmlns:a16="http://schemas.microsoft.com/office/drawing/2014/main" val="1273759200"/>
                  </a:ext>
                </a:extLst>
              </a:tr>
              <a:tr h="369535">
                <a:tc>
                  <a:txBody>
                    <a:bodyPr/>
                    <a:lstStyle/>
                    <a:p>
                      <a:pPr algn="ctr"/>
                      <a:r>
                        <a:rPr lang="en-US" dirty="0"/>
                        <a:t>13</a:t>
                      </a:r>
                    </a:p>
                  </a:txBody>
                  <a:tcPr>
                    <a:solidFill>
                      <a:srgbClr val="FF9999"/>
                    </a:solidFill>
                  </a:tcPr>
                </a:tc>
                <a:tc>
                  <a:txBody>
                    <a:bodyPr/>
                    <a:lstStyle/>
                    <a:p>
                      <a:pPr algn="ctr"/>
                      <a:r>
                        <a:rPr lang="en-US" dirty="0"/>
                        <a:t>115</a:t>
                      </a:r>
                    </a:p>
                  </a:txBody>
                  <a:tcPr>
                    <a:solidFill>
                      <a:schemeClr val="accent6">
                        <a:lumMod val="40000"/>
                        <a:lumOff val="60000"/>
                      </a:schemeClr>
                    </a:solidFill>
                  </a:tcPr>
                </a:tc>
                <a:tc>
                  <a:txBody>
                    <a:bodyPr/>
                    <a:lstStyle/>
                    <a:p>
                      <a:pPr algn="ctr"/>
                      <a:r>
                        <a:rPr lang="en-US" dirty="0"/>
                        <a:t>24</a:t>
                      </a:r>
                    </a:p>
                  </a:txBody>
                  <a:tcPr>
                    <a:solidFill>
                      <a:schemeClr val="accent1">
                        <a:lumMod val="40000"/>
                        <a:lumOff val="60000"/>
                      </a:schemeClr>
                    </a:solidFill>
                  </a:tcPr>
                </a:tc>
                <a:extLst>
                  <a:ext uri="{0D108BD9-81ED-4DB2-BD59-A6C34878D82A}">
                    <a16:rowId xmlns:a16="http://schemas.microsoft.com/office/drawing/2014/main" val="3152489411"/>
                  </a:ext>
                </a:extLst>
              </a:tr>
              <a:tr h="369535">
                <a:tc>
                  <a:txBody>
                    <a:bodyPr/>
                    <a:lstStyle/>
                    <a:p>
                      <a:pPr algn="ctr"/>
                      <a:r>
                        <a:rPr lang="en-US" dirty="0"/>
                        <a:t>32</a:t>
                      </a:r>
                    </a:p>
                  </a:txBody>
                  <a:tcPr>
                    <a:solidFill>
                      <a:srgbClr val="FF9999"/>
                    </a:solidFill>
                  </a:tcPr>
                </a:tc>
                <a:tc>
                  <a:txBody>
                    <a:bodyPr/>
                    <a:lstStyle/>
                    <a:p>
                      <a:pPr algn="ctr"/>
                      <a:r>
                        <a:rPr lang="en-US" dirty="0"/>
                        <a:t>102</a:t>
                      </a:r>
                    </a:p>
                  </a:txBody>
                  <a:tcPr>
                    <a:solidFill>
                      <a:schemeClr val="accent6">
                        <a:lumMod val="40000"/>
                        <a:lumOff val="60000"/>
                      </a:schemeClr>
                    </a:solidFill>
                  </a:tcPr>
                </a:tc>
                <a:tc>
                  <a:txBody>
                    <a:bodyPr/>
                    <a:lstStyle/>
                    <a:p>
                      <a:pPr algn="ctr"/>
                      <a:r>
                        <a:rPr lang="en-US" dirty="0"/>
                        <a:t>35</a:t>
                      </a:r>
                    </a:p>
                  </a:txBody>
                  <a:tcPr>
                    <a:solidFill>
                      <a:schemeClr val="accent1">
                        <a:lumMod val="40000"/>
                        <a:lumOff val="60000"/>
                      </a:schemeClr>
                    </a:solidFill>
                  </a:tcPr>
                </a:tc>
                <a:extLst>
                  <a:ext uri="{0D108BD9-81ED-4DB2-BD59-A6C34878D82A}">
                    <a16:rowId xmlns:a16="http://schemas.microsoft.com/office/drawing/2014/main" val="3094816276"/>
                  </a:ext>
                </a:extLst>
              </a:tr>
              <a:tr h="369535">
                <a:tc>
                  <a:txBody>
                    <a:bodyPr/>
                    <a:lstStyle/>
                    <a:p>
                      <a:pPr algn="ctr"/>
                      <a:r>
                        <a:rPr lang="en-US" dirty="0"/>
                        <a:t>15</a:t>
                      </a:r>
                    </a:p>
                  </a:txBody>
                  <a:tcPr>
                    <a:solidFill>
                      <a:srgbClr val="FF9999"/>
                    </a:solidFill>
                  </a:tcPr>
                </a:tc>
                <a:tc>
                  <a:txBody>
                    <a:bodyPr/>
                    <a:lstStyle/>
                    <a:p>
                      <a:pPr algn="ctr"/>
                      <a:r>
                        <a:rPr lang="en-US" dirty="0"/>
                        <a:t>57</a:t>
                      </a:r>
                    </a:p>
                  </a:txBody>
                  <a:tcPr>
                    <a:solidFill>
                      <a:schemeClr val="accent6">
                        <a:lumMod val="40000"/>
                        <a:lumOff val="60000"/>
                      </a:schemeClr>
                    </a:solidFill>
                  </a:tcPr>
                </a:tc>
                <a:tc>
                  <a:txBody>
                    <a:bodyPr/>
                    <a:lstStyle/>
                    <a:p>
                      <a:pPr algn="ctr"/>
                      <a:r>
                        <a:rPr lang="en-US" dirty="0"/>
                        <a:t>78</a:t>
                      </a:r>
                    </a:p>
                  </a:txBody>
                  <a:tcPr>
                    <a:solidFill>
                      <a:schemeClr val="accent1">
                        <a:lumMod val="40000"/>
                        <a:lumOff val="60000"/>
                      </a:schemeClr>
                    </a:solidFill>
                  </a:tcPr>
                </a:tc>
                <a:extLst>
                  <a:ext uri="{0D108BD9-81ED-4DB2-BD59-A6C34878D82A}">
                    <a16:rowId xmlns:a16="http://schemas.microsoft.com/office/drawing/2014/main" val="3265435151"/>
                  </a:ext>
                </a:extLst>
              </a:tr>
              <a:tr h="369535">
                <a:tc>
                  <a:txBody>
                    <a:bodyPr/>
                    <a:lstStyle/>
                    <a:p>
                      <a:pPr algn="ctr"/>
                      <a:r>
                        <a:rPr lang="en-US" dirty="0"/>
                        <a:t>33</a:t>
                      </a:r>
                    </a:p>
                  </a:txBody>
                  <a:tcPr>
                    <a:solidFill>
                      <a:srgbClr val="FF9999"/>
                    </a:solidFill>
                  </a:tcPr>
                </a:tc>
                <a:tc>
                  <a:txBody>
                    <a:bodyPr/>
                    <a:lstStyle/>
                    <a:p>
                      <a:pPr algn="ctr"/>
                      <a:r>
                        <a:rPr lang="en-US" dirty="0"/>
                        <a:t>43</a:t>
                      </a:r>
                    </a:p>
                  </a:txBody>
                  <a:tcPr>
                    <a:solidFill>
                      <a:schemeClr val="accent6">
                        <a:lumMod val="40000"/>
                        <a:lumOff val="60000"/>
                      </a:schemeClr>
                    </a:solidFill>
                  </a:tcPr>
                </a:tc>
                <a:tc>
                  <a:txBody>
                    <a:bodyPr/>
                    <a:lstStyle/>
                    <a:p>
                      <a:pPr algn="ctr"/>
                      <a:r>
                        <a:rPr lang="en-US" dirty="0"/>
                        <a:t>25</a:t>
                      </a:r>
                    </a:p>
                  </a:txBody>
                  <a:tcPr>
                    <a:solidFill>
                      <a:schemeClr val="accent1">
                        <a:lumMod val="40000"/>
                        <a:lumOff val="60000"/>
                      </a:schemeClr>
                    </a:solidFill>
                  </a:tcPr>
                </a:tc>
                <a:extLst>
                  <a:ext uri="{0D108BD9-81ED-4DB2-BD59-A6C34878D82A}">
                    <a16:rowId xmlns:a16="http://schemas.microsoft.com/office/drawing/2014/main" val="363369944"/>
                  </a:ext>
                </a:extLst>
              </a:tr>
            </a:tbl>
          </a:graphicData>
        </a:graphic>
      </p:graphicFrame>
      <p:graphicFrame>
        <p:nvGraphicFramePr>
          <p:cNvPr id="13" name="Table 12">
            <a:extLst>
              <a:ext uri="{FF2B5EF4-FFF2-40B4-BE49-F238E27FC236}">
                <a16:creationId xmlns:a16="http://schemas.microsoft.com/office/drawing/2014/main" id="{C505489A-E3A1-6FE7-C0F2-B2CF5F0054BE}"/>
              </a:ext>
            </a:extLst>
          </p:cNvPr>
          <p:cNvGraphicFramePr>
            <a:graphicFrameLocks noGrp="1"/>
          </p:cNvGraphicFramePr>
          <p:nvPr>
            <p:extLst>
              <p:ext uri="{D42A27DB-BD31-4B8C-83A1-F6EECF244321}">
                <p14:modId xmlns:p14="http://schemas.microsoft.com/office/powerpoint/2010/main" val="1550505981"/>
              </p:ext>
            </p:extLst>
          </p:nvPr>
        </p:nvGraphicFramePr>
        <p:xfrm>
          <a:off x="8308193" y="3672647"/>
          <a:ext cx="2998392" cy="1843900"/>
        </p:xfrm>
        <a:graphic>
          <a:graphicData uri="http://schemas.openxmlformats.org/drawingml/2006/table">
            <a:tbl>
              <a:tblPr firstRow="1" bandRow="1">
                <a:tableStyleId>{69C7853C-536D-4A76-A0AE-DD22124D55A5}</a:tableStyleId>
              </a:tblPr>
              <a:tblGrid>
                <a:gridCol w="999464">
                  <a:extLst>
                    <a:ext uri="{9D8B030D-6E8A-4147-A177-3AD203B41FA5}">
                      <a16:colId xmlns:a16="http://schemas.microsoft.com/office/drawing/2014/main" val="574157511"/>
                    </a:ext>
                  </a:extLst>
                </a:gridCol>
                <a:gridCol w="999464">
                  <a:extLst>
                    <a:ext uri="{9D8B030D-6E8A-4147-A177-3AD203B41FA5}">
                      <a16:colId xmlns:a16="http://schemas.microsoft.com/office/drawing/2014/main" val="20761963"/>
                    </a:ext>
                  </a:extLst>
                </a:gridCol>
                <a:gridCol w="999464">
                  <a:extLst>
                    <a:ext uri="{9D8B030D-6E8A-4147-A177-3AD203B41FA5}">
                      <a16:colId xmlns:a16="http://schemas.microsoft.com/office/drawing/2014/main" val="3525902860"/>
                    </a:ext>
                  </a:extLst>
                </a:gridCol>
              </a:tblGrid>
              <a:tr h="365547">
                <a:tc>
                  <a:txBody>
                    <a:bodyPr/>
                    <a:lstStyle/>
                    <a:p>
                      <a:pPr algn="ctr"/>
                      <a:r>
                        <a:rPr lang="en-US" dirty="0"/>
                        <a:t>X</a:t>
                      </a:r>
                    </a:p>
                  </a:txBody>
                  <a:tcPr/>
                </a:tc>
                <a:tc>
                  <a:txBody>
                    <a:bodyPr/>
                    <a:lstStyle/>
                    <a:p>
                      <a:pPr algn="ctr"/>
                      <a:r>
                        <a:rPr lang="en-US" dirty="0"/>
                        <a:t>Y</a:t>
                      </a:r>
                    </a:p>
                  </a:txBody>
                  <a:tcPr/>
                </a:tc>
                <a:tc>
                  <a:txBody>
                    <a:bodyPr/>
                    <a:lstStyle/>
                    <a:p>
                      <a:pPr algn="ctr"/>
                      <a:r>
                        <a:rPr lang="en-US" dirty="0"/>
                        <a:t>Z</a:t>
                      </a:r>
                    </a:p>
                  </a:txBody>
                  <a:tcPr/>
                </a:tc>
                <a:extLst>
                  <a:ext uri="{0D108BD9-81ED-4DB2-BD59-A6C34878D82A}">
                    <a16:rowId xmlns:a16="http://schemas.microsoft.com/office/drawing/2014/main" val="1273759200"/>
                  </a:ext>
                </a:extLst>
              </a:tr>
              <a:tr h="369535">
                <a:tc>
                  <a:txBody>
                    <a:bodyPr/>
                    <a:lstStyle/>
                    <a:p>
                      <a:pPr algn="ctr"/>
                      <a:r>
                        <a:rPr lang="en-US" dirty="0"/>
                        <a:t>1</a:t>
                      </a:r>
                    </a:p>
                  </a:txBody>
                  <a:tcPr/>
                </a:tc>
                <a:tc>
                  <a:txBody>
                    <a:bodyPr/>
                    <a:lstStyle/>
                    <a:p>
                      <a:pPr algn="ctr"/>
                      <a:r>
                        <a:rPr lang="en-US" dirty="0"/>
                        <a:t>0</a:t>
                      </a:r>
                    </a:p>
                  </a:txBody>
                  <a:tcPr/>
                </a:tc>
                <a:tc>
                  <a:txBody>
                    <a:bodyPr/>
                    <a:lstStyle/>
                    <a:p>
                      <a:pPr algn="ctr"/>
                      <a:r>
                        <a:rPr lang="en-US" dirty="0"/>
                        <a:t>3</a:t>
                      </a:r>
                    </a:p>
                  </a:txBody>
                  <a:tcPr/>
                </a:tc>
                <a:extLst>
                  <a:ext uri="{0D108BD9-81ED-4DB2-BD59-A6C34878D82A}">
                    <a16:rowId xmlns:a16="http://schemas.microsoft.com/office/drawing/2014/main" val="3152489411"/>
                  </a:ext>
                </a:extLst>
              </a:tr>
              <a:tr h="369535">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094816276"/>
                  </a:ext>
                </a:extLst>
              </a:tr>
              <a:tr h="369535">
                <a:tc>
                  <a:txBody>
                    <a:bodyPr/>
                    <a:lstStyle/>
                    <a:p>
                      <a:pPr algn="ctr"/>
                      <a:r>
                        <a:rPr lang="en-US" dirty="0"/>
                        <a:t>0</a:t>
                      </a:r>
                    </a:p>
                  </a:txBody>
                  <a:tcPr/>
                </a:tc>
                <a:tc>
                  <a:txBody>
                    <a:bodyPr/>
                    <a:lstStyle/>
                    <a:p>
                      <a:pPr algn="ctr"/>
                      <a:r>
                        <a:rPr lang="en-US" dirty="0"/>
                        <a:t>-2</a:t>
                      </a:r>
                    </a:p>
                  </a:txBody>
                  <a:tcPr/>
                </a:tc>
                <a:tc>
                  <a:txBody>
                    <a:bodyPr/>
                    <a:lstStyle/>
                    <a:p>
                      <a:pPr algn="ctr"/>
                      <a:r>
                        <a:rPr lang="en-US" dirty="0"/>
                        <a:t>0</a:t>
                      </a:r>
                    </a:p>
                  </a:txBody>
                  <a:tcPr/>
                </a:tc>
                <a:extLst>
                  <a:ext uri="{0D108BD9-81ED-4DB2-BD59-A6C34878D82A}">
                    <a16:rowId xmlns:a16="http://schemas.microsoft.com/office/drawing/2014/main" val="3265435151"/>
                  </a:ext>
                </a:extLst>
              </a:tr>
              <a:tr h="369535">
                <a:tc>
                  <a:txBody>
                    <a:bodyPr/>
                    <a:lstStyle/>
                    <a:p>
                      <a:pPr algn="ctr"/>
                      <a:r>
                        <a:rPr lang="en-US" dirty="0"/>
                        <a:t>2</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63369944"/>
                  </a:ext>
                </a:extLst>
              </a:tr>
            </a:tbl>
          </a:graphicData>
        </a:graphic>
      </p:graphicFrame>
      <p:sp>
        <p:nvSpPr>
          <p:cNvPr id="14" name="TextBox 13">
            <a:extLst>
              <a:ext uri="{FF2B5EF4-FFF2-40B4-BE49-F238E27FC236}">
                <a16:creationId xmlns:a16="http://schemas.microsoft.com/office/drawing/2014/main" id="{B894A89B-5180-46AC-C331-57C2E8608AA6}"/>
              </a:ext>
            </a:extLst>
          </p:cNvPr>
          <p:cNvSpPr txBox="1"/>
          <p:nvPr/>
        </p:nvSpPr>
        <p:spPr>
          <a:xfrm>
            <a:off x="1786067" y="5591415"/>
            <a:ext cx="1313436" cy="369332"/>
          </a:xfrm>
          <a:prstGeom prst="rect">
            <a:avLst/>
          </a:prstGeom>
          <a:noFill/>
        </p:spPr>
        <p:txBody>
          <a:bodyPr wrap="none" rtlCol="0">
            <a:spAutoFit/>
          </a:bodyPr>
          <a:lstStyle/>
          <a:p>
            <a:r>
              <a:rPr lang="en-US" dirty="0"/>
              <a:t>Coordinates</a:t>
            </a:r>
          </a:p>
        </p:txBody>
      </p:sp>
      <p:sp>
        <p:nvSpPr>
          <p:cNvPr id="15" name="TextBox 14">
            <a:extLst>
              <a:ext uri="{FF2B5EF4-FFF2-40B4-BE49-F238E27FC236}">
                <a16:creationId xmlns:a16="http://schemas.microsoft.com/office/drawing/2014/main" id="{E0357338-1151-E5AA-C115-E39A62D61C33}"/>
              </a:ext>
            </a:extLst>
          </p:cNvPr>
          <p:cNvSpPr txBox="1"/>
          <p:nvPr/>
        </p:nvSpPr>
        <p:spPr>
          <a:xfrm>
            <a:off x="5251570" y="5591415"/>
            <a:ext cx="1688860" cy="369332"/>
          </a:xfrm>
          <a:prstGeom prst="rect">
            <a:avLst/>
          </a:prstGeom>
          <a:noFill/>
        </p:spPr>
        <p:txBody>
          <a:bodyPr wrap="none" rtlCol="0">
            <a:spAutoFit/>
          </a:bodyPr>
          <a:lstStyle/>
          <a:p>
            <a:r>
              <a:rPr lang="en-US" dirty="0"/>
              <a:t>Color (Optional)</a:t>
            </a:r>
          </a:p>
        </p:txBody>
      </p:sp>
      <p:sp>
        <p:nvSpPr>
          <p:cNvPr id="16" name="TextBox 15">
            <a:extLst>
              <a:ext uri="{FF2B5EF4-FFF2-40B4-BE49-F238E27FC236}">
                <a16:creationId xmlns:a16="http://schemas.microsoft.com/office/drawing/2014/main" id="{57C79A17-310B-A308-E0ED-16E1E76F85BA}"/>
              </a:ext>
            </a:extLst>
          </p:cNvPr>
          <p:cNvSpPr txBox="1"/>
          <p:nvPr/>
        </p:nvSpPr>
        <p:spPr>
          <a:xfrm>
            <a:off x="8489303" y="5591415"/>
            <a:ext cx="2636171" cy="369332"/>
          </a:xfrm>
          <a:prstGeom prst="rect">
            <a:avLst/>
          </a:prstGeom>
          <a:noFill/>
        </p:spPr>
        <p:txBody>
          <a:bodyPr wrap="none" rtlCol="0">
            <a:spAutoFit/>
          </a:bodyPr>
          <a:lstStyle/>
          <a:p>
            <a:r>
              <a:rPr lang="en-US" dirty="0"/>
              <a:t>Normal Vectors (Optional)</a:t>
            </a:r>
          </a:p>
        </p:txBody>
      </p:sp>
      <p:sp>
        <p:nvSpPr>
          <p:cNvPr id="18" name="Rectangle 17">
            <a:extLst>
              <a:ext uri="{FF2B5EF4-FFF2-40B4-BE49-F238E27FC236}">
                <a16:creationId xmlns:a16="http://schemas.microsoft.com/office/drawing/2014/main" id="{CE930FDE-E9B5-E992-D02F-4BCF230447DE}"/>
              </a:ext>
            </a:extLst>
          </p:cNvPr>
          <p:cNvSpPr/>
          <p:nvPr/>
        </p:nvSpPr>
        <p:spPr>
          <a:xfrm>
            <a:off x="7839957" y="1133279"/>
            <a:ext cx="843832" cy="733280"/>
          </a:xfrm>
          <a:prstGeom prst="rect">
            <a:avLst/>
          </a:prstGeom>
          <a:noFill/>
          <a:ln w="28575">
            <a:solidFill>
              <a:srgbClr val="5A87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19EB870-C36E-C0E8-25B5-B910FCCDD043}"/>
              </a:ext>
            </a:extLst>
          </p:cNvPr>
          <p:cNvSpPr/>
          <p:nvPr/>
        </p:nvSpPr>
        <p:spPr>
          <a:xfrm>
            <a:off x="9673516" y="897253"/>
            <a:ext cx="331096" cy="261267"/>
          </a:xfrm>
          <a:prstGeom prst="rect">
            <a:avLst/>
          </a:prstGeom>
          <a:noFill/>
          <a:ln w="19050">
            <a:solidFill>
              <a:srgbClr val="5A87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E5E6D1C3-4469-B578-3003-1418EA3B801C}"/>
              </a:ext>
            </a:extLst>
          </p:cNvPr>
          <p:cNvCxnSpPr>
            <a:cxnSpLocks/>
          </p:cNvCxnSpPr>
          <p:nvPr/>
        </p:nvCxnSpPr>
        <p:spPr>
          <a:xfrm flipV="1">
            <a:off x="8683789" y="1167855"/>
            <a:ext cx="1320823" cy="6987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C7814BB-5A6F-6779-4051-8FA793C8F549}"/>
              </a:ext>
            </a:extLst>
          </p:cNvPr>
          <p:cNvCxnSpPr>
            <a:cxnSpLocks/>
          </p:cNvCxnSpPr>
          <p:nvPr/>
        </p:nvCxnSpPr>
        <p:spPr>
          <a:xfrm flipV="1">
            <a:off x="7839957" y="897253"/>
            <a:ext cx="1833559" cy="23119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6F6640FF-B148-9A28-4179-F95B2629C445}"/>
              </a:ext>
            </a:extLst>
          </p:cNvPr>
          <p:cNvSpPr/>
          <p:nvPr/>
        </p:nvSpPr>
        <p:spPr>
          <a:xfrm>
            <a:off x="8001000" y="129091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5CA6E511-807D-212B-7C5F-A8B7494BAC7D}"/>
              </a:ext>
            </a:extLst>
          </p:cNvPr>
          <p:cNvSpPr/>
          <p:nvPr/>
        </p:nvSpPr>
        <p:spPr>
          <a:xfrm>
            <a:off x="8153400" y="144331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6D8BC70-AA6D-D987-CF9B-1A01146E5F2A}"/>
              </a:ext>
            </a:extLst>
          </p:cNvPr>
          <p:cNvSpPr/>
          <p:nvPr/>
        </p:nvSpPr>
        <p:spPr>
          <a:xfrm>
            <a:off x="8305800" y="159571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CADC62E-CEC9-8DF1-A227-08CB32667ABC}"/>
              </a:ext>
            </a:extLst>
          </p:cNvPr>
          <p:cNvSpPr/>
          <p:nvPr/>
        </p:nvSpPr>
        <p:spPr>
          <a:xfrm>
            <a:off x="8458200" y="174811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FEF7CC1-4C7F-83F0-CC97-B1A811CAB604}"/>
              </a:ext>
            </a:extLst>
          </p:cNvPr>
          <p:cNvSpPr/>
          <p:nvPr/>
        </p:nvSpPr>
        <p:spPr>
          <a:xfrm>
            <a:off x="8449076" y="142045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0BF2D81-3BBC-F796-94D9-8A9AD59A4A2C}"/>
              </a:ext>
            </a:extLst>
          </p:cNvPr>
          <p:cNvSpPr/>
          <p:nvPr/>
        </p:nvSpPr>
        <p:spPr>
          <a:xfrm>
            <a:off x="8476127" y="1565912"/>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FB04A66-EFF4-1A38-09CE-971D0EE950F3}"/>
              </a:ext>
            </a:extLst>
          </p:cNvPr>
          <p:cNvSpPr/>
          <p:nvPr/>
        </p:nvSpPr>
        <p:spPr>
          <a:xfrm>
            <a:off x="8063626" y="1596166"/>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6E07989-8F8C-BCF9-D720-22933021EAD0}"/>
              </a:ext>
            </a:extLst>
          </p:cNvPr>
          <p:cNvSpPr/>
          <p:nvPr/>
        </p:nvSpPr>
        <p:spPr>
          <a:xfrm>
            <a:off x="8579960" y="1572858"/>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6AA6479-609C-984E-0432-3CB419355AB2}"/>
              </a:ext>
            </a:extLst>
          </p:cNvPr>
          <p:cNvSpPr/>
          <p:nvPr/>
        </p:nvSpPr>
        <p:spPr>
          <a:xfrm>
            <a:off x="8239013" y="1262111"/>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0EFAA70-5931-9E52-F74C-F0AC257C4C60}"/>
              </a:ext>
            </a:extLst>
          </p:cNvPr>
          <p:cNvSpPr/>
          <p:nvPr/>
        </p:nvSpPr>
        <p:spPr>
          <a:xfrm>
            <a:off x="8332759" y="1405929"/>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BD8A748-DE51-251B-C376-3E652A569C44}"/>
              </a:ext>
            </a:extLst>
          </p:cNvPr>
          <p:cNvSpPr/>
          <p:nvPr/>
        </p:nvSpPr>
        <p:spPr>
          <a:xfrm>
            <a:off x="8130540" y="1742696"/>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423D227-A300-D362-02AF-0A2664FAAA87}"/>
              </a:ext>
            </a:extLst>
          </p:cNvPr>
          <p:cNvSpPr/>
          <p:nvPr/>
        </p:nvSpPr>
        <p:spPr>
          <a:xfrm>
            <a:off x="7926371" y="1438566"/>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A9447828-7060-5F07-67BA-B941F97A8E66}"/>
              </a:ext>
            </a:extLst>
          </p:cNvPr>
          <p:cNvSpPr/>
          <p:nvPr/>
        </p:nvSpPr>
        <p:spPr>
          <a:xfrm>
            <a:off x="7926370" y="1670247"/>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33FA6D9-D8B4-EEE8-5500-71FC750AFCB9}"/>
              </a:ext>
            </a:extLst>
          </p:cNvPr>
          <p:cNvSpPr/>
          <p:nvPr/>
        </p:nvSpPr>
        <p:spPr>
          <a:xfrm>
            <a:off x="8441742" y="1260646"/>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4A040813-F387-3C8D-4C22-B0730BCC3105}"/>
              </a:ext>
            </a:extLst>
          </p:cNvPr>
          <p:cNvSpPr/>
          <p:nvPr/>
        </p:nvSpPr>
        <p:spPr>
          <a:xfrm>
            <a:off x="8305799" y="1755764"/>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4BE7719-BFB9-0A86-DA56-84F57CF23DB1}"/>
              </a:ext>
            </a:extLst>
          </p:cNvPr>
          <p:cNvSpPr/>
          <p:nvPr/>
        </p:nvSpPr>
        <p:spPr>
          <a:xfrm>
            <a:off x="8560236" y="1325653"/>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A552499-17D3-F7C9-1249-27F60939EFFE}"/>
              </a:ext>
            </a:extLst>
          </p:cNvPr>
          <p:cNvSpPr/>
          <p:nvPr/>
        </p:nvSpPr>
        <p:spPr>
          <a:xfrm>
            <a:off x="8109345" y="1206584"/>
            <a:ext cx="45719"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367AF897-3591-D6A5-E39C-1206B5956DE8}"/>
              </a:ext>
            </a:extLst>
          </p:cNvPr>
          <p:cNvCxnSpPr>
            <a:cxnSpLocks/>
            <a:stCxn id="54" idx="2"/>
          </p:cNvCxnSpPr>
          <p:nvPr/>
        </p:nvCxnSpPr>
        <p:spPr>
          <a:xfrm flipH="1">
            <a:off x="7189904" y="1715966"/>
            <a:ext cx="759326" cy="2800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1F17804-22D3-3CF8-6335-A6360BAA4449}"/>
              </a:ext>
            </a:extLst>
          </p:cNvPr>
          <p:cNvSpPr txBox="1"/>
          <p:nvPr/>
        </p:nvSpPr>
        <p:spPr>
          <a:xfrm>
            <a:off x="5791614" y="1891511"/>
            <a:ext cx="1515646" cy="369332"/>
          </a:xfrm>
          <a:prstGeom prst="rect">
            <a:avLst/>
          </a:prstGeom>
          <a:noFill/>
          <a:ln>
            <a:noFill/>
          </a:ln>
        </p:spPr>
        <p:txBody>
          <a:bodyPr wrap="square" rtlCol="0">
            <a:spAutoFit/>
          </a:bodyPr>
          <a:lstStyle/>
          <a:p>
            <a:r>
              <a:rPr lang="en-US" dirty="0"/>
              <a:t>(100,150,100)</a:t>
            </a:r>
          </a:p>
        </p:txBody>
      </p:sp>
    </p:spTree>
    <p:extLst>
      <p:ext uri="{BB962C8B-B14F-4D97-AF65-F5344CB8AC3E}">
        <p14:creationId xmlns:p14="http://schemas.microsoft.com/office/powerpoint/2010/main" val="4277809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505E8-1D41-2C34-7F36-ED8AD64580D6}"/>
              </a:ext>
            </a:extLst>
          </p:cNvPr>
          <p:cNvSpPr>
            <a:spLocks noGrp="1"/>
          </p:cNvSpPr>
          <p:nvPr>
            <p:ph type="title"/>
          </p:nvPr>
        </p:nvSpPr>
        <p:spPr>
          <a:xfrm>
            <a:off x="838200" y="178094"/>
            <a:ext cx="10515600" cy="1325563"/>
          </a:xfrm>
        </p:spPr>
        <p:txBody>
          <a:bodyPr>
            <a:normAutofit/>
          </a:bodyPr>
          <a:lstStyle/>
          <a:p>
            <a:r>
              <a:rPr lang="en-US" sz="4000" dirty="0">
                <a:latin typeface="游ゴシック (Body)"/>
              </a:rPr>
              <a:t>Research Background</a:t>
            </a:r>
          </a:p>
        </p:txBody>
      </p:sp>
      <p:sp>
        <p:nvSpPr>
          <p:cNvPr id="3" name="Content Placeholder 2">
            <a:extLst>
              <a:ext uri="{FF2B5EF4-FFF2-40B4-BE49-F238E27FC236}">
                <a16:creationId xmlns:a16="http://schemas.microsoft.com/office/drawing/2014/main" id="{841F3135-483D-FDF2-C237-0B61D58F2091}"/>
              </a:ext>
            </a:extLst>
          </p:cNvPr>
          <p:cNvSpPr>
            <a:spLocks noGrp="1"/>
          </p:cNvSpPr>
          <p:nvPr>
            <p:ph idx="1"/>
          </p:nvPr>
        </p:nvSpPr>
        <p:spPr/>
        <p:txBody>
          <a:bodyPr/>
          <a:lstStyle/>
          <a:p>
            <a:pPr>
              <a:lnSpc>
                <a:spcPct val="150000"/>
              </a:lnSpc>
            </a:pPr>
            <a:r>
              <a:rPr kumimoji="1" lang="en-US" sz="1400" dirty="0"/>
              <a:t>A mathematical representation of 3D structures based on the relative positions of feature points.</a:t>
            </a:r>
          </a:p>
          <a:p>
            <a:pPr lvl="1">
              <a:lnSpc>
                <a:spcPct val="150000"/>
              </a:lnSpc>
            </a:pPr>
            <a:r>
              <a:rPr lang="en-US" sz="1200" dirty="0"/>
              <a:t>Used for task such as object recognition, motion analysis, and biometric authentication.</a:t>
            </a:r>
          </a:p>
          <a:p>
            <a:pPr lvl="1">
              <a:lnSpc>
                <a:spcPct val="150000"/>
              </a:lnSpc>
            </a:pPr>
            <a:r>
              <a:rPr lang="en-US" sz="1200" dirty="0"/>
              <a:t>Representing high-dimensional data efficiently.</a:t>
            </a:r>
            <a:endParaRPr lang="en-US" dirty="0"/>
          </a:p>
          <a:p>
            <a:endParaRPr lang="en-US" dirty="0"/>
          </a:p>
        </p:txBody>
      </p:sp>
      <p:sp>
        <p:nvSpPr>
          <p:cNvPr id="4" name="Slide Number Placeholder 3">
            <a:extLst>
              <a:ext uri="{FF2B5EF4-FFF2-40B4-BE49-F238E27FC236}">
                <a16:creationId xmlns:a16="http://schemas.microsoft.com/office/drawing/2014/main" id="{11BC527C-E336-E0C1-235C-BD7280AF9B75}"/>
              </a:ext>
            </a:extLst>
          </p:cNvPr>
          <p:cNvSpPr>
            <a:spLocks noGrp="1"/>
          </p:cNvSpPr>
          <p:nvPr>
            <p:ph type="sldNum" sz="quarter" idx="12"/>
          </p:nvPr>
        </p:nvSpPr>
        <p:spPr/>
        <p:txBody>
          <a:bodyPr/>
          <a:lstStyle/>
          <a:p>
            <a:fld id="{DADAC235-C9E6-487D-8BF0-E0D19F810E81}" type="slidenum">
              <a:rPr lang="en-US" smtClean="0"/>
              <a:t>5</a:t>
            </a:fld>
            <a:endParaRPr lang="en-US"/>
          </a:p>
        </p:txBody>
      </p:sp>
      <p:sp>
        <p:nvSpPr>
          <p:cNvPr id="5" name="TextBox 4">
            <a:extLst>
              <a:ext uri="{FF2B5EF4-FFF2-40B4-BE49-F238E27FC236}">
                <a16:creationId xmlns:a16="http://schemas.microsoft.com/office/drawing/2014/main" id="{C2B9CB63-91A0-2B7D-66CE-FEA951244802}"/>
              </a:ext>
            </a:extLst>
          </p:cNvPr>
          <p:cNvSpPr txBox="1"/>
          <p:nvPr/>
        </p:nvSpPr>
        <p:spPr>
          <a:xfrm>
            <a:off x="838200" y="1244806"/>
            <a:ext cx="3808207" cy="523220"/>
          </a:xfrm>
          <a:prstGeom prst="rect">
            <a:avLst/>
          </a:prstGeom>
          <a:noFill/>
        </p:spPr>
        <p:txBody>
          <a:bodyPr wrap="square" rtlCol="0">
            <a:spAutoFit/>
          </a:bodyPr>
          <a:lstStyle/>
          <a:p>
            <a:r>
              <a:rPr lang="en-US" sz="2800" dirty="0">
                <a:latin typeface="游ゴシック (Body)"/>
              </a:rPr>
              <a:t>Shape Subspace</a:t>
            </a:r>
          </a:p>
        </p:txBody>
      </p:sp>
      <p:pic>
        <p:nvPicPr>
          <p:cNvPr id="6" name="Picture 5">
            <a:extLst>
              <a:ext uri="{FF2B5EF4-FFF2-40B4-BE49-F238E27FC236}">
                <a16:creationId xmlns:a16="http://schemas.microsoft.com/office/drawing/2014/main" id="{C7252AC8-566A-0FC3-E658-FA53513D64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6632" y="3533680"/>
            <a:ext cx="2968960" cy="1293905"/>
          </a:xfrm>
          <a:prstGeom prst="rect">
            <a:avLst/>
          </a:prstGeom>
        </p:spPr>
      </p:pic>
      <p:grpSp>
        <p:nvGrpSpPr>
          <p:cNvPr id="7" name="Group 6">
            <a:extLst>
              <a:ext uri="{FF2B5EF4-FFF2-40B4-BE49-F238E27FC236}">
                <a16:creationId xmlns:a16="http://schemas.microsoft.com/office/drawing/2014/main" id="{F5AF2B25-DBCE-E95C-7104-EF30480D632E}"/>
              </a:ext>
            </a:extLst>
          </p:cNvPr>
          <p:cNvGrpSpPr/>
          <p:nvPr/>
        </p:nvGrpSpPr>
        <p:grpSpPr>
          <a:xfrm>
            <a:off x="8868259" y="3429000"/>
            <a:ext cx="937325" cy="1671301"/>
            <a:chOff x="7402833" y="1279780"/>
            <a:chExt cx="750536" cy="1509539"/>
          </a:xfrm>
        </p:grpSpPr>
        <p:sp>
          <p:nvSpPr>
            <p:cNvPr id="8" name="Isosceles Triangle 7">
              <a:extLst>
                <a:ext uri="{FF2B5EF4-FFF2-40B4-BE49-F238E27FC236}">
                  <a16:creationId xmlns:a16="http://schemas.microsoft.com/office/drawing/2014/main" id="{171C5C0E-7825-45A8-8525-C5DB773F7EEA}"/>
                </a:ext>
              </a:extLst>
            </p:cNvPr>
            <p:cNvSpPr/>
            <p:nvPr/>
          </p:nvSpPr>
          <p:spPr>
            <a:xfrm rot="10800000">
              <a:off x="7402833" y="1483576"/>
              <a:ext cx="750536" cy="1293905"/>
            </a:xfrm>
            <a:prstGeom prst="triangle">
              <a:avLst/>
            </a:prstGeom>
            <a:solidFill>
              <a:srgbClr val="9BC3F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7A8DA96-82B8-E3D3-EB3B-2305BB864CC2}"/>
                </a:ext>
              </a:extLst>
            </p:cNvPr>
            <p:cNvSpPr/>
            <p:nvPr/>
          </p:nvSpPr>
          <p:spPr>
            <a:xfrm>
              <a:off x="7402833" y="1279780"/>
              <a:ext cx="750536" cy="411038"/>
            </a:xfrm>
            <a:prstGeom prst="ellipse">
              <a:avLst/>
            </a:prstGeom>
            <a:solidFill>
              <a:srgbClr val="5A7FE7"/>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8ED96C4-0170-5D13-9FCB-00280F5BD25D}"/>
                </a:ext>
              </a:extLst>
            </p:cNvPr>
            <p:cNvCxnSpPr>
              <a:cxnSpLocks/>
              <a:stCxn id="8" idx="0"/>
              <a:endCxn id="9" idx="5"/>
            </p:cNvCxnSpPr>
            <p:nvPr/>
          </p:nvCxnSpPr>
          <p:spPr>
            <a:xfrm flipV="1">
              <a:off x="7778101" y="1630623"/>
              <a:ext cx="265355" cy="1146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1ACEF20-7359-B646-5CEB-0FAC02C3BD3B}"/>
                </a:ext>
              </a:extLst>
            </p:cNvPr>
            <p:cNvCxnSpPr>
              <a:cxnSpLocks/>
              <a:endCxn id="9" idx="4"/>
            </p:cNvCxnSpPr>
            <p:nvPr/>
          </p:nvCxnSpPr>
          <p:spPr>
            <a:xfrm flipV="1">
              <a:off x="7772526" y="1690818"/>
              <a:ext cx="5575" cy="10985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DD6E7D1E-AF23-83C2-2666-A0BFADA96451}"/>
                </a:ext>
              </a:extLst>
            </p:cNvPr>
            <p:cNvCxnSpPr>
              <a:cxnSpLocks/>
              <a:stCxn id="8" idx="0"/>
              <a:endCxn id="9" idx="3"/>
            </p:cNvCxnSpPr>
            <p:nvPr/>
          </p:nvCxnSpPr>
          <p:spPr>
            <a:xfrm flipH="1" flipV="1">
              <a:off x="7512746" y="1630623"/>
              <a:ext cx="265355" cy="1146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FECB0CFF-FF3C-58E6-948A-8C0CAC94B767}"/>
              </a:ext>
            </a:extLst>
          </p:cNvPr>
          <p:cNvSpPr txBox="1"/>
          <p:nvPr/>
        </p:nvSpPr>
        <p:spPr>
          <a:xfrm>
            <a:off x="5820714" y="4734093"/>
            <a:ext cx="1149008" cy="261610"/>
          </a:xfrm>
          <a:prstGeom prst="rect">
            <a:avLst/>
          </a:prstGeom>
          <a:noFill/>
        </p:spPr>
        <p:txBody>
          <a:bodyPr wrap="square" rtlCol="0">
            <a:spAutoFit/>
          </a:bodyPr>
          <a:lstStyle/>
          <a:p>
            <a:r>
              <a:rPr lang="en-US" sz="1100" dirty="0"/>
              <a:t>Centered matrix</a:t>
            </a:r>
          </a:p>
        </p:txBody>
      </p:sp>
      <p:sp>
        <p:nvSpPr>
          <p:cNvPr id="16" name="Arrow: Right 15">
            <a:extLst>
              <a:ext uri="{FF2B5EF4-FFF2-40B4-BE49-F238E27FC236}">
                <a16:creationId xmlns:a16="http://schemas.microsoft.com/office/drawing/2014/main" id="{DC794A40-7615-51AB-008F-A37B37ABF351}"/>
              </a:ext>
            </a:extLst>
          </p:cNvPr>
          <p:cNvSpPr/>
          <p:nvPr/>
        </p:nvSpPr>
        <p:spPr>
          <a:xfrm>
            <a:off x="7944255" y="3946382"/>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6A86569-C3E6-DC1D-DBCC-502F7D11552D}"/>
              </a:ext>
            </a:extLst>
          </p:cNvPr>
          <p:cNvSpPr txBox="1"/>
          <p:nvPr/>
        </p:nvSpPr>
        <p:spPr>
          <a:xfrm>
            <a:off x="7823641" y="4472483"/>
            <a:ext cx="920326" cy="261610"/>
          </a:xfrm>
          <a:prstGeom prst="rect">
            <a:avLst/>
          </a:prstGeom>
          <a:noFill/>
        </p:spPr>
        <p:txBody>
          <a:bodyPr wrap="square" rtlCol="0">
            <a:spAutoFit/>
          </a:bodyPr>
          <a:lstStyle/>
          <a:p>
            <a:r>
              <a:rPr lang="en-US" sz="1100" dirty="0"/>
              <a:t>Apply SVD</a:t>
            </a:r>
          </a:p>
        </p:txBody>
      </p:sp>
      <p:sp>
        <p:nvSpPr>
          <p:cNvPr id="18" name="Arrow: Right 17">
            <a:extLst>
              <a:ext uri="{FF2B5EF4-FFF2-40B4-BE49-F238E27FC236}">
                <a16:creationId xmlns:a16="http://schemas.microsoft.com/office/drawing/2014/main" id="{71F75AD1-0BED-7FE5-E1BC-4392BA8AC4D5}"/>
              </a:ext>
            </a:extLst>
          </p:cNvPr>
          <p:cNvSpPr/>
          <p:nvPr/>
        </p:nvSpPr>
        <p:spPr>
          <a:xfrm>
            <a:off x="3902762" y="3946382"/>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C21A842-ABDC-F3D4-33D8-CB63ADBEC808}"/>
              </a:ext>
            </a:extLst>
          </p:cNvPr>
          <p:cNvSpPr txBox="1"/>
          <p:nvPr/>
        </p:nvSpPr>
        <p:spPr>
          <a:xfrm>
            <a:off x="3813197" y="4414884"/>
            <a:ext cx="773787" cy="261610"/>
          </a:xfrm>
          <a:prstGeom prst="rect">
            <a:avLst/>
          </a:prstGeom>
          <a:noFill/>
        </p:spPr>
        <p:txBody>
          <a:bodyPr wrap="square" rtlCol="0">
            <a:spAutoFit/>
          </a:bodyPr>
          <a:lstStyle/>
          <a:p>
            <a:r>
              <a:rPr lang="en-US" sz="1100" dirty="0"/>
              <a:t>centering</a:t>
            </a:r>
          </a:p>
        </p:txBody>
      </p:sp>
      <p:sp>
        <p:nvSpPr>
          <p:cNvPr id="21" name="TextBox 20">
            <a:extLst>
              <a:ext uri="{FF2B5EF4-FFF2-40B4-BE49-F238E27FC236}">
                <a16:creationId xmlns:a16="http://schemas.microsoft.com/office/drawing/2014/main" id="{7DBD60DC-DAA3-0ED2-D66C-9414889DBE78}"/>
              </a:ext>
            </a:extLst>
          </p:cNvPr>
          <p:cNvSpPr txBox="1"/>
          <p:nvPr/>
        </p:nvSpPr>
        <p:spPr>
          <a:xfrm>
            <a:off x="1934032" y="4924153"/>
            <a:ext cx="1179300" cy="261610"/>
          </a:xfrm>
          <a:prstGeom prst="rect">
            <a:avLst/>
          </a:prstGeom>
          <a:noFill/>
        </p:spPr>
        <p:txBody>
          <a:bodyPr wrap="square" rtlCol="0">
            <a:spAutoFit/>
          </a:bodyPr>
          <a:lstStyle/>
          <a:p>
            <a:r>
              <a:rPr lang="en-US" sz="1100" dirty="0"/>
              <a:t>Input point cloud</a:t>
            </a:r>
          </a:p>
        </p:txBody>
      </p:sp>
      <p:sp>
        <p:nvSpPr>
          <p:cNvPr id="22" name="TextBox 21">
            <a:extLst>
              <a:ext uri="{FF2B5EF4-FFF2-40B4-BE49-F238E27FC236}">
                <a16:creationId xmlns:a16="http://schemas.microsoft.com/office/drawing/2014/main" id="{FBE4EB2F-DD90-07D5-84C7-70C13DF44A0F}"/>
              </a:ext>
            </a:extLst>
          </p:cNvPr>
          <p:cNvSpPr txBox="1"/>
          <p:nvPr/>
        </p:nvSpPr>
        <p:spPr>
          <a:xfrm>
            <a:off x="8792365" y="5166947"/>
            <a:ext cx="1183212" cy="261610"/>
          </a:xfrm>
          <a:prstGeom prst="rect">
            <a:avLst/>
          </a:prstGeom>
          <a:noFill/>
        </p:spPr>
        <p:txBody>
          <a:bodyPr wrap="square" rtlCol="0">
            <a:spAutoFit/>
          </a:bodyPr>
          <a:lstStyle/>
          <a:p>
            <a:r>
              <a:rPr lang="en-US" sz="1100" dirty="0"/>
              <a:t>Shape Subspace</a:t>
            </a:r>
          </a:p>
        </p:txBody>
      </p:sp>
      <p:grpSp>
        <p:nvGrpSpPr>
          <p:cNvPr id="53" name="Group 52">
            <a:extLst>
              <a:ext uri="{FF2B5EF4-FFF2-40B4-BE49-F238E27FC236}">
                <a16:creationId xmlns:a16="http://schemas.microsoft.com/office/drawing/2014/main" id="{ACFDAA49-C081-4AD2-D055-79E64E079BD6}"/>
              </a:ext>
            </a:extLst>
          </p:cNvPr>
          <p:cNvGrpSpPr/>
          <p:nvPr/>
        </p:nvGrpSpPr>
        <p:grpSpPr>
          <a:xfrm>
            <a:off x="1691793" y="3411500"/>
            <a:ext cx="1663779" cy="1411737"/>
            <a:chOff x="1691793" y="3411500"/>
            <a:chExt cx="1663779" cy="1411737"/>
          </a:xfrm>
        </p:grpSpPr>
        <p:sp>
          <p:nvSpPr>
            <p:cNvPr id="10" name="Oval 9">
              <a:extLst>
                <a:ext uri="{FF2B5EF4-FFF2-40B4-BE49-F238E27FC236}">
                  <a16:creationId xmlns:a16="http://schemas.microsoft.com/office/drawing/2014/main" id="{91A30C08-BE60-1D92-7B17-79A30E03D84D}"/>
                </a:ext>
              </a:extLst>
            </p:cNvPr>
            <p:cNvSpPr/>
            <p:nvPr/>
          </p:nvSpPr>
          <p:spPr>
            <a:xfrm rot="21397765">
              <a:off x="2742303" y="402155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5CAF62E-64F9-978F-CF51-7E295A542C98}"/>
                </a:ext>
              </a:extLst>
            </p:cNvPr>
            <p:cNvSpPr/>
            <p:nvPr/>
          </p:nvSpPr>
          <p:spPr>
            <a:xfrm rot="21397765">
              <a:off x="3018990" y="4167068"/>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CF9F382-FA8E-5EB0-6A02-2A1ACE7C17FA}"/>
                </a:ext>
              </a:extLst>
            </p:cNvPr>
            <p:cNvSpPr/>
            <p:nvPr/>
          </p:nvSpPr>
          <p:spPr>
            <a:xfrm rot="21397765">
              <a:off x="2668417" y="4521560"/>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FEBBA36-BC9E-F50C-D020-A5970C711CC6}"/>
                </a:ext>
              </a:extLst>
            </p:cNvPr>
            <p:cNvSpPr/>
            <p:nvPr/>
          </p:nvSpPr>
          <p:spPr>
            <a:xfrm rot="21397765">
              <a:off x="2723291" y="4288782"/>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D19A520-C51A-8921-3C95-CB60EC8F5B0B}"/>
                </a:ext>
              </a:extLst>
            </p:cNvPr>
            <p:cNvSpPr/>
            <p:nvPr/>
          </p:nvSpPr>
          <p:spPr>
            <a:xfrm rot="21397765">
              <a:off x="2965346" y="3556421"/>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8E593DF-BA4A-0D19-1486-2926234C15B1}"/>
                </a:ext>
              </a:extLst>
            </p:cNvPr>
            <p:cNvSpPr/>
            <p:nvPr/>
          </p:nvSpPr>
          <p:spPr>
            <a:xfrm rot="21397765">
              <a:off x="3008597" y="459837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7A9F3FE-DA2A-5BCF-031B-F04C6AC6FC20}"/>
                </a:ext>
              </a:extLst>
            </p:cNvPr>
            <p:cNvSpPr/>
            <p:nvPr/>
          </p:nvSpPr>
          <p:spPr>
            <a:xfrm rot="21397765">
              <a:off x="2617689" y="3536506"/>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4945200-64B6-0B02-3F4F-DFD4ECF4B3E2}"/>
                </a:ext>
              </a:extLst>
            </p:cNvPr>
            <p:cNvSpPr/>
            <p:nvPr/>
          </p:nvSpPr>
          <p:spPr>
            <a:xfrm rot="21397765">
              <a:off x="3015069" y="386174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0AAE05F-9588-FC8A-D641-8CCF73D57438}"/>
                </a:ext>
              </a:extLst>
            </p:cNvPr>
            <p:cNvSpPr/>
            <p:nvPr/>
          </p:nvSpPr>
          <p:spPr>
            <a:xfrm>
              <a:off x="1691793" y="3411500"/>
              <a:ext cx="1663779" cy="141173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8875EFC-FF7D-FC43-B7B8-469DFA99BCFF}"/>
                </a:ext>
              </a:extLst>
            </p:cNvPr>
            <p:cNvSpPr/>
            <p:nvPr/>
          </p:nvSpPr>
          <p:spPr>
            <a:xfrm rot="21397765">
              <a:off x="2692061" y="3781242"/>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4F8E63A-DC57-B1DA-B7B1-D7D14EC22009}"/>
                </a:ext>
              </a:extLst>
            </p:cNvPr>
            <p:cNvSpPr/>
            <p:nvPr/>
          </p:nvSpPr>
          <p:spPr>
            <a:xfrm rot="21397765">
              <a:off x="2996312" y="438314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B91E05C-4E73-7E0D-B638-722AFE6C9DA0}"/>
                </a:ext>
              </a:extLst>
            </p:cNvPr>
            <p:cNvSpPr/>
            <p:nvPr/>
          </p:nvSpPr>
          <p:spPr>
            <a:xfrm>
              <a:off x="2118928" y="402366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2158AA5-BE21-38D3-38FA-D93DD416E2D9}"/>
                </a:ext>
              </a:extLst>
            </p:cNvPr>
            <p:cNvSpPr/>
            <p:nvPr/>
          </p:nvSpPr>
          <p:spPr>
            <a:xfrm>
              <a:off x="2395615" y="4169181"/>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89160A1-2F6A-5A6C-7B1B-A96D685DB497}"/>
                </a:ext>
              </a:extLst>
            </p:cNvPr>
            <p:cNvSpPr/>
            <p:nvPr/>
          </p:nvSpPr>
          <p:spPr>
            <a:xfrm>
              <a:off x="2045042" y="4523673"/>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A7EFBA5-668F-D2B1-5959-C9FFDE92F818}"/>
                </a:ext>
              </a:extLst>
            </p:cNvPr>
            <p:cNvSpPr/>
            <p:nvPr/>
          </p:nvSpPr>
          <p:spPr>
            <a:xfrm>
              <a:off x="2099916" y="4290895"/>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EAA32D6-C3CD-039D-B44B-9DBEA4B37F41}"/>
                </a:ext>
              </a:extLst>
            </p:cNvPr>
            <p:cNvSpPr/>
            <p:nvPr/>
          </p:nvSpPr>
          <p:spPr>
            <a:xfrm>
              <a:off x="2341971" y="355853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628039B1-4B8C-FE14-9188-C071144B0516}"/>
                </a:ext>
              </a:extLst>
            </p:cNvPr>
            <p:cNvSpPr/>
            <p:nvPr/>
          </p:nvSpPr>
          <p:spPr>
            <a:xfrm>
              <a:off x="2385222" y="460048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DD9E127-E0CC-1D0E-04DF-F59A0CA28824}"/>
                </a:ext>
              </a:extLst>
            </p:cNvPr>
            <p:cNvSpPr/>
            <p:nvPr/>
          </p:nvSpPr>
          <p:spPr>
            <a:xfrm>
              <a:off x="1994314" y="3538619"/>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949796B-1E15-0531-6FCF-5E483B136860}"/>
                </a:ext>
              </a:extLst>
            </p:cNvPr>
            <p:cNvSpPr/>
            <p:nvPr/>
          </p:nvSpPr>
          <p:spPr>
            <a:xfrm>
              <a:off x="2391694" y="386385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854EA2-7504-38F7-0C00-2B83B78A425F}"/>
                </a:ext>
              </a:extLst>
            </p:cNvPr>
            <p:cNvSpPr/>
            <p:nvPr/>
          </p:nvSpPr>
          <p:spPr>
            <a:xfrm>
              <a:off x="2068686" y="3783355"/>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5E14A90-F29B-4CD9-52EE-2904C1C78923}"/>
                </a:ext>
              </a:extLst>
            </p:cNvPr>
            <p:cNvSpPr/>
            <p:nvPr/>
          </p:nvSpPr>
          <p:spPr>
            <a:xfrm>
              <a:off x="2372937" y="438525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5894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AD34C-B0C9-F951-05B3-3461E0053649}"/>
              </a:ext>
            </a:extLst>
          </p:cNvPr>
          <p:cNvSpPr>
            <a:spLocks noGrp="1"/>
          </p:cNvSpPr>
          <p:nvPr>
            <p:ph type="title"/>
          </p:nvPr>
        </p:nvSpPr>
        <p:spPr>
          <a:xfrm>
            <a:off x="653143" y="56041"/>
            <a:ext cx="10515600" cy="1325563"/>
          </a:xfrm>
        </p:spPr>
        <p:txBody>
          <a:bodyPr>
            <a:normAutofit/>
          </a:bodyPr>
          <a:lstStyle/>
          <a:p>
            <a:r>
              <a:rPr lang="en-US" sz="4000" dirty="0">
                <a:latin typeface="游ゴシック (Body)"/>
              </a:rPr>
              <a:t>Related Research</a:t>
            </a:r>
          </a:p>
        </p:txBody>
      </p:sp>
      <p:sp>
        <p:nvSpPr>
          <p:cNvPr id="3" name="Content Placeholder 2">
            <a:extLst>
              <a:ext uri="{FF2B5EF4-FFF2-40B4-BE49-F238E27FC236}">
                <a16:creationId xmlns:a16="http://schemas.microsoft.com/office/drawing/2014/main" id="{D9298B99-81ED-FCB5-2472-231BD9438F80}"/>
              </a:ext>
            </a:extLst>
          </p:cNvPr>
          <p:cNvSpPr>
            <a:spLocks noGrp="1"/>
          </p:cNvSpPr>
          <p:nvPr>
            <p:ph idx="1"/>
          </p:nvPr>
        </p:nvSpPr>
        <p:spPr/>
        <p:txBody>
          <a:bodyPr>
            <a:normAutofit/>
          </a:bodyPr>
          <a:lstStyle/>
          <a:p>
            <a:pPr marL="457200" lvl="1" indent="0">
              <a:buNone/>
            </a:pPr>
            <a:r>
              <a:rPr kumimoji="1" lang="en-US" sz="2000" b="1" u="sng" dirty="0"/>
              <a:t>Factorization Approach</a:t>
            </a:r>
            <a:endParaRPr kumimoji="1" lang="en-US" sz="2000" u="sng" dirty="0"/>
          </a:p>
          <a:p>
            <a:pPr marL="457200" lvl="1" indent="0">
              <a:buNone/>
            </a:pPr>
            <a:endParaRPr kumimoji="1" lang="en-US" sz="2000" dirty="0"/>
          </a:p>
        </p:txBody>
      </p:sp>
      <p:sp>
        <p:nvSpPr>
          <p:cNvPr id="4" name="Slide Number Placeholder 3">
            <a:extLst>
              <a:ext uri="{FF2B5EF4-FFF2-40B4-BE49-F238E27FC236}">
                <a16:creationId xmlns:a16="http://schemas.microsoft.com/office/drawing/2014/main" id="{5771C133-F29E-0256-A987-F3DA127C837C}"/>
              </a:ext>
            </a:extLst>
          </p:cNvPr>
          <p:cNvSpPr>
            <a:spLocks noGrp="1"/>
          </p:cNvSpPr>
          <p:nvPr>
            <p:ph type="sldNum" sz="quarter" idx="12"/>
          </p:nvPr>
        </p:nvSpPr>
        <p:spPr/>
        <p:txBody>
          <a:bodyPr/>
          <a:lstStyle/>
          <a:p>
            <a:fld id="{DADAC235-C9E6-487D-8BF0-E0D19F810E81}" type="slidenum">
              <a:rPr lang="en-US" smtClean="0"/>
              <a:t>6</a:t>
            </a:fld>
            <a:endParaRPr lang="en-US"/>
          </a:p>
        </p:txBody>
      </p:sp>
      <p:sp>
        <p:nvSpPr>
          <p:cNvPr id="5" name="TextBox 4">
            <a:extLst>
              <a:ext uri="{FF2B5EF4-FFF2-40B4-BE49-F238E27FC236}">
                <a16:creationId xmlns:a16="http://schemas.microsoft.com/office/drawing/2014/main" id="{104E7ED7-457A-7964-4874-C413C4544142}"/>
              </a:ext>
            </a:extLst>
          </p:cNvPr>
          <p:cNvSpPr txBox="1"/>
          <p:nvPr/>
        </p:nvSpPr>
        <p:spPr>
          <a:xfrm>
            <a:off x="653143" y="1119994"/>
            <a:ext cx="6291943" cy="523220"/>
          </a:xfrm>
          <a:prstGeom prst="rect">
            <a:avLst/>
          </a:prstGeom>
          <a:noFill/>
        </p:spPr>
        <p:txBody>
          <a:bodyPr wrap="square" rtlCol="0">
            <a:spAutoFit/>
          </a:bodyPr>
          <a:lstStyle/>
          <a:p>
            <a:r>
              <a:rPr lang="en-US" sz="2800" dirty="0">
                <a:latin typeface="游ゴシック (Body)"/>
              </a:rPr>
              <a:t>How is Shape Subspace computed?</a:t>
            </a:r>
          </a:p>
        </p:txBody>
      </p:sp>
      <p:pic>
        <p:nvPicPr>
          <p:cNvPr id="7" name="Picture 6">
            <a:extLst>
              <a:ext uri="{FF2B5EF4-FFF2-40B4-BE49-F238E27FC236}">
                <a16:creationId xmlns:a16="http://schemas.microsoft.com/office/drawing/2014/main" id="{24ECA2A2-BC1F-1A7B-E6FD-6A874141D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250" y="2984503"/>
            <a:ext cx="7635934" cy="2243548"/>
          </a:xfrm>
          <a:prstGeom prst="rect">
            <a:avLst/>
          </a:prstGeom>
        </p:spPr>
      </p:pic>
      <p:sp>
        <p:nvSpPr>
          <p:cNvPr id="8" name="TextBox 7">
            <a:extLst>
              <a:ext uri="{FF2B5EF4-FFF2-40B4-BE49-F238E27FC236}">
                <a16:creationId xmlns:a16="http://schemas.microsoft.com/office/drawing/2014/main" id="{373966A7-654C-5DC3-727F-1BA4B807BE63}"/>
              </a:ext>
            </a:extLst>
          </p:cNvPr>
          <p:cNvSpPr txBox="1"/>
          <p:nvPr/>
        </p:nvSpPr>
        <p:spPr>
          <a:xfrm>
            <a:off x="2497559" y="5476396"/>
            <a:ext cx="6433457" cy="523220"/>
          </a:xfrm>
          <a:prstGeom prst="rect">
            <a:avLst/>
          </a:prstGeom>
          <a:noFill/>
        </p:spPr>
        <p:txBody>
          <a:bodyPr wrap="square" rtlCol="0">
            <a:spAutoFit/>
          </a:bodyPr>
          <a:lstStyle/>
          <a:p>
            <a:r>
              <a:rPr lang="en-US" sz="1400" i="1" dirty="0"/>
              <a:t>Figure adapted from Igarashi and Fukui, "3D Object Recognition Based on Canonical Angles between Shape Subspaces" </a:t>
            </a:r>
          </a:p>
        </p:txBody>
      </p:sp>
      <p:sp>
        <p:nvSpPr>
          <p:cNvPr id="9" name="TextBox 8">
            <a:extLst>
              <a:ext uri="{FF2B5EF4-FFF2-40B4-BE49-F238E27FC236}">
                <a16:creationId xmlns:a16="http://schemas.microsoft.com/office/drawing/2014/main" id="{B3B0687C-B497-C11C-7E2F-458703ECC690}"/>
              </a:ext>
            </a:extLst>
          </p:cNvPr>
          <p:cNvSpPr txBox="1"/>
          <p:nvPr/>
        </p:nvSpPr>
        <p:spPr>
          <a:xfrm>
            <a:off x="653143" y="2909480"/>
            <a:ext cx="3091543" cy="369332"/>
          </a:xfrm>
          <a:prstGeom prst="rect">
            <a:avLst/>
          </a:prstGeom>
          <a:noFill/>
        </p:spPr>
        <p:txBody>
          <a:bodyPr wrap="square" rtlCol="0">
            <a:spAutoFit/>
          </a:bodyPr>
          <a:lstStyle/>
          <a:p>
            <a:r>
              <a:rPr lang="en-US" dirty="0"/>
              <a:t>Frames of an Image sequence</a:t>
            </a:r>
          </a:p>
        </p:txBody>
      </p:sp>
      <p:sp>
        <p:nvSpPr>
          <p:cNvPr id="10" name="TextBox 9">
            <a:extLst>
              <a:ext uri="{FF2B5EF4-FFF2-40B4-BE49-F238E27FC236}">
                <a16:creationId xmlns:a16="http://schemas.microsoft.com/office/drawing/2014/main" id="{CFC6AA12-94B2-CDA1-D4D0-FBCB26F0091E}"/>
              </a:ext>
            </a:extLst>
          </p:cNvPr>
          <p:cNvSpPr txBox="1"/>
          <p:nvPr/>
        </p:nvSpPr>
        <p:spPr>
          <a:xfrm>
            <a:off x="7531106" y="2886287"/>
            <a:ext cx="3091543" cy="369332"/>
          </a:xfrm>
          <a:prstGeom prst="rect">
            <a:avLst/>
          </a:prstGeom>
          <a:noFill/>
        </p:spPr>
        <p:txBody>
          <a:bodyPr wrap="square" rtlCol="0">
            <a:spAutoFit/>
          </a:bodyPr>
          <a:lstStyle/>
          <a:p>
            <a:r>
              <a:rPr lang="en-US" dirty="0"/>
              <a:t>Frames of an Image sequence</a:t>
            </a:r>
          </a:p>
        </p:txBody>
      </p:sp>
    </p:spTree>
    <p:extLst>
      <p:ext uri="{BB962C8B-B14F-4D97-AF65-F5344CB8AC3E}">
        <p14:creationId xmlns:p14="http://schemas.microsoft.com/office/powerpoint/2010/main" val="3282201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4A5C9-91C9-562A-1320-AEE62DC60D8E}"/>
              </a:ext>
            </a:extLst>
          </p:cNvPr>
          <p:cNvSpPr>
            <a:spLocks noGrp="1"/>
          </p:cNvSpPr>
          <p:nvPr>
            <p:ph type="title"/>
          </p:nvPr>
        </p:nvSpPr>
        <p:spPr>
          <a:xfrm>
            <a:off x="653143" y="18255"/>
            <a:ext cx="10515600" cy="1325563"/>
          </a:xfrm>
        </p:spPr>
        <p:txBody>
          <a:bodyPr>
            <a:normAutofit/>
          </a:bodyPr>
          <a:lstStyle/>
          <a:p>
            <a:r>
              <a:rPr lang="en-US" sz="4000" dirty="0">
                <a:latin typeface="游ゴシック (Body)"/>
              </a:rPr>
              <a:t>Related Research</a:t>
            </a:r>
            <a:endParaRPr lang="en-US" sz="4000" dirty="0"/>
          </a:p>
        </p:txBody>
      </p:sp>
      <p:sp>
        <p:nvSpPr>
          <p:cNvPr id="3" name="Content Placeholder 2">
            <a:extLst>
              <a:ext uri="{FF2B5EF4-FFF2-40B4-BE49-F238E27FC236}">
                <a16:creationId xmlns:a16="http://schemas.microsoft.com/office/drawing/2014/main" id="{2AD0EE6D-DE8C-1D80-6459-F6977D8C11E2}"/>
              </a:ext>
            </a:extLst>
          </p:cNvPr>
          <p:cNvSpPr>
            <a:spLocks noGrp="1"/>
          </p:cNvSpPr>
          <p:nvPr>
            <p:ph idx="1"/>
          </p:nvPr>
        </p:nvSpPr>
        <p:spPr/>
        <p:txBody>
          <a:bodyPr/>
          <a:lstStyle/>
          <a:p>
            <a:pPr marL="457200" lvl="1" indent="0">
              <a:buNone/>
            </a:pPr>
            <a:r>
              <a:rPr kumimoji="1" lang="en-US" sz="2000" b="1" u="sng" dirty="0"/>
              <a:t>Direct 3D Feature Extraction Approach</a:t>
            </a:r>
          </a:p>
        </p:txBody>
      </p:sp>
      <p:sp>
        <p:nvSpPr>
          <p:cNvPr id="4" name="Slide Number Placeholder 3">
            <a:extLst>
              <a:ext uri="{FF2B5EF4-FFF2-40B4-BE49-F238E27FC236}">
                <a16:creationId xmlns:a16="http://schemas.microsoft.com/office/drawing/2014/main" id="{E6968BEE-9DF7-38AE-94B6-EC404373725F}"/>
              </a:ext>
            </a:extLst>
          </p:cNvPr>
          <p:cNvSpPr>
            <a:spLocks noGrp="1"/>
          </p:cNvSpPr>
          <p:nvPr>
            <p:ph type="sldNum" sz="quarter" idx="12"/>
          </p:nvPr>
        </p:nvSpPr>
        <p:spPr/>
        <p:txBody>
          <a:bodyPr/>
          <a:lstStyle/>
          <a:p>
            <a:fld id="{DADAC235-C9E6-487D-8BF0-E0D19F810E81}" type="slidenum">
              <a:rPr lang="en-US" smtClean="0"/>
              <a:t>7</a:t>
            </a:fld>
            <a:endParaRPr lang="en-US"/>
          </a:p>
        </p:txBody>
      </p:sp>
      <p:sp>
        <p:nvSpPr>
          <p:cNvPr id="5" name="TextBox 4">
            <a:extLst>
              <a:ext uri="{FF2B5EF4-FFF2-40B4-BE49-F238E27FC236}">
                <a16:creationId xmlns:a16="http://schemas.microsoft.com/office/drawing/2014/main" id="{C343F8D9-DC2B-0C0F-FEA7-B8E62BEE3E8C}"/>
              </a:ext>
            </a:extLst>
          </p:cNvPr>
          <p:cNvSpPr txBox="1"/>
          <p:nvPr/>
        </p:nvSpPr>
        <p:spPr>
          <a:xfrm>
            <a:off x="653143" y="1061502"/>
            <a:ext cx="6291943" cy="523220"/>
          </a:xfrm>
          <a:prstGeom prst="rect">
            <a:avLst/>
          </a:prstGeom>
          <a:noFill/>
        </p:spPr>
        <p:txBody>
          <a:bodyPr wrap="square" rtlCol="0">
            <a:spAutoFit/>
          </a:bodyPr>
          <a:lstStyle/>
          <a:p>
            <a:r>
              <a:rPr lang="en-US" sz="2800" dirty="0">
                <a:latin typeface="游ゴシック (Body)"/>
              </a:rPr>
              <a:t>How is Shape Subspace computed?</a:t>
            </a:r>
          </a:p>
        </p:txBody>
      </p:sp>
      <p:sp>
        <p:nvSpPr>
          <p:cNvPr id="6" name="TextBox 5">
            <a:extLst>
              <a:ext uri="{FF2B5EF4-FFF2-40B4-BE49-F238E27FC236}">
                <a16:creationId xmlns:a16="http://schemas.microsoft.com/office/drawing/2014/main" id="{28EFE0F2-47B2-A0C2-5109-538A8ADFB39F}"/>
              </a:ext>
            </a:extLst>
          </p:cNvPr>
          <p:cNvSpPr txBox="1"/>
          <p:nvPr/>
        </p:nvSpPr>
        <p:spPr>
          <a:xfrm>
            <a:off x="2367850" y="5267675"/>
            <a:ext cx="6433457" cy="523220"/>
          </a:xfrm>
          <a:prstGeom prst="rect">
            <a:avLst/>
          </a:prstGeom>
          <a:noFill/>
        </p:spPr>
        <p:txBody>
          <a:bodyPr wrap="square" rtlCol="0">
            <a:spAutoFit/>
          </a:bodyPr>
          <a:lstStyle/>
          <a:p>
            <a:r>
              <a:rPr lang="en-US" sz="1400" i="1" dirty="0"/>
              <a:t>Figure adapted from </a:t>
            </a:r>
            <a:r>
              <a:rPr lang="en-US" sz="1400" i="1" dirty="0" err="1"/>
              <a:t>Yoshinuma</a:t>
            </a:r>
            <a:r>
              <a:rPr lang="en-US" sz="1400" i="1" dirty="0"/>
              <a:t>, Hino, and Fukui, "Personal Authentication Based on 3D Configuration of Micro-feature Points on Facial Surface"</a:t>
            </a:r>
          </a:p>
        </p:txBody>
      </p:sp>
      <p:pic>
        <p:nvPicPr>
          <p:cNvPr id="7" name="Picture 6">
            <a:extLst>
              <a:ext uri="{FF2B5EF4-FFF2-40B4-BE49-F238E27FC236}">
                <a16:creationId xmlns:a16="http://schemas.microsoft.com/office/drawing/2014/main" id="{26A64BF2-8705-BEE6-3F62-D572203AB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8157" y="2566453"/>
            <a:ext cx="8732612" cy="2460319"/>
          </a:xfrm>
          <a:prstGeom prst="rect">
            <a:avLst/>
          </a:prstGeom>
        </p:spPr>
      </p:pic>
    </p:spTree>
    <p:extLst>
      <p:ext uri="{BB962C8B-B14F-4D97-AF65-F5344CB8AC3E}">
        <p14:creationId xmlns:p14="http://schemas.microsoft.com/office/powerpoint/2010/main" val="55224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76FE1-226D-9A71-7A20-43BBC479BFB9}"/>
              </a:ext>
            </a:extLst>
          </p:cNvPr>
          <p:cNvSpPr>
            <a:spLocks noGrp="1"/>
          </p:cNvSpPr>
          <p:nvPr>
            <p:ph type="title"/>
          </p:nvPr>
        </p:nvSpPr>
        <p:spPr/>
        <p:txBody>
          <a:bodyPr>
            <a:normAutofit/>
          </a:bodyPr>
          <a:lstStyle/>
          <a:p>
            <a:r>
              <a:rPr lang="en-US" sz="4000" dirty="0">
                <a:latin typeface="游ゴシック (Body)"/>
              </a:rPr>
              <a:t>Related Research</a:t>
            </a:r>
            <a:endParaRPr lang="en-US" sz="4000" dirty="0"/>
          </a:p>
        </p:txBody>
      </p:sp>
      <p:sp>
        <p:nvSpPr>
          <p:cNvPr id="3" name="Content Placeholder 2">
            <a:extLst>
              <a:ext uri="{FF2B5EF4-FFF2-40B4-BE49-F238E27FC236}">
                <a16:creationId xmlns:a16="http://schemas.microsoft.com/office/drawing/2014/main" id="{FFC92D5F-0907-A0D5-8E34-F2406C2B8F7D}"/>
              </a:ext>
            </a:extLst>
          </p:cNvPr>
          <p:cNvSpPr>
            <a:spLocks noGrp="1"/>
          </p:cNvSpPr>
          <p:nvPr>
            <p:ph idx="1"/>
          </p:nvPr>
        </p:nvSpPr>
        <p:spPr/>
        <p:txBody>
          <a:bodyPr/>
          <a:lstStyle/>
          <a:p>
            <a:pPr>
              <a:lnSpc>
                <a:spcPct val="150000"/>
              </a:lnSpc>
            </a:pPr>
            <a:r>
              <a:rPr kumimoji="1" lang="en-US" sz="1800" dirty="0"/>
              <a:t>The Difference Subspace (DS) is a geometric concept that represents the components of difference between two class subspaces. It extends the idea of a difference vector between two vectors to the case of subspaces. </a:t>
            </a:r>
          </a:p>
          <a:p>
            <a:pPr lvl="1">
              <a:lnSpc>
                <a:spcPct val="150000"/>
              </a:lnSpc>
            </a:pPr>
            <a:r>
              <a:rPr kumimoji="1" lang="en-US" sz="1400" dirty="0"/>
              <a:t>DS is particularly useful for analyzing and extracting local shape differences between objects, which provides a more sensitive cue for recognition compared to traditional global shape comparison methods.</a:t>
            </a:r>
          </a:p>
        </p:txBody>
      </p:sp>
      <p:sp>
        <p:nvSpPr>
          <p:cNvPr id="4" name="Slide Number Placeholder 3">
            <a:extLst>
              <a:ext uri="{FF2B5EF4-FFF2-40B4-BE49-F238E27FC236}">
                <a16:creationId xmlns:a16="http://schemas.microsoft.com/office/drawing/2014/main" id="{08B78CC3-4010-D076-FA11-A7D9E42F2465}"/>
              </a:ext>
            </a:extLst>
          </p:cNvPr>
          <p:cNvSpPr>
            <a:spLocks noGrp="1"/>
          </p:cNvSpPr>
          <p:nvPr>
            <p:ph type="sldNum" sz="quarter" idx="12"/>
          </p:nvPr>
        </p:nvSpPr>
        <p:spPr/>
        <p:txBody>
          <a:bodyPr/>
          <a:lstStyle/>
          <a:p>
            <a:fld id="{DADAC235-C9E6-487D-8BF0-E0D19F810E81}" type="slidenum">
              <a:rPr lang="en-US" smtClean="0"/>
              <a:t>8</a:t>
            </a:fld>
            <a:endParaRPr lang="en-US"/>
          </a:p>
        </p:txBody>
      </p:sp>
      <p:pic>
        <p:nvPicPr>
          <p:cNvPr id="9" name="Picture 8">
            <a:extLst>
              <a:ext uri="{FF2B5EF4-FFF2-40B4-BE49-F238E27FC236}">
                <a16:creationId xmlns:a16="http://schemas.microsoft.com/office/drawing/2014/main" id="{177D2628-01DA-B64E-9105-D5C2F991B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5637" y="3351567"/>
            <a:ext cx="5039654" cy="2422623"/>
          </a:xfrm>
          <a:prstGeom prst="rect">
            <a:avLst/>
          </a:prstGeom>
        </p:spPr>
      </p:pic>
      <p:sp>
        <p:nvSpPr>
          <p:cNvPr id="10" name="TextBox 9">
            <a:extLst>
              <a:ext uri="{FF2B5EF4-FFF2-40B4-BE49-F238E27FC236}">
                <a16:creationId xmlns:a16="http://schemas.microsoft.com/office/drawing/2014/main" id="{0B874841-49E1-64CB-71C6-2070CD586D64}"/>
              </a:ext>
            </a:extLst>
          </p:cNvPr>
          <p:cNvSpPr txBox="1"/>
          <p:nvPr/>
        </p:nvSpPr>
        <p:spPr>
          <a:xfrm>
            <a:off x="2993572" y="5953577"/>
            <a:ext cx="6433457" cy="307777"/>
          </a:xfrm>
          <a:prstGeom prst="rect">
            <a:avLst/>
          </a:prstGeom>
          <a:noFill/>
        </p:spPr>
        <p:txBody>
          <a:bodyPr wrap="square" rtlCol="0">
            <a:spAutoFit/>
          </a:bodyPr>
          <a:lstStyle/>
          <a:p>
            <a:r>
              <a:rPr lang="en-US" sz="1400" dirty="0"/>
              <a:t>Figure adapted from Fukui et al., "Second-order Difference Subspace"</a:t>
            </a:r>
            <a:endParaRPr lang="en-US" sz="1400" i="1" dirty="0"/>
          </a:p>
        </p:txBody>
      </p:sp>
    </p:spTree>
    <p:extLst>
      <p:ext uri="{BB962C8B-B14F-4D97-AF65-F5344CB8AC3E}">
        <p14:creationId xmlns:p14="http://schemas.microsoft.com/office/powerpoint/2010/main" val="3600431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BA817-A29A-106A-D60F-BB54520F4BEB}"/>
              </a:ext>
            </a:extLst>
          </p:cNvPr>
          <p:cNvSpPr>
            <a:spLocks noGrp="1"/>
          </p:cNvSpPr>
          <p:nvPr>
            <p:ph type="title"/>
          </p:nvPr>
        </p:nvSpPr>
        <p:spPr>
          <a:xfrm>
            <a:off x="314502" y="80386"/>
            <a:ext cx="10515600" cy="1325563"/>
          </a:xfrm>
        </p:spPr>
        <p:txBody>
          <a:bodyPr>
            <a:normAutofit/>
          </a:bodyPr>
          <a:lstStyle/>
          <a:p>
            <a:r>
              <a:rPr lang="en-US" sz="4000" dirty="0">
                <a:latin typeface="游ゴシック (Body)"/>
              </a:rPr>
              <a:t>Proposed Method</a:t>
            </a:r>
          </a:p>
        </p:txBody>
      </p:sp>
      <p:sp>
        <p:nvSpPr>
          <p:cNvPr id="22" name="Slide Number Placeholder 21">
            <a:extLst>
              <a:ext uri="{FF2B5EF4-FFF2-40B4-BE49-F238E27FC236}">
                <a16:creationId xmlns:a16="http://schemas.microsoft.com/office/drawing/2014/main" id="{3B6A4EC1-5987-2715-E339-945033A5CFC1}"/>
              </a:ext>
            </a:extLst>
          </p:cNvPr>
          <p:cNvSpPr>
            <a:spLocks noGrp="1"/>
          </p:cNvSpPr>
          <p:nvPr>
            <p:ph type="sldNum" sz="quarter" idx="12"/>
          </p:nvPr>
        </p:nvSpPr>
        <p:spPr/>
        <p:txBody>
          <a:bodyPr/>
          <a:lstStyle/>
          <a:p>
            <a:fld id="{DADAC235-C9E6-487D-8BF0-E0D19F810E81}" type="slidenum">
              <a:rPr lang="en-US" smtClean="0"/>
              <a:t>9</a:t>
            </a:fld>
            <a:endParaRPr lang="en-US"/>
          </a:p>
        </p:txBody>
      </p:sp>
      <p:sp>
        <p:nvSpPr>
          <p:cNvPr id="9" name="Arrow: Right 8">
            <a:extLst>
              <a:ext uri="{FF2B5EF4-FFF2-40B4-BE49-F238E27FC236}">
                <a16:creationId xmlns:a16="http://schemas.microsoft.com/office/drawing/2014/main" id="{8683EE8E-2C74-0ECF-880C-902FC368C88B}"/>
              </a:ext>
            </a:extLst>
          </p:cNvPr>
          <p:cNvSpPr/>
          <p:nvPr/>
        </p:nvSpPr>
        <p:spPr>
          <a:xfrm>
            <a:off x="2952420" y="1970801"/>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C9BC048-C129-8F61-7CE2-623C9F3251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1075" y="1066659"/>
            <a:ext cx="2099709" cy="2078229"/>
          </a:xfrm>
          <a:prstGeom prst="rect">
            <a:avLst/>
          </a:prstGeom>
        </p:spPr>
      </p:pic>
      <p:pic>
        <p:nvPicPr>
          <p:cNvPr id="15" name="Picture 14">
            <a:extLst>
              <a:ext uri="{FF2B5EF4-FFF2-40B4-BE49-F238E27FC236}">
                <a16:creationId xmlns:a16="http://schemas.microsoft.com/office/drawing/2014/main" id="{B23C9D9E-C9B3-6EF0-F753-22030D7A7F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8266" y="3398550"/>
            <a:ext cx="1441997" cy="1427245"/>
          </a:xfrm>
          <a:prstGeom prst="rect">
            <a:avLst/>
          </a:prstGeom>
        </p:spPr>
      </p:pic>
      <p:sp>
        <p:nvSpPr>
          <p:cNvPr id="16" name="Arrow: Right 15">
            <a:extLst>
              <a:ext uri="{FF2B5EF4-FFF2-40B4-BE49-F238E27FC236}">
                <a16:creationId xmlns:a16="http://schemas.microsoft.com/office/drawing/2014/main" id="{18918533-F84A-230C-148A-9EB90A44EB44}"/>
              </a:ext>
            </a:extLst>
          </p:cNvPr>
          <p:cNvSpPr/>
          <p:nvPr/>
        </p:nvSpPr>
        <p:spPr>
          <a:xfrm>
            <a:off x="6028521" y="1932631"/>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0E2D93DC-F9B3-E6F0-1101-84A2D1AA5DD1}"/>
              </a:ext>
            </a:extLst>
          </p:cNvPr>
          <p:cNvGrpSpPr/>
          <p:nvPr/>
        </p:nvGrpSpPr>
        <p:grpSpPr>
          <a:xfrm>
            <a:off x="2676399" y="3126463"/>
            <a:ext cx="3809417" cy="3271660"/>
            <a:chOff x="7225117" y="2594131"/>
            <a:chExt cx="4601017" cy="4434840"/>
          </a:xfrm>
        </p:grpSpPr>
        <p:pic>
          <p:nvPicPr>
            <p:cNvPr id="17" name="Picture 16">
              <a:extLst>
                <a:ext uri="{FF2B5EF4-FFF2-40B4-BE49-F238E27FC236}">
                  <a16:creationId xmlns:a16="http://schemas.microsoft.com/office/drawing/2014/main" id="{2FBABB49-5C42-4805-AE54-C0C8851C7D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5117" y="2594131"/>
              <a:ext cx="4434840" cy="4434840"/>
            </a:xfrm>
            <a:prstGeom prst="rect">
              <a:avLst/>
            </a:prstGeom>
          </p:spPr>
        </p:pic>
        <p:sp>
          <p:nvSpPr>
            <p:cNvPr id="18" name="TextBox 17">
              <a:extLst>
                <a:ext uri="{FF2B5EF4-FFF2-40B4-BE49-F238E27FC236}">
                  <a16:creationId xmlns:a16="http://schemas.microsoft.com/office/drawing/2014/main" id="{DDD1FEA5-E97D-A549-A17F-266421C3611E}"/>
                </a:ext>
              </a:extLst>
            </p:cNvPr>
            <p:cNvSpPr txBox="1"/>
            <p:nvPr/>
          </p:nvSpPr>
          <p:spPr>
            <a:xfrm>
              <a:off x="7336806" y="3305376"/>
              <a:ext cx="1706179" cy="746343"/>
            </a:xfrm>
            <a:prstGeom prst="rect">
              <a:avLst/>
            </a:prstGeom>
            <a:noFill/>
          </p:spPr>
          <p:txBody>
            <a:bodyPr wrap="square" rtlCol="0">
              <a:spAutoFit/>
            </a:bodyPr>
            <a:lstStyle/>
            <a:p>
              <a:pPr algn="ctr"/>
              <a:r>
                <a:rPr lang="en-US" sz="1400" dirty="0"/>
                <a:t>Shape Subspace </a:t>
              </a:r>
              <a:r>
                <a:rPr lang="en-US" sz="1400" i="1" dirty="0">
                  <a:latin typeface="Curlz MT" panose="04040404050702020202" pitchFamily="82" charset="0"/>
                </a:rPr>
                <a:t>P</a:t>
              </a:r>
              <a:endParaRPr lang="en-US" sz="1400" baseline="-25000" dirty="0">
                <a:latin typeface="Curlz MT" panose="04040404050702020202" pitchFamily="82" charset="0"/>
              </a:endParaRPr>
            </a:p>
          </p:txBody>
        </p:sp>
        <p:sp>
          <p:nvSpPr>
            <p:cNvPr id="19" name="TextBox 18">
              <a:extLst>
                <a:ext uri="{FF2B5EF4-FFF2-40B4-BE49-F238E27FC236}">
                  <a16:creationId xmlns:a16="http://schemas.microsoft.com/office/drawing/2014/main" id="{3EC3AD8A-CEC2-90B1-6455-671AABB4BC09}"/>
                </a:ext>
              </a:extLst>
            </p:cNvPr>
            <p:cNvSpPr txBox="1"/>
            <p:nvPr/>
          </p:nvSpPr>
          <p:spPr>
            <a:xfrm>
              <a:off x="9600834" y="3308065"/>
              <a:ext cx="1706179" cy="746343"/>
            </a:xfrm>
            <a:prstGeom prst="rect">
              <a:avLst/>
            </a:prstGeom>
            <a:noFill/>
          </p:spPr>
          <p:txBody>
            <a:bodyPr wrap="square" rtlCol="0">
              <a:spAutoFit/>
            </a:bodyPr>
            <a:lstStyle/>
            <a:p>
              <a:pPr algn="ctr"/>
              <a:r>
                <a:rPr lang="en-US" sz="1400" dirty="0"/>
                <a:t>Shape Subspace </a:t>
              </a:r>
              <a:r>
                <a:rPr lang="en-US" sz="1400" i="1" dirty="0">
                  <a:latin typeface="Curlz MT" panose="04040404050702020202" pitchFamily="82" charset="0"/>
                  <a:ea typeface="FZShuTi" panose="02010601030101010101" pitchFamily="2" charset="-122"/>
                </a:rPr>
                <a:t>Q</a:t>
              </a:r>
              <a:endParaRPr lang="en-US" sz="1400" baseline="-25000" dirty="0">
                <a:latin typeface="Curlz MT" panose="04040404050702020202" pitchFamily="82" charset="0"/>
                <a:ea typeface="FZShuTi" panose="02010601030101010101" pitchFamily="2" charset="-122"/>
              </a:endParaRPr>
            </a:p>
          </p:txBody>
        </p:sp>
        <p:sp>
          <p:nvSpPr>
            <p:cNvPr id="20" name="TextBox 19">
              <a:extLst>
                <a:ext uri="{FF2B5EF4-FFF2-40B4-BE49-F238E27FC236}">
                  <a16:creationId xmlns:a16="http://schemas.microsoft.com/office/drawing/2014/main" id="{EB402154-847E-5EB1-AE5B-039EA562991D}"/>
                </a:ext>
              </a:extLst>
            </p:cNvPr>
            <p:cNvSpPr txBox="1"/>
            <p:nvPr/>
          </p:nvSpPr>
          <p:spPr>
            <a:xfrm>
              <a:off x="8685173" y="3794256"/>
              <a:ext cx="1510723" cy="673731"/>
            </a:xfrm>
            <a:prstGeom prst="rect">
              <a:avLst/>
            </a:prstGeom>
            <a:noFill/>
          </p:spPr>
          <p:txBody>
            <a:bodyPr wrap="square" rtlCol="0">
              <a:spAutoFit/>
            </a:bodyPr>
            <a:lstStyle/>
            <a:p>
              <a:pPr algn="ctr"/>
              <a:r>
                <a:rPr lang="en-US" sz="1400" dirty="0"/>
                <a:t>Canonical</a:t>
              </a:r>
            </a:p>
            <a:p>
              <a:pPr algn="ctr"/>
              <a:r>
                <a:rPr lang="en-US" sz="1400" dirty="0"/>
                <a:t>angles</a:t>
              </a:r>
            </a:p>
          </p:txBody>
        </p:sp>
        <p:sp>
          <p:nvSpPr>
            <p:cNvPr id="21" name="TextBox 20">
              <a:extLst>
                <a:ext uri="{FF2B5EF4-FFF2-40B4-BE49-F238E27FC236}">
                  <a16:creationId xmlns:a16="http://schemas.microsoft.com/office/drawing/2014/main" id="{863465EE-4718-EEE9-68E0-168564D4B7F7}"/>
                </a:ext>
              </a:extLst>
            </p:cNvPr>
            <p:cNvSpPr txBox="1"/>
            <p:nvPr/>
          </p:nvSpPr>
          <p:spPr>
            <a:xfrm>
              <a:off x="8685173" y="5468469"/>
              <a:ext cx="1510723" cy="439026"/>
            </a:xfrm>
            <a:prstGeom prst="rect">
              <a:avLst/>
            </a:prstGeom>
            <a:noFill/>
          </p:spPr>
          <p:txBody>
            <a:bodyPr wrap="square" rtlCol="0">
              <a:spAutoFit/>
            </a:bodyPr>
            <a:lstStyle/>
            <a:p>
              <a:pPr algn="ctr"/>
              <a:r>
                <a:rPr lang="en-US" sz="1400" dirty="0"/>
                <a:t>Vector space</a:t>
              </a:r>
            </a:p>
          </p:txBody>
        </p:sp>
        <p:sp>
          <p:nvSpPr>
            <p:cNvPr id="23" name="TextBox 22">
              <a:extLst>
                <a:ext uri="{FF2B5EF4-FFF2-40B4-BE49-F238E27FC236}">
                  <a16:creationId xmlns:a16="http://schemas.microsoft.com/office/drawing/2014/main" id="{F4BACBD0-C110-5D01-AD97-87D825DFC546}"/>
                </a:ext>
              </a:extLst>
            </p:cNvPr>
            <p:cNvSpPr txBox="1"/>
            <p:nvPr/>
          </p:nvSpPr>
          <p:spPr>
            <a:xfrm>
              <a:off x="9692120" y="5784788"/>
              <a:ext cx="2134014" cy="746343"/>
            </a:xfrm>
            <a:prstGeom prst="rect">
              <a:avLst/>
            </a:prstGeom>
            <a:noFill/>
          </p:spPr>
          <p:txBody>
            <a:bodyPr wrap="square" rtlCol="0">
              <a:spAutoFit/>
            </a:bodyPr>
            <a:lstStyle/>
            <a:p>
              <a:pPr algn="ctr"/>
              <a:r>
                <a:rPr lang="en-US" sz="1400" dirty="0"/>
                <a:t>Difference Subspace </a:t>
              </a:r>
              <a:r>
                <a:rPr lang="en-US" sz="1400" i="1" dirty="0">
                  <a:latin typeface="Curlz MT" panose="04040404050702020202" pitchFamily="82" charset="0"/>
                  <a:ea typeface="FZShuTi" panose="02010601030101010101" pitchFamily="2" charset="-122"/>
                </a:rPr>
                <a:t>D</a:t>
              </a:r>
              <a:endParaRPr lang="en-US" sz="1400" baseline="-25000" dirty="0">
                <a:latin typeface="Curlz MT" panose="04040404050702020202" pitchFamily="82" charset="0"/>
                <a:ea typeface="FZShuTi" panose="02010601030101010101" pitchFamily="2" charset="-122"/>
              </a:endParaRPr>
            </a:p>
          </p:txBody>
        </p:sp>
        <p:cxnSp>
          <p:nvCxnSpPr>
            <p:cNvPr id="24" name="Straight Arrow Connector 23">
              <a:extLst>
                <a:ext uri="{FF2B5EF4-FFF2-40B4-BE49-F238E27FC236}">
                  <a16:creationId xmlns:a16="http://schemas.microsoft.com/office/drawing/2014/main" id="{6A81D092-3E72-B09F-CD8F-1C43B258335C}"/>
                </a:ext>
              </a:extLst>
            </p:cNvPr>
            <p:cNvCxnSpPr>
              <a:cxnSpLocks/>
            </p:cNvCxnSpPr>
            <p:nvPr/>
          </p:nvCxnSpPr>
          <p:spPr>
            <a:xfrm flipV="1">
              <a:off x="9467961" y="4230368"/>
              <a:ext cx="901581" cy="9943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AEE0F4EF-4EB8-4885-FD00-358243DF6C8B}"/>
                </a:ext>
              </a:extLst>
            </p:cNvPr>
            <p:cNvCxnSpPr>
              <a:cxnSpLocks/>
            </p:cNvCxnSpPr>
            <p:nvPr/>
          </p:nvCxnSpPr>
          <p:spPr>
            <a:xfrm flipH="1" flipV="1">
              <a:off x="8480921" y="4230367"/>
              <a:ext cx="867399" cy="9571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739BE91E-8D4B-0480-4607-D62962A6B528}"/>
                </a:ext>
              </a:extLst>
            </p:cNvPr>
            <p:cNvCxnSpPr>
              <a:cxnSpLocks/>
            </p:cNvCxnSpPr>
            <p:nvPr/>
          </p:nvCxnSpPr>
          <p:spPr>
            <a:xfrm>
              <a:off x="9438049" y="5264409"/>
              <a:ext cx="1397238" cy="42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0" name="TextBox 29">
            <a:extLst>
              <a:ext uri="{FF2B5EF4-FFF2-40B4-BE49-F238E27FC236}">
                <a16:creationId xmlns:a16="http://schemas.microsoft.com/office/drawing/2014/main" id="{0511695C-A342-A47D-1CB4-670536335EA0}"/>
              </a:ext>
            </a:extLst>
          </p:cNvPr>
          <p:cNvSpPr txBox="1"/>
          <p:nvPr/>
        </p:nvSpPr>
        <p:spPr>
          <a:xfrm>
            <a:off x="1023881" y="3053721"/>
            <a:ext cx="1331936" cy="261610"/>
          </a:xfrm>
          <a:prstGeom prst="rect">
            <a:avLst/>
          </a:prstGeom>
          <a:noFill/>
        </p:spPr>
        <p:txBody>
          <a:bodyPr wrap="square" rtlCol="0">
            <a:spAutoFit/>
          </a:bodyPr>
          <a:lstStyle/>
          <a:p>
            <a:r>
              <a:rPr lang="en-US" sz="1100" dirty="0"/>
              <a:t>Input Point Cloud</a:t>
            </a:r>
          </a:p>
        </p:txBody>
      </p:sp>
      <p:sp>
        <p:nvSpPr>
          <p:cNvPr id="32" name="TextBox 31">
            <a:extLst>
              <a:ext uri="{FF2B5EF4-FFF2-40B4-BE49-F238E27FC236}">
                <a16:creationId xmlns:a16="http://schemas.microsoft.com/office/drawing/2014/main" id="{861F299E-12FF-7513-5205-207D873F4D3F}"/>
              </a:ext>
            </a:extLst>
          </p:cNvPr>
          <p:cNvSpPr txBox="1"/>
          <p:nvPr/>
        </p:nvSpPr>
        <p:spPr>
          <a:xfrm>
            <a:off x="7014218" y="4868530"/>
            <a:ext cx="1745162" cy="261610"/>
          </a:xfrm>
          <a:prstGeom prst="rect">
            <a:avLst/>
          </a:prstGeom>
          <a:noFill/>
        </p:spPr>
        <p:txBody>
          <a:bodyPr wrap="square" rtlCol="0">
            <a:spAutoFit/>
          </a:bodyPr>
          <a:lstStyle/>
          <a:p>
            <a:r>
              <a:rPr lang="en-US" sz="1100" dirty="0"/>
              <a:t>Compare patches using DS</a:t>
            </a:r>
          </a:p>
        </p:txBody>
      </p:sp>
      <p:pic>
        <p:nvPicPr>
          <p:cNvPr id="34" name="Picture 33">
            <a:extLst>
              <a:ext uri="{FF2B5EF4-FFF2-40B4-BE49-F238E27FC236}">
                <a16:creationId xmlns:a16="http://schemas.microsoft.com/office/drawing/2014/main" id="{69A9C61C-F93F-B0E8-F9B4-2C167C5903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3130" y="1698283"/>
            <a:ext cx="2201194" cy="959304"/>
          </a:xfrm>
          <a:prstGeom prst="rect">
            <a:avLst/>
          </a:prstGeom>
        </p:spPr>
      </p:pic>
      <p:sp>
        <p:nvSpPr>
          <p:cNvPr id="35" name="TextBox 34">
            <a:extLst>
              <a:ext uri="{FF2B5EF4-FFF2-40B4-BE49-F238E27FC236}">
                <a16:creationId xmlns:a16="http://schemas.microsoft.com/office/drawing/2014/main" id="{F6944789-C809-29B4-00EA-B16137B74FF5}"/>
              </a:ext>
            </a:extLst>
          </p:cNvPr>
          <p:cNvSpPr txBox="1"/>
          <p:nvPr/>
        </p:nvSpPr>
        <p:spPr>
          <a:xfrm>
            <a:off x="2890073" y="2478341"/>
            <a:ext cx="697328" cy="261610"/>
          </a:xfrm>
          <a:prstGeom prst="rect">
            <a:avLst/>
          </a:prstGeom>
          <a:noFill/>
        </p:spPr>
        <p:txBody>
          <a:bodyPr wrap="square" rtlCol="0">
            <a:spAutoFit/>
          </a:bodyPr>
          <a:lstStyle/>
          <a:p>
            <a:r>
              <a:rPr lang="en-US" sz="1100" dirty="0"/>
              <a:t>dividing</a:t>
            </a:r>
          </a:p>
        </p:txBody>
      </p:sp>
      <p:sp>
        <p:nvSpPr>
          <p:cNvPr id="36" name="TextBox 35">
            <a:extLst>
              <a:ext uri="{FF2B5EF4-FFF2-40B4-BE49-F238E27FC236}">
                <a16:creationId xmlns:a16="http://schemas.microsoft.com/office/drawing/2014/main" id="{F35F0E38-C19F-839A-3D64-54B6F4A9E936}"/>
              </a:ext>
            </a:extLst>
          </p:cNvPr>
          <p:cNvSpPr txBox="1"/>
          <p:nvPr/>
        </p:nvSpPr>
        <p:spPr>
          <a:xfrm>
            <a:off x="5935056" y="2400862"/>
            <a:ext cx="762765" cy="261610"/>
          </a:xfrm>
          <a:prstGeom prst="rect">
            <a:avLst/>
          </a:prstGeom>
          <a:noFill/>
        </p:spPr>
        <p:txBody>
          <a:bodyPr wrap="square" rtlCol="0">
            <a:spAutoFit/>
          </a:bodyPr>
          <a:lstStyle/>
          <a:p>
            <a:r>
              <a:rPr lang="en-US" sz="1100" dirty="0"/>
              <a:t>centering</a:t>
            </a:r>
          </a:p>
        </p:txBody>
      </p:sp>
      <p:grpSp>
        <p:nvGrpSpPr>
          <p:cNvPr id="53" name="Group 52">
            <a:extLst>
              <a:ext uri="{FF2B5EF4-FFF2-40B4-BE49-F238E27FC236}">
                <a16:creationId xmlns:a16="http://schemas.microsoft.com/office/drawing/2014/main" id="{E8FD5A33-CD53-E7AB-35D6-66A22C269885}"/>
              </a:ext>
            </a:extLst>
          </p:cNvPr>
          <p:cNvGrpSpPr/>
          <p:nvPr/>
        </p:nvGrpSpPr>
        <p:grpSpPr>
          <a:xfrm>
            <a:off x="9809842" y="1334345"/>
            <a:ext cx="750536" cy="1509539"/>
            <a:chOff x="7402833" y="1279780"/>
            <a:chExt cx="750536" cy="1509539"/>
          </a:xfrm>
        </p:grpSpPr>
        <p:sp>
          <p:nvSpPr>
            <p:cNvPr id="38" name="Isosceles Triangle 37">
              <a:extLst>
                <a:ext uri="{FF2B5EF4-FFF2-40B4-BE49-F238E27FC236}">
                  <a16:creationId xmlns:a16="http://schemas.microsoft.com/office/drawing/2014/main" id="{B46D4CAC-CC6F-5A71-7F7F-EA274EEF5563}"/>
                </a:ext>
              </a:extLst>
            </p:cNvPr>
            <p:cNvSpPr/>
            <p:nvPr/>
          </p:nvSpPr>
          <p:spPr>
            <a:xfrm rot="10800000">
              <a:off x="7402833" y="1483576"/>
              <a:ext cx="750536" cy="1293905"/>
            </a:xfrm>
            <a:prstGeom prst="triangle">
              <a:avLst/>
            </a:prstGeom>
            <a:solidFill>
              <a:srgbClr val="9BC3F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FD8193D-B956-AE0D-427C-A9348D056102}"/>
                </a:ext>
              </a:extLst>
            </p:cNvPr>
            <p:cNvSpPr/>
            <p:nvPr/>
          </p:nvSpPr>
          <p:spPr>
            <a:xfrm>
              <a:off x="7402833" y="1279780"/>
              <a:ext cx="750536" cy="411038"/>
            </a:xfrm>
            <a:prstGeom prst="ellipse">
              <a:avLst/>
            </a:prstGeom>
            <a:solidFill>
              <a:srgbClr val="5A7FE7"/>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0F67F2E2-C4B7-9F6F-42AA-26105A3C9789}"/>
                </a:ext>
              </a:extLst>
            </p:cNvPr>
            <p:cNvCxnSpPr>
              <a:cxnSpLocks/>
              <a:stCxn id="38" idx="0"/>
              <a:endCxn id="37" idx="5"/>
            </p:cNvCxnSpPr>
            <p:nvPr/>
          </p:nvCxnSpPr>
          <p:spPr>
            <a:xfrm flipV="1">
              <a:off x="7778101" y="1630623"/>
              <a:ext cx="265355" cy="1146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5E51E17-EF48-E916-0A1F-68857C7236A0}"/>
                </a:ext>
              </a:extLst>
            </p:cNvPr>
            <p:cNvCxnSpPr>
              <a:cxnSpLocks/>
              <a:endCxn id="37" idx="4"/>
            </p:cNvCxnSpPr>
            <p:nvPr/>
          </p:nvCxnSpPr>
          <p:spPr>
            <a:xfrm flipV="1">
              <a:off x="7772526" y="1690818"/>
              <a:ext cx="5575" cy="10985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F7D28252-15B1-CFAC-9FCE-303798600130}"/>
                </a:ext>
              </a:extLst>
            </p:cNvPr>
            <p:cNvCxnSpPr>
              <a:cxnSpLocks/>
              <a:stCxn id="38" idx="0"/>
              <a:endCxn id="37" idx="3"/>
            </p:cNvCxnSpPr>
            <p:nvPr/>
          </p:nvCxnSpPr>
          <p:spPr>
            <a:xfrm flipH="1" flipV="1">
              <a:off x="7512746" y="1630623"/>
              <a:ext cx="265355" cy="1146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54" name="TextBox 53">
            <a:extLst>
              <a:ext uri="{FF2B5EF4-FFF2-40B4-BE49-F238E27FC236}">
                <a16:creationId xmlns:a16="http://schemas.microsoft.com/office/drawing/2014/main" id="{1DF06D35-8E04-D0D2-00BA-4B54E39508F5}"/>
              </a:ext>
            </a:extLst>
          </p:cNvPr>
          <p:cNvSpPr txBox="1"/>
          <p:nvPr/>
        </p:nvSpPr>
        <p:spPr>
          <a:xfrm>
            <a:off x="9636081" y="2872217"/>
            <a:ext cx="1149009" cy="261610"/>
          </a:xfrm>
          <a:prstGeom prst="rect">
            <a:avLst/>
          </a:prstGeom>
          <a:noFill/>
        </p:spPr>
        <p:txBody>
          <a:bodyPr wrap="square" rtlCol="0">
            <a:spAutoFit/>
          </a:bodyPr>
          <a:lstStyle/>
          <a:p>
            <a:r>
              <a:rPr lang="en-US" sz="1100" dirty="0"/>
              <a:t>Shape Subspace</a:t>
            </a:r>
          </a:p>
        </p:txBody>
      </p:sp>
      <p:sp>
        <p:nvSpPr>
          <p:cNvPr id="55" name="TextBox 54">
            <a:extLst>
              <a:ext uri="{FF2B5EF4-FFF2-40B4-BE49-F238E27FC236}">
                <a16:creationId xmlns:a16="http://schemas.microsoft.com/office/drawing/2014/main" id="{2EB88585-999C-6F56-2191-E40F3F711760}"/>
              </a:ext>
            </a:extLst>
          </p:cNvPr>
          <p:cNvSpPr txBox="1"/>
          <p:nvPr/>
        </p:nvSpPr>
        <p:spPr>
          <a:xfrm>
            <a:off x="7516522" y="2543751"/>
            <a:ext cx="1149008" cy="261610"/>
          </a:xfrm>
          <a:prstGeom prst="rect">
            <a:avLst/>
          </a:prstGeom>
          <a:noFill/>
        </p:spPr>
        <p:txBody>
          <a:bodyPr wrap="square" rtlCol="0">
            <a:spAutoFit/>
          </a:bodyPr>
          <a:lstStyle/>
          <a:p>
            <a:r>
              <a:rPr lang="en-US" sz="1100" dirty="0"/>
              <a:t>Centered matrix</a:t>
            </a:r>
          </a:p>
        </p:txBody>
      </p:sp>
      <p:sp>
        <p:nvSpPr>
          <p:cNvPr id="56" name="TextBox 55">
            <a:extLst>
              <a:ext uri="{FF2B5EF4-FFF2-40B4-BE49-F238E27FC236}">
                <a16:creationId xmlns:a16="http://schemas.microsoft.com/office/drawing/2014/main" id="{85E4BDA1-4C88-1090-FC61-5B88DEF023C0}"/>
              </a:ext>
            </a:extLst>
          </p:cNvPr>
          <p:cNvSpPr txBox="1"/>
          <p:nvPr/>
        </p:nvSpPr>
        <p:spPr>
          <a:xfrm>
            <a:off x="4253788" y="3201606"/>
            <a:ext cx="1149008" cy="261610"/>
          </a:xfrm>
          <a:prstGeom prst="rect">
            <a:avLst/>
          </a:prstGeom>
          <a:noFill/>
        </p:spPr>
        <p:txBody>
          <a:bodyPr wrap="square" rtlCol="0">
            <a:spAutoFit/>
          </a:bodyPr>
          <a:lstStyle/>
          <a:p>
            <a:r>
              <a:rPr lang="en-US" sz="1100" dirty="0"/>
              <a:t>n × n patches</a:t>
            </a:r>
          </a:p>
        </p:txBody>
      </p:sp>
      <p:sp>
        <p:nvSpPr>
          <p:cNvPr id="57" name="Arrow: Right 56">
            <a:extLst>
              <a:ext uri="{FF2B5EF4-FFF2-40B4-BE49-F238E27FC236}">
                <a16:creationId xmlns:a16="http://schemas.microsoft.com/office/drawing/2014/main" id="{99F0C77A-FCC4-2D78-555C-07DA8BE5BCBC}"/>
              </a:ext>
            </a:extLst>
          </p:cNvPr>
          <p:cNvSpPr/>
          <p:nvPr/>
        </p:nvSpPr>
        <p:spPr>
          <a:xfrm>
            <a:off x="8992450" y="1986587"/>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8787FF4-659C-2080-5F56-10A600D3C4AB}"/>
              </a:ext>
            </a:extLst>
          </p:cNvPr>
          <p:cNvSpPr txBox="1"/>
          <p:nvPr/>
        </p:nvSpPr>
        <p:spPr>
          <a:xfrm>
            <a:off x="8888063" y="2489760"/>
            <a:ext cx="920326" cy="261610"/>
          </a:xfrm>
          <a:prstGeom prst="rect">
            <a:avLst/>
          </a:prstGeom>
          <a:noFill/>
        </p:spPr>
        <p:txBody>
          <a:bodyPr wrap="square" rtlCol="0">
            <a:spAutoFit/>
          </a:bodyPr>
          <a:lstStyle/>
          <a:p>
            <a:r>
              <a:rPr lang="en-US" sz="1100" dirty="0"/>
              <a:t>Apply SVD</a:t>
            </a:r>
          </a:p>
        </p:txBody>
      </p:sp>
      <p:sp>
        <p:nvSpPr>
          <p:cNvPr id="59" name="Arrow: Right 58">
            <a:extLst>
              <a:ext uri="{FF2B5EF4-FFF2-40B4-BE49-F238E27FC236}">
                <a16:creationId xmlns:a16="http://schemas.microsoft.com/office/drawing/2014/main" id="{F66A3A01-B175-A3A1-B187-5329B501DCE4}"/>
              </a:ext>
            </a:extLst>
          </p:cNvPr>
          <p:cNvSpPr/>
          <p:nvPr/>
        </p:nvSpPr>
        <p:spPr>
          <a:xfrm rot="9401849">
            <a:off x="8895827" y="3232913"/>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Arrow: Right 59">
            <a:extLst>
              <a:ext uri="{FF2B5EF4-FFF2-40B4-BE49-F238E27FC236}">
                <a16:creationId xmlns:a16="http://schemas.microsoft.com/office/drawing/2014/main" id="{11F1D9AD-FF65-0D34-61A3-A52C74B65A0B}"/>
              </a:ext>
            </a:extLst>
          </p:cNvPr>
          <p:cNvSpPr/>
          <p:nvPr/>
        </p:nvSpPr>
        <p:spPr>
          <a:xfrm rot="10800000">
            <a:off x="6069794" y="4038892"/>
            <a:ext cx="594659" cy="46850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903F9DC-57E2-CA99-E511-B2FE6F30A836}"/>
              </a:ext>
            </a:extLst>
          </p:cNvPr>
          <p:cNvSpPr txBox="1"/>
          <p:nvPr/>
        </p:nvSpPr>
        <p:spPr>
          <a:xfrm>
            <a:off x="5918908" y="4507394"/>
            <a:ext cx="1133817" cy="261610"/>
          </a:xfrm>
          <a:prstGeom prst="rect">
            <a:avLst/>
          </a:prstGeom>
          <a:noFill/>
        </p:spPr>
        <p:txBody>
          <a:bodyPr wrap="square" rtlCol="0">
            <a:spAutoFit/>
          </a:bodyPr>
          <a:lstStyle/>
          <a:p>
            <a:r>
              <a:rPr lang="en-US" sz="1100" dirty="0"/>
              <a:t>DS computation</a:t>
            </a:r>
          </a:p>
        </p:txBody>
      </p:sp>
      <p:sp>
        <p:nvSpPr>
          <p:cNvPr id="62" name="TextBox 61">
            <a:extLst>
              <a:ext uri="{FF2B5EF4-FFF2-40B4-BE49-F238E27FC236}">
                <a16:creationId xmlns:a16="http://schemas.microsoft.com/office/drawing/2014/main" id="{D46B2FA8-C47A-80F8-CDC8-645C239C790E}"/>
              </a:ext>
            </a:extLst>
          </p:cNvPr>
          <p:cNvSpPr txBox="1"/>
          <p:nvPr/>
        </p:nvSpPr>
        <p:spPr>
          <a:xfrm>
            <a:off x="8889516" y="3681299"/>
            <a:ext cx="920326" cy="261610"/>
          </a:xfrm>
          <a:prstGeom prst="rect">
            <a:avLst/>
          </a:prstGeom>
          <a:noFill/>
        </p:spPr>
        <p:txBody>
          <a:bodyPr wrap="square" rtlCol="0">
            <a:spAutoFit/>
          </a:bodyPr>
          <a:lstStyle/>
          <a:p>
            <a:r>
              <a:rPr lang="en-US" sz="1100" dirty="0"/>
              <a:t>comparing</a:t>
            </a:r>
          </a:p>
        </p:txBody>
      </p:sp>
      <p:grpSp>
        <p:nvGrpSpPr>
          <p:cNvPr id="3" name="Group 2">
            <a:extLst>
              <a:ext uri="{FF2B5EF4-FFF2-40B4-BE49-F238E27FC236}">
                <a16:creationId xmlns:a16="http://schemas.microsoft.com/office/drawing/2014/main" id="{401F074C-163E-AC02-4486-3B9003A65FDD}"/>
              </a:ext>
            </a:extLst>
          </p:cNvPr>
          <p:cNvGrpSpPr/>
          <p:nvPr/>
        </p:nvGrpSpPr>
        <p:grpSpPr>
          <a:xfrm>
            <a:off x="827756" y="1530047"/>
            <a:ext cx="1663779" cy="1411737"/>
            <a:chOff x="1691793" y="3411500"/>
            <a:chExt cx="1663779" cy="1411737"/>
          </a:xfrm>
        </p:grpSpPr>
        <p:sp>
          <p:nvSpPr>
            <p:cNvPr id="4" name="Oval 3">
              <a:extLst>
                <a:ext uri="{FF2B5EF4-FFF2-40B4-BE49-F238E27FC236}">
                  <a16:creationId xmlns:a16="http://schemas.microsoft.com/office/drawing/2014/main" id="{11783498-B716-12C0-53DC-2CAA9C74EF52}"/>
                </a:ext>
              </a:extLst>
            </p:cNvPr>
            <p:cNvSpPr/>
            <p:nvPr/>
          </p:nvSpPr>
          <p:spPr>
            <a:xfrm rot="21397765">
              <a:off x="2742303" y="402155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F0E2826-C7C5-88C6-AF1D-232DDB47066B}"/>
                </a:ext>
              </a:extLst>
            </p:cNvPr>
            <p:cNvSpPr/>
            <p:nvPr/>
          </p:nvSpPr>
          <p:spPr>
            <a:xfrm rot="21397765">
              <a:off x="3018990" y="4167068"/>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7C97134-66DE-7C8F-4119-E4F3290CC9AF}"/>
                </a:ext>
              </a:extLst>
            </p:cNvPr>
            <p:cNvSpPr/>
            <p:nvPr/>
          </p:nvSpPr>
          <p:spPr>
            <a:xfrm rot="21397765">
              <a:off x="2668417" y="4521560"/>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8BC6256-30BB-33D7-BC6F-D1A48826B385}"/>
                </a:ext>
              </a:extLst>
            </p:cNvPr>
            <p:cNvSpPr/>
            <p:nvPr/>
          </p:nvSpPr>
          <p:spPr>
            <a:xfrm rot="21397765">
              <a:off x="2723291" y="4288782"/>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6B60D18-33DC-042C-AD2A-F8F270F911B9}"/>
                </a:ext>
              </a:extLst>
            </p:cNvPr>
            <p:cNvSpPr/>
            <p:nvPr/>
          </p:nvSpPr>
          <p:spPr>
            <a:xfrm rot="21397765">
              <a:off x="2965346" y="3556421"/>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07189C2-A41D-39D9-2640-74CE36E36AB2}"/>
                </a:ext>
              </a:extLst>
            </p:cNvPr>
            <p:cNvSpPr/>
            <p:nvPr/>
          </p:nvSpPr>
          <p:spPr>
            <a:xfrm rot="21397765">
              <a:off x="3008597" y="459837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8F78D1E-8C1C-7496-5D6A-0267CF1DA540}"/>
                </a:ext>
              </a:extLst>
            </p:cNvPr>
            <p:cNvSpPr/>
            <p:nvPr/>
          </p:nvSpPr>
          <p:spPr>
            <a:xfrm rot="21397765">
              <a:off x="2617689" y="3536506"/>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E944FA1-4E55-780D-061E-74B2BE14CAD1}"/>
                </a:ext>
              </a:extLst>
            </p:cNvPr>
            <p:cNvSpPr/>
            <p:nvPr/>
          </p:nvSpPr>
          <p:spPr>
            <a:xfrm rot="21397765">
              <a:off x="3015069" y="386174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EC6B35D-8A26-BE23-DCC4-96C685BE200E}"/>
                </a:ext>
              </a:extLst>
            </p:cNvPr>
            <p:cNvSpPr/>
            <p:nvPr/>
          </p:nvSpPr>
          <p:spPr>
            <a:xfrm>
              <a:off x="1691793" y="3411500"/>
              <a:ext cx="1663779" cy="141173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5D210E7-E857-D9B8-62B9-E20587D5A4FA}"/>
                </a:ext>
              </a:extLst>
            </p:cNvPr>
            <p:cNvSpPr/>
            <p:nvPr/>
          </p:nvSpPr>
          <p:spPr>
            <a:xfrm rot="21397765">
              <a:off x="2692061" y="3781242"/>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CE42E49-2C17-AE1B-DB7F-B6A90449C86E}"/>
                </a:ext>
              </a:extLst>
            </p:cNvPr>
            <p:cNvSpPr/>
            <p:nvPr/>
          </p:nvSpPr>
          <p:spPr>
            <a:xfrm rot="21397765">
              <a:off x="2996312" y="438314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74CB714-2043-094A-21D1-B60B63172864}"/>
                </a:ext>
              </a:extLst>
            </p:cNvPr>
            <p:cNvSpPr/>
            <p:nvPr/>
          </p:nvSpPr>
          <p:spPr>
            <a:xfrm>
              <a:off x="2118928" y="402366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33DAEAE-05F0-7D34-0901-A2856712B01E}"/>
                </a:ext>
              </a:extLst>
            </p:cNvPr>
            <p:cNvSpPr/>
            <p:nvPr/>
          </p:nvSpPr>
          <p:spPr>
            <a:xfrm>
              <a:off x="2395615" y="4169181"/>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5061644-D92E-B7F5-A741-D4BF9BAD6765}"/>
                </a:ext>
              </a:extLst>
            </p:cNvPr>
            <p:cNvSpPr/>
            <p:nvPr/>
          </p:nvSpPr>
          <p:spPr>
            <a:xfrm>
              <a:off x="2045042" y="4523673"/>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7DE3D57-E9FD-CCB5-A35A-E02821FC51A4}"/>
                </a:ext>
              </a:extLst>
            </p:cNvPr>
            <p:cNvSpPr/>
            <p:nvPr/>
          </p:nvSpPr>
          <p:spPr>
            <a:xfrm>
              <a:off x="2099916" y="4290895"/>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16E0E47-BF92-338F-30AD-0A1C37DA6329}"/>
                </a:ext>
              </a:extLst>
            </p:cNvPr>
            <p:cNvSpPr/>
            <p:nvPr/>
          </p:nvSpPr>
          <p:spPr>
            <a:xfrm>
              <a:off x="2341971" y="3558534"/>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89AE45B-0B69-0A90-22A1-1042D39F6841}"/>
                </a:ext>
              </a:extLst>
            </p:cNvPr>
            <p:cNvSpPr/>
            <p:nvPr/>
          </p:nvSpPr>
          <p:spPr>
            <a:xfrm>
              <a:off x="2385222" y="460048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D9E8123-48F7-5169-1C45-75DABC780F58}"/>
                </a:ext>
              </a:extLst>
            </p:cNvPr>
            <p:cNvSpPr/>
            <p:nvPr/>
          </p:nvSpPr>
          <p:spPr>
            <a:xfrm>
              <a:off x="1994314" y="3538619"/>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280B4B4-BEBD-CB79-E8AD-38CB465C5572}"/>
                </a:ext>
              </a:extLst>
            </p:cNvPr>
            <p:cNvSpPr/>
            <p:nvPr/>
          </p:nvSpPr>
          <p:spPr>
            <a:xfrm>
              <a:off x="2391694" y="386385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0F130EA-2B6E-4908-ECC6-DD8BD56BE29A}"/>
                </a:ext>
              </a:extLst>
            </p:cNvPr>
            <p:cNvSpPr/>
            <p:nvPr/>
          </p:nvSpPr>
          <p:spPr>
            <a:xfrm>
              <a:off x="2068686" y="3783355"/>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11BC0E7-E1B0-154B-9F0B-619DE95A26EE}"/>
                </a:ext>
              </a:extLst>
            </p:cNvPr>
            <p:cNvSpPr/>
            <p:nvPr/>
          </p:nvSpPr>
          <p:spPr>
            <a:xfrm>
              <a:off x="2372937" y="4385257"/>
              <a:ext cx="73886" cy="68899"/>
            </a:xfrm>
            <a:prstGeom prst="ellipse">
              <a:avLst/>
            </a:prstGeom>
            <a:solidFill>
              <a:srgbClr val="00007F"/>
            </a:solidFill>
            <a:ln>
              <a:solidFill>
                <a:srgbClr val="0000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05632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FF66-C2CB-C462-B000-34B16BFC2449}"/>
              </a:ext>
            </a:extLst>
          </p:cNvPr>
          <p:cNvSpPr>
            <a:spLocks noGrp="1"/>
          </p:cNvSpPr>
          <p:nvPr>
            <p:ph type="title"/>
          </p:nvPr>
        </p:nvSpPr>
        <p:spPr/>
        <p:txBody>
          <a:bodyPr>
            <a:normAutofit/>
          </a:bodyPr>
          <a:lstStyle/>
          <a:p>
            <a:r>
              <a:rPr lang="en-US" sz="4000" dirty="0">
                <a:latin typeface="游ゴシック (Body)"/>
              </a:rPr>
              <a:t>Experiment</a:t>
            </a:r>
            <a:endParaRPr lang="en-US" sz="4000" dirty="0"/>
          </a:p>
        </p:txBody>
      </p:sp>
      <p:sp>
        <p:nvSpPr>
          <p:cNvPr id="3" name="Content Placeholder 2">
            <a:extLst>
              <a:ext uri="{FF2B5EF4-FFF2-40B4-BE49-F238E27FC236}">
                <a16:creationId xmlns:a16="http://schemas.microsoft.com/office/drawing/2014/main" id="{234B135E-5625-89F7-B729-452C219E31DE}"/>
              </a:ext>
            </a:extLst>
          </p:cNvPr>
          <p:cNvSpPr>
            <a:spLocks noGrp="1"/>
          </p:cNvSpPr>
          <p:nvPr>
            <p:ph idx="1"/>
          </p:nvPr>
        </p:nvSpPr>
        <p:spPr>
          <a:xfrm>
            <a:off x="225910" y="1690688"/>
            <a:ext cx="6790467" cy="4351338"/>
          </a:xfrm>
        </p:spPr>
        <p:txBody>
          <a:bodyPr/>
          <a:lstStyle/>
          <a:p>
            <a:pPr marL="514350" indent="-514350">
              <a:buFont typeface="+mj-lt"/>
              <a:buAutoNum type="arabicPeriod"/>
            </a:pPr>
            <a:r>
              <a:rPr lang="en-US" dirty="0"/>
              <a:t>Generation of synthetic floor.</a:t>
            </a:r>
          </a:p>
          <a:p>
            <a:pPr lvl="1"/>
            <a:r>
              <a:rPr lang="en-US" sz="2000" dirty="0"/>
              <a:t>Configuration:</a:t>
            </a:r>
          </a:p>
          <a:p>
            <a:pPr lvl="2"/>
            <a:r>
              <a:rPr lang="en-US" sz="1600" dirty="0"/>
              <a:t>The synthetic floor is defined by dimensions of 50 × 50 where each point is spaced exactly one centimeter apart</a:t>
            </a:r>
          </a:p>
          <a:p>
            <a:pPr lvl="2"/>
            <a:r>
              <a:rPr lang="en-US" sz="1600" dirty="0"/>
              <a:t>Total points 10,000</a:t>
            </a:r>
          </a:p>
          <a:p>
            <a:pPr lvl="2"/>
            <a:endParaRPr lang="en-US" dirty="0"/>
          </a:p>
          <a:p>
            <a:pPr lvl="2"/>
            <a:endParaRPr lang="en-US" dirty="0"/>
          </a:p>
        </p:txBody>
      </p:sp>
      <p:sp>
        <p:nvSpPr>
          <p:cNvPr id="4" name="Slide Number Placeholder 3">
            <a:extLst>
              <a:ext uri="{FF2B5EF4-FFF2-40B4-BE49-F238E27FC236}">
                <a16:creationId xmlns:a16="http://schemas.microsoft.com/office/drawing/2014/main" id="{496917FB-859F-EB19-A169-1ACAD93DF825}"/>
              </a:ext>
            </a:extLst>
          </p:cNvPr>
          <p:cNvSpPr>
            <a:spLocks noGrp="1"/>
          </p:cNvSpPr>
          <p:nvPr>
            <p:ph type="sldNum" sz="quarter" idx="12"/>
          </p:nvPr>
        </p:nvSpPr>
        <p:spPr/>
        <p:txBody>
          <a:bodyPr/>
          <a:lstStyle/>
          <a:p>
            <a:fld id="{DADAC235-C9E6-487D-8BF0-E0D19F810E81}" type="slidenum">
              <a:rPr lang="en-US" smtClean="0"/>
              <a:t>10</a:t>
            </a:fld>
            <a:endParaRPr lang="en-US"/>
          </a:p>
        </p:txBody>
      </p:sp>
      <p:pic>
        <p:nvPicPr>
          <p:cNvPr id="6" name="Picture 5">
            <a:extLst>
              <a:ext uri="{FF2B5EF4-FFF2-40B4-BE49-F238E27FC236}">
                <a16:creationId xmlns:a16="http://schemas.microsoft.com/office/drawing/2014/main" id="{F81036BD-73D3-604F-1D77-CB5F32D5B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5144" y="1529323"/>
            <a:ext cx="4899889" cy="2580098"/>
          </a:xfrm>
          <a:prstGeom prst="rect">
            <a:avLst/>
          </a:prstGeom>
        </p:spPr>
      </p:pic>
    </p:spTree>
    <p:extLst>
      <p:ext uri="{BB962C8B-B14F-4D97-AF65-F5344CB8AC3E}">
        <p14:creationId xmlns:p14="http://schemas.microsoft.com/office/powerpoint/2010/main" val="2204482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B1FB-9127-50C0-CA02-9BF1ACC37D40}"/>
              </a:ext>
            </a:extLst>
          </p:cNvPr>
          <p:cNvSpPr>
            <a:spLocks noGrp="1"/>
          </p:cNvSpPr>
          <p:nvPr>
            <p:ph type="title"/>
          </p:nvPr>
        </p:nvSpPr>
        <p:spPr/>
        <p:txBody>
          <a:bodyPr>
            <a:normAutofit/>
          </a:bodyPr>
          <a:lstStyle/>
          <a:p>
            <a:r>
              <a:rPr lang="en-US" sz="4000" dirty="0">
                <a:latin typeface="游ゴシック (Body)"/>
              </a:rPr>
              <a:t>Experiment</a:t>
            </a:r>
            <a:endParaRPr lang="en-US" sz="4000" dirty="0"/>
          </a:p>
        </p:txBody>
      </p:sp>
      <p:sp>
        <p:nvSpPr>
          <p:cNvPr id="3" name="Content Placeholder 2">
            <a:extLst>
              <a:ext uri="{FF2B5EF4-FFF2-40B4-BE49-F238E27FC236}">
                <a16:creationId xmlns:a16="http://schemas.microsoft.com/office/drawing/2014/main" id="{11AEED9F-3795-0F42-0119-AD29F3669F3E}"/>
              </a:ext>
            </a:extLst>
          </p:cNvPr>
          <p:cNvSpPr>
            <a:spLocks noGrp="1"/>
          </p:cNvSpPr>
          <p:nvPr>
            <p:ph idx="1"/>
          </p:nvPr>
        </p:nvSpPr>
        <p:spPr/>
        <p:txBody>
          <a:bodyPr/>
          <a:lstStyle/>
          <a:p>
            <a:pPr marL="914400" lvl="1" indent="-457200">
              <a:buFont typeface="+mj-lt"/>
              <a:buAutoNum type="arabicPeriod" startAt="2"/>
            </a:pPr>
            <a:r>
              <a:rPr lang="en-US" sz="2000" dirty="0"/>
              <a:t>Generating predefined or random bumps</a:t>
            </a:r>
          </a:p>
          <a:p>
            <a:endParaRPr lang="en-US" dirty="0"/>
          </a:p>
        </p:txBody>
      </p:sp>
      <p:sp>
        <p:nvSpPr>
          <p:cNvPr id="4" name="Slide Number Placeholder 3">
            <a:extLst>
              <a:ext uri="{FF2B5EF4-FFF2-40B4-BE49-F238E27FC236}">
                <a16:creationId xmlns:a16="http://schemas.microsoft.com/office/drawing/2014/main" id="{E7A808F3-0446-051D-9822-3E6232D79C0A}"/>
              </a:ext>
            </a:extLst>
          </p:cNvPr>
          <p:cNvSpPr>
            <a:spLocks noGrp="1"/>
          </p:cNvSpPr>
          <p:nvPr>
            <p:ph type="sldNum" sz="quarter" idx="12"/>
          </p:nvPr>
        </p:nvSpPr>
        <p:spPr/>
        <p:txBody>
          <a:bodyPr/>
          <a:lstStyle/>
          <a:p>
            <a:fld id="{DADAC235-C9E6-487D-8BF0-E0D19F810E81}" type="slidenum">
              <a:rPr lang="en-US" smtClean="0"/>
              <a:t>11</a:t>
            </a:fld>
            <a:endParaRPr lang="en-US"/>
          </a:p>
        </p:txBody>
      </p:sp>
      <p:pic>
        <p:nvPicPr>
          <p:cNvPr id="7" name="Picture 6">
            <a:extLst>
              <a:ext uri="{FF2B5EF4-FFF2-40B4-BE49-F238E27FC236}">
                <a16:creationId xmlns:a16="http://schemas.microsoft.com/office/drawing/2014/main" id="{A3D88A25-3DD3-BD90-BD09-49DB47C67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60" y="2620239"/>
            <a:ext cx="2555240" cy="1345494"/>
          </a:xfrm>
          <a:prstGeom prst="rect">
            <a:avLst/>
          </a:prstGeom>
        </p:spPr>
      </p:pic>
      <p:pic>
        <p:nvPicPr>
          <p:cNvPr id="9" name="Picture 8">
            <a:extLst>
              <a:ext uri="{FF2B5EF4-FFF2-40B4-BE49-F238E27FC236}">
                <a16:creationId xmlns:a16="http://schemas.microsoft.com/office/drawing/2014/main" id="{90E12CCB-0DE3-771A-9376-BE9546A73A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2494517"/>
            <a:ext cx="2794000" cy="1471216"/>
          </a:xfrm>
          <a:prstGeom prst="rect">
            <a:avLst/>
          </a:prstGeom>
        </p:spPr>
      </p:pic>
      <p:pic>
        <p:nvPicPr>
          <p:cNvPr id="11" name="Picture 10">
            <a:extLst>
              <a:ext uri="{FF2B5EF4-FFF2-40B4-BE49-F238E27FC236}">
                <a16:creationId xmlns:a16="http://schemas.microsoft.com/office/drawing/2014/main" id="{0E590832-8D2D-CB1A-0A09-8E93F051C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520" y="2507892"/>
            <a:ext cx="2743200" cy="1444466"/>
          </a:xfrm>
          <a:prstGeom prst="rect">
            <a:avLst/>
          </a:prstGeom>
        </p:spPr>
      </p:pic>
      <p:pic>
        <p:nvPicPr>
          <p:cNvPr id="13" name="Picture 12">
            <a:extLst>
              <a:ext uri="{FF2B5EF4-FFF2-40B4-BE49-F238E27FC236}">
                <a16:creationId xmlns:a16="http://schemas.microsoft.com/office/drawing/2014/main" id="{24400E41-41BB-F21B-FA15-F87B127BA1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6240" y="2521267"/>
            <a:ext cx="2743200" cy="1444467"/>
          </a:xfrm>
          <a:prstGeom prst="rect">
            <a:avLst/>
          </a:prstGeom>
        </p:spPr>
      </p:pic>
      <p:pic>
        <p:nvPicPr>
          <p:cNvPr id="15" name="Picture 14">
            <a:extLst>
              <a:ext uri="{FF2B5EF4-FFF2-40B4-BE49-F238E27FC236}">
                <a16:creationId xmlns:a16="http://schemas.microsoft.com/office/drawing/2014/main" id="{C05A73A6-E24B-9AE3-FE6A-98A5D3F0E2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678" y="4456263"/>
            <a:ext cx="2705518" cy="1424625"/>
          </a:xfrm>
          <a:prstGeom prst="rect">
            <a:avLst/>
          </a:prstGeom>
        </p:spPr>
      </p:pic>
      <p:pic>
        <p:nvPicPr>
          <p:cNvPr id="17" name="Picture 16">
            <a:extLst>
              <a:ext uri="{FF2B5EF4-FFF2-40B4-BE49-F238E27FC236}">
                <a16:creationId xmlns:a16="http://schemas.microsoft.com/office/drawing/2014/main" id="{701EEF74-0DE4-F38E-C787-1E150C9877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8000" y="4439097"/>
            <a:ext cx="2794000" cy="1471216"/>
          </a:xfrm>
          <a:prstGeom prst="rect">
            <a:avLst/>
          </a:prstGeom>
        </p:spPr>
      </p:pic>
      <p:pic>
        <p:nvPicPr>
          <p:cNvPr id="19" name="Picture 18">
            <a:extLst>
              <a:ext uri="{FF2B5EF4-FFF2-40B4-BE49-F238E27FC236}">
                <a16:creationId xmlns:a16="http://schemas.microsoft.com/office/drawing/2014/main" id="{A3BEFA41-7288-8ED6-06D5-A828828C179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97600" y="4456263"/>
            <a:ext cx="2743203" cy="1444468"/>
          </a:xfrm>
          <a:prstGeom prst="rect">
            <a:avLst/>
          </a:prstGeom>
        </p:spPr>
      </p:pic>
      <p:pic>
        <p:nvPicPr>
          <p:cNvPr id="21" name="Picture 20">
            <a:extLst>
              <a:ext uri="{FF2B5EF4-FFF2-40B4-BE49-F238E27FC236}">
                <a16:creationId xmlns:a16="http://schemas.microsoft.com/office/drawing/2014/main" id="{8181386A-F927-7F9D-C151-E1A1873784D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70997" y="4447121"/>
            <a:ext cx="2722880" cy="1433767"/>
          </a:xfrm>
          <a:prstGeom prst="rect">
            <a:avLst/>
          </a:prstGeom>
        </p:spPr>
      </p:pic>
      <p:sp>
        <p:nvSpPr>
          <p:cNvPr id="22" name="TextBox 21">
            <a:extLst>
              <a:ext uri="{FF2B5EF4-FFF2-40B4-BE49-F238E27FC236}">
                <a16:creationId xmlns:a16="http://schemas.microsoft.com/office/drawing/2014/main" id="{E5BA4CBF-5AB7-2C41-46EF-CA9F3FF5482F}"/>
              </a:ext>
            </a:extLst>
          </p:cNvPr>
          <p:cNvSpPr txBox="1"/>
          <p:nvPr/>
        </p:nvSpPr>
        <p:spPr>
          <a:xfrm>
            <a:off x="587090" y="3994467"/>
            <a:ext cx="1706179" cy="369332"/>
          </a:xfrm>
          <a:prstGeom prst="rect">
            <a:avLst/>
          </a:prstGeom>
          <a:noFill/>
        </p:spPr>
        <p:txBody>
          <a:bodyPr wrap="square" rtlCol="0">
            <a:spAutoFit/>
          </a:bodyPr>
          <a:lstStyle/>
          <a:p>
            <a:pPr algn="ctr"/>
            <a:r>
              <a:rPr lang="en-US" dirty="0"/>
              <a:t>Single</a:t>
            </a:r>
            <a:endParaRPr lang="en-US" baseline="-25000" dirty="0"/>
          </a:p>
        </p:txBody>
      </p:sp>
      <p:sp>
        <p:nvSpPr>
          <p:cNvPr id="23" name="TextBox 22">
            <a:extLst>
              <a:ext uri="{FF2B5EF4-FFF2-40B4-BE49-F238E27FC236}">
                <a16:creationId xmlns:a16="http://schemas.microsoft.com/office/drawing/2014/main" id="{5F0DCFD0-AFD3-49E8-F00F-6D83EF690486}"/>
              </a:ext>
            </a:extLst>
          </p:cNvPr>
          <p:cNvSpPr txBox="1"/>
          <p:nvPr/>
        </p:nvSpPr>
        <p:spPr>
          <a:xfrm>
            <a:off x="3591910" y="3987781"/>
            <a:ext cx="1706179" cy="369332"/>
          </a:xfrm>
          <a:prstGeom prst="rect">
            <a:avLst/>
          </a:prstGeom>
          <a:noFill/>
        </p:spPr>
        <p:txBody>
          <a:bodyPr wrap="square" rtlCol="0">
            <a:spAutoFit/>
          </a:bodyPr>
          <a:lstStyle/>
          <a:p>
            <a:pPr algn="ctr"/>
            <a:r>
              <a:rPr lang="en-US" dirty="0"/>
              <a:t>Double</a:t>
            </a:r>
            <a:endParaRPr lang="en-US" baseline="-25000" dirty="0"/>
          </a:p>
        </p:txBody>
      </p:sp>
      <p:sp>
        <p:nvSpPr>
          <p:cNvPr id="24" name="TextBox 23">
            <a:extLst>
              <a:ext uri="{FF2B5EF4-FFF2-40B4-BE49-F238E27FC236}">
                <a16:creationId xmlns:a16="http://schemas.microsoft.com/office/drawing/2014/main" id="{DFE3942C-DAA1-1846-DA9A-77FCE8C22A58}"/>
              </a:ext>
            </a:extLst>
          </p:cNvPr>
          <p:cNvSpPr txBox="1"/>
          <p:nvPr/>
        </p:nvSpPr>
        <p:spPr>
          <a:xfrm>
            <a:off x="6711030" y="3987781"/>
            <a:ext cx="1706179" cy="369332"/>
          </a:xfrm>
          <a:prstGeom prst="rect">
            <a:avLst/>
          </a:prstGeom>
          <a:noFill/>
        </p:spPr>
        <p:txBody>
          <a:bodyPr wrap="square" rtlCol="0">
            <a:spAutoFit/>
          </a:bodyPr>
          <a:lstStyle/>
          <a:p>
            <a:pPr algn="ctr"/>
            <a:r>
              <a:rPr lang="en-US" dirty="0"/>
              <a:t>Ridge</a:t>
            </a:r>
            <a:endParaRPr lang="en-US" baseline="-25000" dirty="0"/>
          </a:p>
        </p:txBody>
      </p:sp>
      <p:sp>
        <p:nvSpPr>
          <p:cNvPr id="25" name="TextBox 24">
            <a:extLst>
              <a:ext uri="{FF2B5EF4-FFF2-40B4-BE49-F238E27FC236}">
                <a16:creationId xmlns:a16="http://schemas.microsoft.com/office/drawing/2014/main" id="{BFECE32A-DB99-2E82-7A3E-D76C26E890B7}"/>
              </a:ext>
            </a:extLst>
          </p:cNvPr>
          <p:cNvSpPr txBox="1"/>
          <p:nvPr/>
        </p:nvSpPr>
        <p:spPr>
          <a:xfrm>
            <a:off x="9937474" y="4001294"/>
            <a:ext cx="1706179" cy="369332"/>
          </a:xfrm>
          <a:prstGeom prst="rect">
            <a:avLst/>
          </a:prstGeom>
          <a:noFill/>
        </p:spPr>
        <p:txBody>
          <a:bodyPr wrap="square" rtlCol="0">
            <a:spAutoFit/>
          </a:bodyPr>
          <a:lstStyle/>
          <a:p>
            <a:pPr algn="ctr"/>
            <a:r>
              <a:rPr lang="en-US" dirty="0"/>
              <a:t>Diagonal</a:t>
            </a:r>
            <a:endParaRPr lang="en-US" baseline="-25000" dirty="0"/>
          </a:p>
        </p:txBody>
      </p:sp>
      <p:sp>
        <p:nvSpPr>
          <p:cNvPr id="26" name="TextBox 25">
            <a:extLst>
              <a:ext uri="{FF2B5EF4-FFF2-40B4-BE49-F238E27FC236}">
                <a16:creationId xmlns:a16="http://schemas.microsoft.com/office/drawing/2014/main" id="{84062FCC-7EE7-19BD-E051-EBF1B5C97D2A}"/>
              </a:ext>
            </a:extLst>
          </p:cNvPr>
          <p:cNvSpPr txBox="1"/>
          <p:nvPr/>
        </p:nvSpPr>
        <p:spPr>
          <a:xfrm>
            <a:off x="548347" y="5987001"/>
            <a:ext cx="1706179" cy="369332"/>
          </a:xfrm>
          <a:prstGeom prst="rect">
            <a:avLst/>
          </a:prstGeom>
          <a:noFill/>
        </p:spPr>
        <p:txBody>
          <a:bodyPr wrap="square" rtlCol="0">
            <a:spAutoFit/>
          </a:bodyPr>
          <a:lstStyle/>
          <a:p>
            <a:pPr algn="ctr"/>
            <a:r>
              <a:rPr lang="en-US" dirty="0"/>
              <a:t>Corners</a:t>
            </a:r>
            <a:endParaRPr lang="en-US" baseline="-25000" dirty="0"/>
          </a:p>
        </p:txBody>
      </p:sp>
      <p:sp>
        <p:nvSpPr>
          <p:cNvPr id="27" name="TextBox 26">
            <a:extLst>
              <a:ext uri="{FF2B5EF4-FFF2-40B4-BE49-F238E27FC236}">
                <a16:creationId xmlns:a16="http://schemas.microsoft.com/office/drawing/2014/main" id="{A1503FA2-62D1-D4A5-3ABE-7FC5A74C2C52}"/>
              </a:ext>
            </a:extLst>
          </p:cNvPr>
          <p:cNvSpPr txBox="1"/>
          <p:nvPr/>
        </p:nvSpPr>
        <p:spPr>
          <a:xfrm>
            <a:off x="3538918" y="5987001"/>
            <a:ext cx="1706179" cy="369332"/>
          </a:xfrm>
          <a:prstGeom prst="rect">
            <a:avLst/>
          </a:prstGeom>
          <a:noFill/>
        </p:spPr>
        <p:txBody>
          <a:bodyPr wrap="square" rtlCol="0">
            <a:spAutoFit/>
          </a:bodyPr>
          <a:lstStyle/>
          <a:p>
            <a:pPr algn="ctr"/>
            <a:r>
              <a:rPr lang="en-US" dirty="0"/>
              <a:t>Triangle</a:t>
            </a:r>
            <a:endParaRPr lang="en-US" baseline="-25000" dirty="0"/>
          </a:p>
        </p:txBody>
      </p:sp>
      <p:sp>
        <p:nvSpPr>
          <p:cNvPr id="28" name="TextBox 27">
            <a:extLst>
              <a:ext uri="{FF2B5EF4-FFF2-40B4-BE49-F238E27FC236}">
                <a16:creationId xmlns:a16="http://schemas.microsoft.com/office/drawing/2014/main" id="{05F2A226-B3AD-1B55-105B-D3AFB344426F}"/>
              </a:ext>
            </a:extLst>
          </p:cNvPr>
          <p:cNvSpPr txBox="1"/>
          <p:nvPr/>
        </p:nvSpPr>
        <p:spPr>
          <a:xfrm>
            <a:off x="6711029" y="5945747"/>
            <a:ext cx="1706179" cy="369332"/>
          </a:xfrm>
          <a:prstGeom prst="rect">
            <a:avLst/>
          </a:prstGeom>
          <a:noFill/>
        </p:spPr>
        <p:txBody>
          <a:bodyPr wrap="square" rtlCol="0">
            <a:spAutoFit/>
          </a:bodyPr>
          <a:lstStyle/>
          <a:p>
            <a:pPr algn="ctr"/>
            <a:r>
              <a:rPr lang="en-US" dirty="0"/>
              <a:t>Circle</a:t>
            </a:r>
            <a:endParaRPr lang="en-US" baseline="-25000" dirty="0"/>
          </a:p>
        </p:txBody>
      </p:sp>
      <p:sp>
        <p:nvSpPr>
          <p:cNvPr id="29" name="TextBox 28">
            <a:extLst>
              <a:ext uri="{FF2B5EF4-FFF2-40B4-BE49-F238E27FC236}">
                <a16:creationId xmlns:a16="http://schemas.microsoft.com/office/drawing/2014/main" id="{A537F9B4-01DA-1609-E2FC-2C347073C325}"/>
              </a:ext>
            </a:extLst>
          </p:cNvPr>
          <p:cNvSpPr txBox="1"/>
          <p:nvPr/>
        </p:nvSpPr>
        <p:spPr>
          <a:xfrm>
            <a:off x="9883140" y="5929310"/>
            <a:ext cx="1706179" cy="369332"/>
          </a:xfrm>
          <a:prstGeom prst="rect">
            <a:avLst/>
          </a:prstGeom>
          <a:noFill/>
        </p:spPr>
        <p:txBody>
          <a:bodyPr wrap="square" rtlCol="0">
            <a:spAutoFit/>
          </a:bodyPr>
          <a:lstStyle/>
          <a:p>
            <a:pPr algn="ctr"/>
            <a:r>
              <a:rPr lang="en-US" dirty="0"/>
              <a:t>Random</a:t>
            </a:r>
            <a:endParaRPr lang="en-US" baseline="-25000" dirty="0"/>
          </a:p>
        </p:txBody>
      </p:sp>
    </p:spTree>
    <p:extLst>
      <p:ext uri="{BB962C8B-B14F-4D97-AF65-F5344CB8AC3E}">
        <p14:creationId xmlns:p14="http://schemas.microsoft.com/office/powerpoint/2010/main" val="1847486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4E2B0-A50E-557F-F92D-C84060B5B7AE}"/>
              </a:ext>
            </a:extLst>
          </p:cNvPr>
          <p:cNvSpPr>
            <a:spLocks noGrp="1"/>
          </p:cNvSpPr>
          <p:nvPr>
            <p:ph type="title"/>
          </p:nvPr>
        </p:nvSpPr>
        <p:spPr/>
        <p:txBody>
          <a:bodyPr/>
          <a:lstStyle/>
          <a:p>
            <a:r>
              <a:rPr lang="en-US" dirty="0">
                <a:latin typeface="游ゴシック (Body)"/>
              </a:rPr>
              <a:t>Experiment</a:t>
            </a:r>
            <a:endParaRPr lang="en-US" dirty="0"/>
          </a:p>
        </p:txBody>
      </p:sp>
      <p:sp>
        <p:nvSpPr>
          <p:cNvPr id="4" name="Slide Number Placeholder 3">
            <a:extLst>
              <a:ext uri="{FF2B5EF4-FFF2-40B4-BE49-F238E27FC236}">
                <a16:creationId xmlns:a16="http://schemas.microsoft.com/office/drawing/2014/main" id="{114AF3D3-8347-B3CF-423D-AC2910AB8C9A}"/>
              </a:ext>
            </a:extLst>
          </p:cNvPr>
          <p:cNvSpPr>
            <a:spLocks noGrp="1"/>
          </p:cNvSpPr>
          <p:nvPr>
            <p:ph type="sldNum" sz="quarter" idx="12"/>
          </p:nvPr>
        </p:nvSpPr>
        <p:spPr/>
        <p:txBody>
          <a:bodyPr/>
          <a:lstStyle/>
          <a:p>
            <a:fld id="{DADAC235-C9E6-487D-8BF0-E0D19F810E81}" type="slidenum">
              <a:rPr lang="en-US" smtClean="0"/>
              <a:t>12</a:t>
            </a:fld>
            <a:endParaRPr lang="en-US"/>
          </a:p>
        </p:txBody>
      </p:sp>
      <p:sp>
        <p:nvSpPr>
          <p:cNvPr id="5" name="Slide Number Placeholder 3">
            <a:extLst>
              <a:ext uri="{FF2B5EF4-FFF2-40B4-BE49-F238E27FC236}">
                <a16:creationId xmlns:a16="http://schemas.microsoft.com/office/drawing/2014/main" id="{93562FF7-7A18-1593-C4C8-4998ED975074}"/>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DAC235-C9E6-487D-8BF0-E0D19F810E81}" type="slidenum">
              <a:rPr lang="en-US" smtClean="0"/>
              <a:pPr/>
              <a:t>12</a:t>
            </a:fld>
            <a:endParaRPr lang="en-US"/>
          </a:p>
        </p:txBody>
      </p:sp>
      <p:sp>
        <p:nvSpPr>
          <p:cNvPr id="14" name="TextBox 13">
            <a:extLst>
              <a:ext uri="{FF2B5EF4-FFF2-40B4-BE49-F238E27FC236}">
                <a16:creationId xmlns:a16="http://schemas.microsoft.com/office/drawing/2014/main" id="{0026BA19-8963-7735-35E4-B5AC6823BF22}"/>
              </a:ext>
            </a:extLst>
          </p:cNvPr>
          <p:cNvSpPr txBox="1"/>
          <p:nvPr/>
        </p:nvSpPr>
        <p:spPr>
          <a:xfrm>
            <a:off x="1383156" y="3677329"/>
            <a:ext cx="1706179" cy="369332"/>
          </a:xfrm>
          <a:prstGeom prst="rect">
            <a:avLst/>
          </a:prstGeom>
          <a:noFill/>
        </p:spPr>
        <p:txBody>
          <a:bodyPr wrap="square" rtlCol="0">
            <a:spAutoFit/>
          </a:bodyPr>
          <a:lstStyle/>
          <a:p>
            <a:pPr algn="ctr"/>
            <a:r>
              <a:rPr lang="en-US" dirty="0"/>
              <a:t>Single</a:t>
            </a:r>
            <a:endParaRPr lang="en-US" baseline="-25000" dirty="0"/>
          </a:p>
        </p:txBody>
      </p:sp>
      <p:pic>
        <p:nvPicPr>
          <p:cNvPr id="23" name="Picture 22">
            <a:extLst>
              <a:ext uri="{FF2B5EF4-FFF2-40B4-BE49-F238E27FC236}">
                <a16:creationId xmlns:a16="http://schemas.microsoft.com/office/drawing/2014/main" id="{6AD42783-C1F3-B700-8FD6-770BA448B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186" y="1922503"/>
            <a:ext cx="3717928" cy="1539216"/>
          </a:xfrm>
          <a:prstGeom prst="rect">
            <a:avLst/>
          </a:prstGeom>
        </p:spPr>
      </p:pic>
      <p:pic>
        <p:nvPicPr>
          <p:cNvPr id="25" name="Picture 24">
            <a:extLst>
              <a:ext uri="{FF2B5EF4-FFF2-40B4-BE49-F238E27FC236}">
                <a16:creationId xmlns:a16="http://schemas.microsoft.com/office/drawing/2014/main" id="{FFD9E411-A1EE-D2F7-FBA8-2D223ED1A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1705" y="1922503"/>
            <a:ext cx="3964719" cy="1641387"/>
          </a:xfrm>
          <a:prstGeom prst="rect">
            <a:avLst/>
          </a:prstGeom>
        </p:spPr>
      </p:pic>
      <p:sp>
        <p:nvSpPr>
          <p:cNvPr id="26" name="TextBox 25">
            <a:extLst>
              <a:ext uri="{FF2B5EF4-FFF2-40B4-BE49-F238E27FC236}">
                <a16:creationId xmlns:a16="http://schemas.microsoft.com/office/drawing/2014/main" id="{69E6BAA8-9341-BD39-A7CC-C3CA5B73821F}"/>
              </a:ext>
            </a:extLst>
          </p:cNvPr>
          <p:cNvSpPr txBox="1"/>
          <p:nvPr/>
        </p:nvSpPr>
        <p:spPr>
          <a:xfrm>
            <a:off x="6200974" y="3677329"/>
            <a:ext cx="1706179" cy="369332"/>
          </a:xfrm>
          <a:prstGeom prst="rect">
            <a:avLst/>
          </a:prstGeom>
          <a:noFill/>
        </p:spPr>
        <p:txBody>
          <a:bodyPr wrap="square" rtlCol="0">
            <a:spAutoFit/>
          </a:bodyPr>
          <a:lstStyle/>
          <a:p>
            <a:pPr algn="ctr"/>
            <a:r>
              <a:rPr lang="en-US" dirty="0"/>
              <a:t>Circle</a:t>
            </a:r>
            <a:endParaRPr lang="en-US" baseline="-25000" dirty="0"/>
          </a:p>
        </p:txBody>
      </p:sp>
      <p:pic>
        <p:nvPicPr>
          <p:cNvPr id="28" name="Picture 27">
            <a:extLst>
              <a:ext uri="{FF2B5EF4-FFF2-40B4-BE49-F238E27FC236}">
                <a16:creationId xmlns:a16="http://schemas.microsoft.com/office/drawing/2014/main" id="{7281C0C6-5185-3767-4AED-E222065684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186" y="4262271"/>
            <a:ext cx="3251779" cy="1346231"/>
          </a:xfrm>
          <a:prstGeom prst="rect">
            <a:avLst/>
          </a:prstGeom>
        </p:spPr>
      </p:pic>
      <p:sp>
        <p:nvSpPr>
          <p:cNvPr id="29" name="TextBox 28">
            <a:extLst>
              <a:ext uri="{FF2B5EF4-FFF2-40B4-BE49-F238E27FC236}">
                <a16:creationId xmlns:a16="http://schemas.microsoft.com/office/drawing/2014/main" id="{F32C1903-ED92-49E9-0380-C3FB9DB305CA}"/>
              </a:ext>
            </a:extLst>
          </p:cNvPr>
          <p:cNvSpPr txBox="1"/>
          <p:nvPr/>
        </p:nvSpPr>
        <p:spPr>
          <a:xfrm>
            <a:off x="1339985" y="5608502"/>
            <a:ext cx="1706179" cy="369332"/>
          </a:xfrm>
          <a:prstGeom prst="rect">
            <a:avLst/>
          </a:prstGeom>
          <a:noFill/>
        </p:spPr>
        <p:txBody>
          <a:bodyPr wrap="square" rtlCol="0">
            <a:spAutoFit/>
          </a:bodyPr>
          <a:lstStyle/>
          <a:p>
            <a:pPr algn="ctr"/>
            <a:r>
              <a:rPr lang="en-US" dirty="0"/>
              <a:t>Corners</a:t>
            </a:r>
            <a:endParaRPr lang="en-US" baseline="-25000" dirty="0"/>
          </a:p>
        </p:txBody>
      </p:sp>
      <p:pic>
        <p:nvPicPr>
          <p:cNvPr id="31" name="Picture 30">
            <a:extLst>
              <a:ext uri="{FF2B5EF4-FFF2-40B4-BE49-F238E27FC236}">
                <a16:creationId xmlns:a16="http://schemas.microsoft.com/office/drawing/2014/main" id="{DFE107DC-416B-576B-3E13-2B06345501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1705" y="4143406"/>
            <a:ext cx="3538895" cy="1465096"/>
          </a:xfrm>
          <a:prstGeom prst="rect">
            <a:avLst/>
          </a:prstGeom>
        </p:spPr>
      </p:pic>
      <p:sp>
        <p:nvSpPr>
          <p:cNvPr id="32" name="TextBox 31">
            <a:extLst>
              <a:ext uri="{FF2B5EF4-FFF2-40B4-BE49-F238E27FC236}">
                <a16:creationId xmlns:a16="http://schemas.microsoft.com/office/drawing/2014/main" id="{F3CB64D9-60F8-AB14-1DC5-98FD04C82621}"/>
              </a:ext>
            </a:extLst>
          </p:cNvPr>
          <p:cNvSpPr txBox="1"/>
          <p:nvPr/>
        </p:nvSpPr>
        <p:spPr>
          <a:xfrm>
            <a:off x="6096000" y="5793168"/>
            <a:ext cx="1706179" cy="369332"/>
          </a:xfrm>
          <a:prstGeom prst="rect">
            <a:avLst/>
          </a:prstGeom>
          <a:noFill/>
        </p:spPr>
        <p:txBody>
          <a:bodyPr wrap="square" rtlCol="0">
            <a:spAutoFit/>
          </a:bodyPr>
          <a:lstStyle/>
          <a:p>
            <a:pPr algn="ctr"/>
            <a:r>
              <a:rPr lang="en-US" dirty="0"/>
              <a:t>Diagonal</a:t>
            </a:r>
            <a:endParaRPr lang="en-US" baseline="-25000" dirty="0"/>
          </a:p>
        </p:txBody>
      </p:sp>
    </p:spTree>
    <p:extLst>
      <p:ext uri="{BB962C8B-B14F-4D97-AF65-F5344CB8AC3E}">
        <p14:creationId xmlns:p14="http://schemas.microsoft.com/office/powerpoint/2010/main" val="4043579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6C370-DFBD-2C6B-780F-B249F756BED8}"/>
              </a:ext>
            </a:extLst>
          </p:cNvPr>
          <p:cNvSpPr>
            <a:spLocks noGrp="1"/>
          </p:cNvSpPr>
          <p:nvPr>
            <p:ph type="title"/>
          </p:nvPr>
        </p:nvSpPr>
        <p:spPr/>
        <p:txBody>
          <a:bodyPr>
            <a:normAutofit/>
          </a:bodyPr>
          <a:lstStyle/>
          <a:p>
            <a:r>
              <a:rPr lang="en-US" sz="4000" dirty="0">
                <a:latin typeface="游ゴシック (Body)"/>
              </a:rPr>
              <a:t>Experiment</a:t>
            </a:r>
            <a:endParaRPr lang="en-US" sz="4000" dirty="0"/>
          </a:p>
        </p:txBody>
      </p:sp>
      <p:sp>
        <p:nvSpPr>
          <p:cNvPr id="3" name="Content Placeholder 2">
            <a:extLst>
              <a:ext uri="{FF2B5EF4-FFF2-40B4-BE49-F238E27FC236}">
                <a16:creationId xmlns:a16="http://schemas.microsoft.com/office/drawing/2014/main" id="{87E647C2-A502-34CC-84EE-3C98583E82F8}"/>
              </a:ext>
            </a:extLst>
          </p:cNvPr>
          <p:cNvSpPr>
            <a:spLocks noGrp="1"/>
          </p:cNvSpPr>
          <p:nvPr>
            <p:ph idx="1"/>
          </p:nvPr>
        </p:nvSpPr>
        <p:spPr/>
        <p:txBody>
          <a:bodyPr/>
          <a:lstStyle/>
          <a:p>
            <a:pPr marL="514350" indent="-514350">
              <a:buFont typeface="+mj-lt"/>
              <a:buAutoNum type="arabicPeriod" startAt="2"/>
            </a:pPr>
            <a:r>
              <a:rPr lang="en-US" dirty="0"/>
              <a:t>Patch division process</a:t>
            </a:r>
          </a:p>
          <a:p>
            <a:pPr lvl="1"/>
            <a:r>
              <a:rPr lang="en-US" sz="2000" dirty="0"/>
              <a:t>Configuration:</a:t>
            </a:r>
          </a:p>
          <a:p>
            <a:pPr lvl="2"/>
            <a:r>
              <a:rPr lang="en-US" sz="1400" dirty="0"/>
              <a:t>Number of patches along x-axis</a:t>
            </a:r>
          </a:p>
          <a:p>
            <a:pPr lvl="2"/>
            <a:r>
              <a:rPr lang="en-US" sz="1400" dirty="0"/>
              <a:t>Number of patches along y-axis</a:t>
            </a:r>
          </a:p>
        </p:txBody>
      </p:sp>
      <p:sp>
        <p:nvSpPr>
          <p:cNvPr id="4" name="Slide Number Placeholder 3">
            <a:extLst>
              <a:ext uri="{FF2B5EF4-FFF2-40B4-BE49-F238E27FC236}">
                <a16:creationId xmlns:a16="http://schemas.microsoft.com/office/drawing/2014/main" id="{5000535A-FDFC-9F0C-FBA8-A6840A5D8D03}"/>
              </a:ext>
            </a:extLst>
          </p:cNvPr>
          <p:cNvSpPr>
            <a:spLocks noGrp="1"/>
          </p:cNvSpPr>
          <p:nvPr>
            <p:ph type="sldNum" sz="quarter" idx="12"/>
          </p:nvPr>
        </p:nvSpPr>
        <p:spPr/>
        <p:txBody>
          <a:bodyPr/>
          <a:lstStyle/>
          <a:p>
            <a:fld id="{DADAC235-C9E6-487D-8BF0-E0D19F810E81}" type="slidenum">
              <a:rPr lang="en-US" smtClean="0"/>
              <a:t>13</a:t>
            </a:fld>
            <a:endParaRPr lang="en-US"/>
          </a:p>
        </p:txBody>
      </p:sp>
      <p:pic>
        <p:nvPicPr>
          <p:cNvPr id="6" name="Picture 5">
            <a:extLst>
              <a:ext uri="{FF2B5EF4-FFF2-40B4-BE49-F238E27FC236}">
                <a16:creationId xmlns:a16="http://schemas.microsoft.com/office/drawing/2014/main" id="{0E0D70EC-33E4-F4B0-D73F-94AA95600E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141" y="1978868"/>
            <a:ext cx="4086659" cy="4044852"/>
          </a:xfrm>
          <a:prstGeom prst="rect">
            <a:avLst/>
          </a:prstGeom>
        </p:spPr>
      </p:pic>
    </p:spTree>
    <p:extLst>
      <p:ext uri="{BB962C8B-B14F-4D97-AF65-F5344CB8AC3E}">
        <p14:creationId xmlns:p14="http://schemas.microsoft.com/office/powerpoint/2010/main" val="2592594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2D651-931F-50CA-355F-1560540CCF24}"/>
              </a:ext>
            </a:extLst>
          </p:cNvPr>
          <p:cNvSpPr>
            <a:spLocks noGrp="1"/>
          </p:cNvSpPr>
          <p:nvPr>
            <p:ph type="title"/>
          </p:nvPr>
        </p:nvSpPr>
        <p:spPr/>
        <p:txBody>
          <a:bodyPr>
            <a:normAutofit/>
          </a:bodyPr>
          <a:lstStyle/>
          <a:p>
            <a:r>
              <a:rPr lang="en-US" sz="4000" dirty="0">
                <a:latin typeface="游ゴシック (Body)"/>
              </a:rPr>
              <a:t>Experiment</a:t>
            </a:r>
            <a:endParaRPr lang="en-US" sz="4000" dirty="0"/>
          </a:p>
        </p:txBody>
      </p:sp>
      <p:sp>
        <p:nvSpPr>
          <p:cNvPr id="3" name="Content Placeholder 2">
            <a:extLst>
              <a:ext uri="{FF2B5EF4-FFF2-40B4-BE49-F238E27FC236}">
                <a16:creationId xmlns:a16="http://schemas.microsoft.com/office/drawing/2014/main" id="{27BC8D7B-9BF0-7C52-B587-26783432B773}"/>
              </a:ext>
            </a:extLst>
          </p:cNvPr>
          <p:cNvSpPr>
            <a:spLocks noGrp="1"/>
          </p:cNvSpPr>
          <p:nvPr>
            <p:ph idx="1"/>
          </p:nvPr>
        </p:nvSpPr>
        <p:spPr/>
        <p:txBody>
          <a:bodyPr/>
          <a:lstStyle/>
          <a:p>
            <a:pPr marL="514350" indent="-514350">
              <a:buFont typeface="+mj-lt"/>
              <a:buAutoNum type="arabicPeriod" startAt="3"/>
            </a:pPr>
            <a:r>
              <a:rPr lang="en-US" dirty="0"/>
              <a:t>DS generation for each patch</a:t>
            </a:r>
          </a:p>
          <a:p>
            <a:pPr lvl="1"/>
            <a:r>
              <a:rPr lang="en-US" dirty="0"/>
              <a:t>4-neighbor approach</a:t>
            </a:r>
          </a:p>
          <a:p>
            <a:pPr lvl="1"/>
            <a:r>
              <a:rPr lang="en-US" dirty="0"/>
              <a:t>8-neighbor approach</a:t>
            </a:r>
          </a:p>
          <a:p>
            <a:endParaRPr lang="en-US" dirty="0"/>
          </a:p>
        </p:txBody>
      </p:sp>
      <p:sp>
        <p:nvSpPr>
          <p:cNvPr id="4" name="Slide Number Placeholder 3">
            <a:extLst>
              <a:ext uri="{FF2B5EF4-FFF2-40B4-BE49-F238E27FC236}">
                <a16:creationId xmlns:a16="http://schemas.microsoft.com/office/drawing/2014/main" id="{1E5DC381-2B50-DB2A-BB44-0A9F41CA4B22}"/>
              </a:ext>
            </a:extLst>
          </p:cNvPr>
          <p:cNvSpPr>
            <a:spLocks noGrp="1"/>
          </p:cNvSpPr>
          <p:nvPr>
            <p:ph type="sldNum" sz="quarter" idx="12"/>
          </p:nvPr>
        </p:nvSpPr>
        <p:spPr/>
        <p:txBody>
          <a:bodyPr/>
          <a:lstStyle/>
          <a:p>
            <a:fld id="{DADAC235-C9E6-487D-8BF0-E0D19F810E81}" type="slidenum">
              <a:rPr lang="en-US" smtClean="0"/>
              <a:t>14</a:t>
            </a:fld>
            <a:endParaRPr lang="en-US"/>
          </a:p>
        </p:txBody>
      </p:sp>
      <p:pic>
        <p:nvPicPr>
          <p:cNvPr id="7" name="Picture 6">
            <a:extLst>
              <a:ext uri="{FF2B5EF4-FFF2-40B4-BE49-F238E27FC236}">
                <a16:creationId xmlns:a16="http://schemas.microsoft.com/office/drawing/2014/main" id="{626A5CAD-0FD8-D7DA-2353-140DDF27F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664132"/>
            <a:ext cx="4749800" cy="2498962"/>
          </a:xfrm>
          <a:prstGeom prst="rect">
            <a:avLst/>
          </a:prstGeom>
        </p:spPr>
      </p:pic>
      <p:pic>
        <p:nvPicPr>
          <p:cNvPr id="9" name="Picture 8">
            <a:extLst>
              <a:ext uri="{FF2B5EF4-FFF2-40B4-BE49-F238E27FC236}">
                <a16:creationId xmlns:a16="http://schemas.microsoft.com/office/drawing/2014/main" id="{E03D32CE-F919-E351-BD07-DE1D4A1C04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5280" y="3564414"/>
            <a:ext cx="5862320" cy="2449925"/>
          </a:xfrm>
          <a:prstGeom prst="rect">
            <a:avLst/>
          </a:prstGeom>
        </p:spPr>
      </p:pic>
    </p:spTree>
    <p:extLst>
      <p:ext uri="{BB962C8B-B14F-4D97-AF65-F5344CB8AC3E}">
        <p14:creationId xmlns:p14="http://schemas.microsoft.com/office/powerpoint/2010/main" val="197068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7C77-C1CD-D2F6-1E85-AD72A7AFE5C9}"/>
              </a:ext>
            </a:extLst>
          </p:cNvPr>
          <p:cNvSpPr>
            <a:spLocks noGrp="1"/>
          </p:cNvSpPr>
          <p:nvPr>
            <p:ph type="title"/>
          </p:nvPr>
        </p:nvSpPr>
        <p:spPr/>
        <p:txBody>
          <a:bodyPr/>
          <a:lstStyle/>
          <a:p>
            <a:r>
              <a:rPr lang="en-US"/>
              <a:t>Summary of Initial Research</a:t>
            </a:r>
          </a:p>
        </p:txBody>
      </p:sp>
      <p:sp>
        <p:nvSpPr>
          <p:cNvPr id="3" name="Content Placeholder 2">
            <a:extLst>
              <a:ext uri="{FF2B5EF4-FFF2-40B4-BE49-F238E27FC236}">
                <a16:creationId xmlns:a16="http://schemas.microsoft.com/office/drawing/2014/main" id="{00F3BB91-A55E-52FF-2996-9CD729507072}"/>
              </a:ext>
            </a:extLst>
          </p:cNvPr>
          <p:cNvSpPr>
            <a:spLocks noGrp="1"/>
          </p:cNvSpPr>
          <p:nvPr>
            <p:ph idx="1"/>
          </p:nvPr>
        </p:nvSpPr>
        <p:spPr>
          <a:xfrm>
            <a:off x="301336" y="1597025"/>
            <a:ext cx="11700163" cy="4895850"/>
          </a:xfrm>
        </p:spPr>
        <p:txBody>
          <a:bodyPr>
            <a:normAutofit fontScale="55000" lnSpcReduction="20000"/>
          </a:bodyPr>
          <a:lstStyle/>
          <a:p>
            <a:pPr>
              <a:lnSpc>
                <a:spcPct val="170000"/>
              </a:lnSpc>
            </a:pPr>
            <a:r>
              <a:rPr lang="en-US" b="1" dirty="0"/>
              <a:t>Methodology:</a:t>
            </a:r>
            <a:endParaRPr lang="en-US" dirty="0"/>
          </a:p>
          <a:p>
            <a:pPr lvl="1">
              <a:lnSpc>
                <a:spcPct val="170000"/>
              </a:lnSpc>
            </a:pPr>
            <a:r>
              <a:rPr lang="en-US" b="1" dirty="0"/>
              <a:t>Data:</a:t>
            </a:r>
            <a:r>
              <a:rPr lang="en-US" dirty="0"/>
              <a:t> Experiments were conducted on synthetically generated 3D floor surfaces, meticulously defined with dimensions of 50×50 units and comprising 10,000 precisely spaced points. This allowed for controlled testing with known anomaly patterns.</a:t>
            </a:r>
          </a:p>
          <a:p>
            <a:pPr lvl="1">
              <a:lnSpc>
                <a:spcPct val="170000"/>
              </a:lnSpc>
            </a:pPr>
            <a:r>
              <a:rPr lang="en-US" b="1" dirty="0"/>
              <a:t>Segmentation:</a:t>
            </a:r>
            <a:r>
              <a:rPr lang="en-US" dirty="0"/>
              <a:t> The synthetic floor surfaces were systematically segmented into uniform, non-overlapping patches (e.g., 8×8 grids).</a:t>
            </a:r>
          </a:p>
          <a:p>
            <a:pPr lvl="1">
              <a:lnSpc>
                <a:spcPct val="170000"/>
              </a:lnSpc>
            </a:pPr>
            <a:r>
              <a:rPr lang="en-US" b="1" dirty="0"/>
              <a:t>Shape Subspace Computation:</a:t>
            </a:r>
            <a:r>
              <a:rPr lang="en-US" dirty="0"/>
              <a:t> For each individual patch, its Shape Subspace was computed via Singular Value Decomposition (SVD) of its centered point matrix.</a:t>
            </a:r>
          </a:p>
          <a:p>
            <a:pPr lvl="1">
              <a:lnSpc>
                <a:spcPct val="170000"/>
              </a:lnSpc>
            </a:pPr>
            <a:r>
              <a:rPr lang="en-US" b="1" dirty="0"/>
              <a:t>Difference Subspace (DS) Calculation:</a:t>
            </a:r>
            <a:r>
              <a:rPr lang="en-US" dirty="0"/>
              <a:t> Difference Subspaces were then calculated between neighboring patches. This allowed for the quantification of local geometric variations across the surface, with higher DS values indicating greater differences or anomalies.</a:t>
            </a:r>
          </a:p>
          <a:p>
            <a:pPr>
              <a:lnSpc>
                <a:spcPct val="170000"/>
              </a:lnSpc>
            </a:pPr>
            <a:r>
              <a:rPr lang="en-US" b="1" dirty="0"/>
              <a:t>Key Results &amp; Summary:</a:t>
            </a:r>
            <a:endParaRPr lang="en-US" dirty="0"/>
          </a:p>
          <a:p>
            <a:pPr lvl="1">
              <a:lnSpc>
                <a:spcPct val="170000"/>
              </a:lnSpc>
            </a:pPr>
            <a:r>
              <a:rPr lang="en-US" b="1" dirty="0"/>
              <a:t>Pattern Detection:</a:t>
            </a:r>
            <a:r>
              <a:rPr lang="en-US" dirty="0"/>
              <a:t> The method successfully detected a variety of predefined synthetic patterns, including distinct bumps (single, double), linear features (ridges, diagonals), and localized shapes (corners, circles, triangles, random irregularities).</a:t>
            </a:r>
          </a:p>
          <a:p>
            <a:pPr lvl="1">
              <a:lnSpc>
                <a:spcPct val="170000"/>
              </a:lnSpc>
            </a:pPr>
            <a:r>
              <a:rPr lang="en-US" b="1" dirty="0"/>
              <a:t>Accuracy and Stability:</a:t>
            </a:r>
            <a:endParaRPr lang="en-US" dirty="0"/>
          </a:p>
          <a:p>
            <a:pPr lvl="2">
              <a:lnSpc>
                <a:spcPct val="170000"/>
              </a:lnSpc>
            </a:pPr>
            <a:r>
              <a:rPr lang="en-US" dirty="0"/>
              <a:t>Smaller patch sizes (e.g., 3×3, 4×4) were found to yield higher accuracy for detecting fine-grained surface details and localized anomalies.</a:t>
            </a:r>
          </a:p>
          <a:p>
            <a:pPr lvl="2">
              <a:lnSpc>
                <a:spcPct val="170000"/>
              </a:lnSpc>
            </a:pPr>
            <a:r>
              <a:rPr lang="en-US" dirty="0"/>
              <a:t>The use of an eight-neighbor approach (comparing a central patch with its eight surrounding neighbors) offered improved stability and robustness for identifying more complex or extended patterns compared to a four-neighbor approach.</a:t>
            </a:r>
          </a:p>
          <a:p>
            <a:pPr lvl="1">
              <a:lnSpc>
                <a:spcPct val="170000"/>
              </a:lnSpc>
            </a:pPr>
            <a:endParaRPr lang="en-US" dirty="0"/>
          </a:p>
          <a:p>
            <a:pPr>
              <a:lnSpc>
                <a:spcPct val="170000"/>
              </a:lnSpc>
            </a:pPr>
            <a:endParaRPr lang="en-US" dirty="0"/>
          </a:p>
        </p:txBody>
      </p:sp>
      <p:sp>
        <p:nvSpPr>
          <p:cNvPr id="4" name="Slide Number Placeholder 3">
            <a:extLst>
              <a:ext uri="{FF2B5EF4-FFF2-40B4-BE49-F238E27FC236}">
                <a16:creationId xmlns:a16="http://schemas.microsoft.com/office/drawing/2014/main" id="{233676CA-4A9A-035D-19E8-C1837B78A652}"/>
              </a:ext>
            </a:extLst>
          </p:cNvPr>
          <p:cNvSpPr>
            <a:spLocks noGrp="1"/>
          </p:cNvSpPr>
          <p:nvPr>
            <p:ph type="sldNum" sz="quarter" idx="12"/>
          </p:nvPr>
        </p:nvSpPr>
        <p:spPr/>
        <p:txBody>
          <a:bodyPr/>
          <a:lstStyle/>
          <a:p>
            <a:fld id="{DADAC235-C9E6-487D-8BF0-E0D19F810E81}" type="slidenum">
              <a:rPr lang="en-US" smtClean="0"/>
              <a:t>15</a:t>
            </a:fld>
            <a:endParaRPr lang="en-US"/>
          </a:p>
        </p:txBody>
      </p:sp>
    </p:spTree>
    <p:extLst>
      <p:ext uri="{BB962C8B-B14F-4D97-AF65-F5344CB8AC3E}">
        <p14:creationId xmlns:p14="http://schemas.microsoft.com/office/powerpoint/2010/main" val="3673552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55A20-D0EB-6725-4EB7-286276AC6F03}"/>
              </a:ext>
            </a:extLst>
          </p:cNvPr>
          <p:cNvSpPr>
            <a:spLocks noGrp="1"/>
          </p:cNvSpPr>
          <p:nvPr>
            <p:ph type="title"/>
          </p:nvPr>
        </p:nvSpPr>
        <p:spPr/>
        <p:txBody>
          <a:bodyPr/>
          <a:lstStyle/>
          <a:p>
            <a:r>
              <a:rPr lang="en-US" dirty="0"/>
              <a:t>Limitations Identified in Previous Work</a:t>
            </a:r>
          </a:p>
        </p:txBody>
      </p:sp>
      <p:sp>
        <p:nvSpPr>
          <p:cNvPr id="3" name="Content Placeholder 2">
            <a:extLst>
              <a:ext uri="{FF2B5EF4-FFF2-40B4-BE49-F238E27FC236}">
                <a16:creationId xmlns:a16="http://schemas.microsoft.com/office/drawing/2014/main" id="{1E06ACCC-BD15-1D4A-B095-06F2B1550986}"/>
              </a:ext>
            </a:extLst>
          </p:cNvPr>
          <p:cNvSpPr>
            <a:spLocks noGrp="1"/>
          </p:cNvSpPr>
          <p:nvPr>
            <p:ph idx="1"/>
          </p:nvPr>
        </p:nvSpPr>
        <p:spPr>
          <a:xfrm>
            <a:off x="183571" y="1689099"/>
            <a:ext cx="11921837" cy="4803775"/>
          </a:xfrm>
        </p:spPr>
        <p:txBody>
          <a:bodyPr>
            <a:normAutofit fontScale="55000" lnSpcReduction="20000"/>
          </a:bodyPr>
          <a:lstStyle/>
          <a:p>
            <a:pPr>
              <a:lnSpc>
                <a:spcPct val="170000"/>
              </a:lnSpc>
            </a:pPr>
            <a:r>
              <a:rPr lang="en-US" b="1" dirty="0"/>
              <a:t>Boundary Sensitivity:</a:t>
            </a:r>
            <a:endParaRPr lang="en-US" dirty="0"/>
          </a:p>
          <a:p>
            <a:pPr lvl="1">
              <a:lnSpc>
                <a:spcPct val="170000"/>
              </a:lnSpc>
            </a:pPr>
            <a:r>
              <a:rPr lang="en-US" b="1" dirty="0"/>
              <a:t>Issue:</a:t>
            </a:r>
            <a:r>
              <a:rPr lang="en-US" dirty="0"/>
              <a:t> Fixed, non-overlapping patch boundaries could arbitrarily cut across anomalies, potentially diluting the anomaly signal or causing detection inaccuracies at the edges of the patches.</a:t>
            </a:r>
          </a:p>
          <a:p>
            <a:pPr lvl="1">
              <a:lnSpc>
                <a:spcPct val="170000"/>
              </a:lnSpc>
            </a:pPr>
            <a:r>
              <a:rPr lang="en-US" b="1" dirty="0"/>
              <a:t>Impact:</a:t>
            </a:r>
            <a:r>
              <a:rPr lang="en-US" dirty="0"/>
              <a:t> This led to less precise localization and a higher risk of false negatives or poorly defined anomaly regions.</a:t>
            </a:r>
          </a:p>
          <a:p>
            <a:pPr>
              <a:lnSpc>
                <a:spcPct val="170000"/>
              </a:lnSpc>
            </a:pPr>
            <a:r>
              <a:rPr lang="en-US" b="1" dirty="0"/>
              <a:t>Limited Spatial Resolution:</a:t>
            </a:r>
            <a:endParaRPr lang="en-US" dirty="0"/>
          </a:p>
          <a:p>
            <a:pPr lvl="1">
              <a:lnSpc>
                <a:spcPct val="170000"/>
              </a:lnSpc>
            </a:pPr>
            <a:r>
              <a:rPr lang="en-US" b="1" dirty="0"/>
              <a:t>Issue:</a:t>
            </a:r>
            <a:r>
              <a:rPr lang="en-US" dirty="0"/>
              <a:t> The use of discrete, non-overlapping patches meant that analysis points were sparse across the surface.</a:t>
            </a:r>
          </a:p>
          <a:p>
            <a:pPr lvl="1">
              <a:lnSpc>
                <a:spcPct val="170000"/>
              </a:lnSpc>
            </a:pPr>
            <a:r>
              <a:rPr lang="en-US" b="1" dirty="0"/>
              <a:t>Impact:</a:t>
            </a:r>
            <a:r>
              <a:rPr lang="en-US" dirty="0"/>
              <a:t> This resulted in a coarser representation of the surface and limited the ability to detect fine-grained anomalies or precisely locate their extent.</a:t>
            </a:r>
          </a:p>
          <a:p>
            <a:pPr>
              <a:lnSpc>
                <a:spcPct val="170000"/>
              </a:lnSpc>
            </a:pPr>
            <a:r>
              <a:rPr lang="en-US" b="1" dirty="0"/>
              <a:t>Unvalidated Performance on Noisy Real-World Data:</a:t>
            </a:r>
            <a:endParaRPr lang="en-US" dirty="0"/>
          </a:p>
          <a:p>
            <a:pPr lvl="1">
              <a:lnSpc>
                <a:spcPct val="170000"/>
              </a:lnSpc>
            </a:pPr>
            <a:r>
              <a:rPr lang="en-US" b="1" dirty="0"/>
              <a:t>Issue:</a:t>
            </a:r>
            <a:r>
              <a:rPr lang="en-US" dirty="0"/>
              <a:t> The initial experiments were conducted exclusively on clean, synthetically generated data.</a:t>
            </a:r>
          </a:p>
          <a:p>
            <a:pPr lvl="1">
              <a:lnSpc>
                <a:spcPct val="170000"/>
              </a:lnSpc>
            </a:pPr>
            <a:r>
              <a:rPr lang="en-US" b="1" dirty="0"/>
              <a:t>Impact:</a:t>
            </a:r>
            <a:r>
              <a:rPr lang="en-US" dirty="0"/>
              <a:t> The robustness and effectiveness of the method in the presence of real-world noise, data irregularities, and varying point densities remained unconfirmed.</a:t>
            </a:r>
          </a:p>
          <a:p>
            <a:pPr>
              <a:lnSpc>
                <a:spcPct val="170000"/>
              </a:lnSpc>
            </a:pPr>
            <a:endParaRPr lang="en-US" dirty="0"/>
          </a:p>
          <a:p>
            <a:pPr>
              <a:lnSpc>
                <a:spcPct val="170000"/>
              </a:lnSpc>
            </a:pPr>
            <a:endParaRPr lang="en-US" dirty="0"/>
          </a:p>
        </p:txBody>
      </p:sp>
      <p:sp>
        <p:nvSpPr>
          <p:cNvPr id="4" name="Slide Number Placeholder 3">
            <a:extLst>
              <a:ext uri="{FF2B5EF4-FFF2-40B4-BE49-F238E27FC236}">
                <a16:creationId xmlns:a16="http://schemas.microsoft.com/office/drawing/2014/main" id="{13E3D341-FF07-66A4-1046-537FD832C12B}"/>
              </a:ext>
            </a:extLst>
          </p:cNvPr>
          <p:cNvSpPr>
            <a:spLocks noGrp="1"/>
          </p:cNvSpPr>
          <p:nvPr>
            <p:ph type="sldNum" sz="quarter" idx="12"/>
          </p:nvPr>
        </p:nvSpPr>
        <p:spPr/>
        <p:txBody>
          <a:bodyPr/>
          <a:lstStyle/>
          <a:p>
            <a:fld id="{DADAC235-C9E6-487D-8BF0-E0D19F810E81}" type="slidenum">
              <a:rPr lang="en-US" smtClean="0"/>
              <a:t>16</a:t>
            </a:fld>
            <a:endParaRPr lang="en-US"/>
          </a:p>
        </p:txBody>
      </p:sp>
    </p:spTree>
    <p:extLst>
      <p:ext uri="{BB962C8B-B14F-4D97-AF65-F5344CB8AC3E}">
        <p14:creationId xmlns:p14="http://schemas.microsoft.com/office/powerpoint/2010/main" val="830050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61189-49DE-DE17-A447-206709A6B835}"/>
              </a:ext>
            </a:extLst>
          </p:cNvPr>
          <p:cNvSpPr>
            <a:spLocks noGrp="1"/>
          </p:cNvSpPr>
          <p:nvPr>
            <p:ph type="title"/>
          </p:nvPr>
        </p:nvSpPr>
        <p:spPr/>
        <p:txBody>
          <a:bodyPr/>
          <a:lstStyle/>
          <a:p>
            <a:r>
              <a:rPr lang="en-US" dirty="0"/>
              <a:t>Sliding Window Approach</a:t>
            </a:r>
          </a:p>
        </p:txBody>
      </p:sp>
      <p:sp>
        <p:nvSpPr>
          <p:cNvPr id="3" name="Content Placeholder 2">
            <a:extLst>
              <a:ext uri="{FF2B5EF4-FFF2-40B4-BE49-F238E27FC236}">
                <a16:creationId xmlns:a16="http://schemas.microsoft.com/office/drawing/2014/main" id="{A7AF0524-B89D-26E6-AA35-86BF79A37EE8}"/>
              </a:ext>
            </a:extLst>
          </p:cNvPr>
          <p:cNvSpPr>
            <a:spLocks noGrp="1"/>
          </p:cNvSpPr>
          <p:nvPr>
            <p:ph idx="1"/>
          </p:nvPr>
        </p:nvSpPr>
        <p:spPr/>
        <p:txBody>
          <a:bodyPr>
            <a:normAutofit/>
          </a:bodyPr>
          <a:lstStyle/>
          <a:p>
            <a:r>
              <a:rPr lang="en-US" b="1" dirty="0"/>
              <a:t>Concept</a:t>
            </a:r>
          </a:p>
          <a:p>
            <a:pPr lvl="1"/>
            <a:r>
              <a:rPr lang="en-US" b="1" dirty="0"/>
              <a:t>Overlapping Analysis Regions:</a:t>
            </a:r>
            <a:r>
              <a:rPr lang="en-US" dirty="0"/>
              <a:t> Instead of fixed, discrete patches, the sliding window introduces analysis regions that overlap with configurable percentages.</a:t>
            </a:r>
          </a:p>
          <a:p>
            <a:pPr lvl="1"/>
            <a:r>
              <a:rPr lang="en-US" b="1" dirty="0"/>
              <a:t>Continuous Coverage:</a:t>
            </a:r>
            <a:r>
              <a:rPr lang="en-US" dirty="0"/>
              <a:t> This overlap ensures that every point on the surface is analyzed multiple times from different window perspectives, mitigating the boundary sensitivity issues of fixed patches.</a:t>
            </a:r>
          </a:p>
          <a:p>
            <a:pPr lvl="1"/>
            <a:r>
              <a:rPr lang="en-US" b="1" dirty="0"/>
              <a:t>Increased Spatial Resolution:</a:t>
            </a:r>
            <a:r>
              <a:rPr lang="en-US" dirty="0"/>
              <a:t> By generating more analysis points (windows) across the surface, the method achieves a much finer spatial resolution for anomaly localization and characterization.</a:t>
            </a:r>
          </a:p>
          <a:p>
            <a:endParaRPr lang="en-US" dirty="0"/>
          </a:p>
        </p:txBody>
      </p:sp>
      <p:sp>
        <p:nvSpPr>
          <p:cNvPr id="4" name="Slide Number Placeholder 3">
            <a:extLst>
              <a:ext uri="{FF2B5EF4-FFF2-40B4-BE49-F238E27FC236}">
                <a16:creationId xmlns:a16="http://schemas.microsoft.com/office/drawing/2014/main" id="{8D8BE269-D943-4644-201E-03E66D7FDC5E}"/>
              </a:ext>
            </a:extLst>
          </p:cNvPr>
          <p:cNvSpPr>
            <a:spLocks noGrp="1"/>
          </p:cNvSpPr>
          <p:nvPr>
            <p:ph type="sldNum" sz="quarter" idx="12"/>
          </p:nvPr>
        </p:nvSpPr>
        <p:spPr/>
        <p:txBody>
          <a:bodyPr/>
          <a:lstStyle/>
          <a:p>
            <a:fld id="{DADAC235-C9E6-487D-8BF0-E0D19F810E81}" type="slidenum">
              <a:rPr lang="en-US" smtClean="0"/>
              <a:t>17</a:t>
            </a:fld>
            <a:endParaRPr lang="en-US"/>
          </a:p>
        </p:txBody>
      </p:sp>
    </p:spTree>
    <p:extLst>
      <p:ext uri="{BB962C8B-B14F-4D97-AF65-F5344CB8AC3E}">
        <p14:creationId xmlns:p14="http://schemas.microsoft.com/office/powerpoint/2010/main" val="3507993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9AA6-5A77-3474-5027-053295880495}"/>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9D919156-A643-DB35-451D-F066AA1F9DC2}"/>
              </a:ext>
            </a:extLst>
          </p:cNvPr>
          <p:cNvSpPr>
            <a:spLocks noGrp="1"/>
          </p:cNvSpPr>
          <p:nvPr>
            <p:ph idx="1"/>
          </p:nvPr>
        </p:nvSpPr>
        <p:spPr/>
        <p:txBody>
          <a:bodyPr>
            <a:normAutofit/>
          </a:bodyPr>
          <a:lstStyle/>
          <a:p>
            <a:r>
              <a:rPr lang="en-US" dirty="0"/>
              <a:t>Given a point cloud with overall bounding box dimensions (W,H) in the horizontal plane:</a:t>
            </a:r>
          </a:p>
          <a:p>
            <a:pPr lvl="1"/>
            <a:r>
              <a:rPr lang="en-US" b="1" dirty="0"/>
              <a:t>Window Size:</a:t>
            </a:r>
            <a:r>
              <a:rPr lang="en-US" dirty="0"/>
              <a:t> (</a:t>
            </a:r>
            <a:r>
              <a:rPr lang="en-US" dirty="0" err="1"/>
              <a:t>w,h</a:t>
            </a:r>
            <a:r>
              <a:rPr lang="en-US" dirty="0"/>
              <a:t>) represents the dimensions of each individual analysis window.</a:t>
            </a:r>
          </a:p>
          <a:p>
            <a:pPr lvl="1"/>
            <a:r>
              <a:rPr lang="en-US" b="1" dirty="0"/>
              <a:t>Overlap Percentage:</a:t>
            </a:r>
            <a:r>
              <a:rPr lang="en-US" dirty="0"/>
              <a:t> α∈[0,1) defines the degree of overlap between adjacent windows (e.g., α=0.5 for 50% overlap).</a:t>
            </a:r>
          </a:p>
          <a:p>
            <a:r>
              <a:rPr lang="en-US" dirty="0"/>
              <a:t>The </a:t>
            </a:r>
            <a:r>
              <a:rPr lang="en-US" b="1" dirty="0"/>
              <a:t>stride parameters</a:t>
            </a:r>
            <a:r>
              <a:rPr lang="en-US" dirty="0"/>
              <a:t> (</a:t>
            </a:r>
            <a:r>
              <a:rPr lang="en-US" dirty="0" err="1"/>
              <a:t>sx</a:t>
            </a:r>
            <a:r>
              <a:rPr lang="en-US" dirty="0"/>
              <a:t>​,</a:t>
            </a:r>
            <a:r>
              <a:rPr lang="en-US" dirty="0" err="1"/>
              <a:t>sy</a:t>
            </a:r>
            <a:r>
              <a:rPr lang="en-US" dirty="0"/>
              <a:t>​) — the distance the window moves for each step in X and Y directions — are calculated as: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4469D7C-6A6D-9837-E5F9-D60583564323}"/>
              </a:ext>
            </a:extLst>
          </p:cNvPr>
          <p:cNvSpPr>
            <a:spLocks noGrp="1"/>
          </p:cNvSpPr>
          <p:nvPr>
            <p:ph type="sldNum" sz="quarter" idx="12"/>
          </p:nvPr>
        </p:nvSpPr>
        <p:spPr/>
        <p:txBody>
          <a:bodyPr/>
          <a:lstStyle/>
          <a:p>
            <a:fld id="{DADAC235-C9E6-487D-8BF0-E0D19F810E81}" type="slidenum">
              <a:rPr lang="en-US" smtClean="0"/>
              <a:t>18</a:t>
            </a:fld>
            <a:endParaRPr lang="en-US"/>
          </a:p>
        </p:txBody>
      </p:sp>
      <p:pic>
        <p:nvPicPr>
          <p:cNvPr id="12" name="Picture 11">
            <a:extLst>
              <a:ext uri="{FF2B5EF4-FFF2-40B4-BE49-F238E27FC236}">
                <a16:creationId xmlns:a16="http://schemas.microsoft.com/office/drawing/2014/main" id="{0B0B98BB-35C9-2173-0402-37486F62D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448" y="4304839"/>
            <a:ext cx="1686160" cy="409632"/>
          </a:xfrm>
          <a:prstGeom prst="rect">
            <a:avLst/>
          </a:prstGeom>
        </p:spPr>
      </p:pic>
      <p:pic>
        <p:nvPicPr>
          <p:cNvPr id="14" name="Picture 13" descr="A black and white text&#10;&#10;AI-generated content may be incorrect.">
            <a:extLst>
              <a:ext uri="{FF2B5EF4-FFF2-40B4-BE49-F238E27FC236}">
                <a16:creationId xmlns:a16="http://schemas.microsoft.com/office/drawing/2014/main" id="{959C28EA-62BE-DEDD-4FCF-2CA9DF853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6527" y="4601723"/>
            <a:ext cx="1448002" cy="495369"/>
          </a:xfrm>
          <a:prstGeom prst="rect">
            <a:avLst/>
          </a:prstGeom>
        </p:spPr>
      </p:pic>
    </p:spTree>
    <p:extLst>
      <p:ext uri="{BB962C8B-B14F-4D97-AF65-F5344CB8AC3E}">
        <p14:creationId xmlns:p14="http://schemas.microsoft.com/office/powerpoint/2010/main" val="2799647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81FE8-2886-A262-0307-A46EF7E89EB6}"/>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1FD043DB-7B06-236E-4B81-D1DA09D20FAA}"/>
              </a:ext>
            </a:extLst>
          </p:cNvPr>
          <p:cNvSpPr>
            <a:spLocks noGrp="1"/>
          </p:cNvSpPr>
          <p:nvPr>
            <p:ph idx="1"/>
          </p:nvPr>
        </p:nvSpPr>
        <p:spPr/>
        <p:txBody>
          <a:bodyPr>
            <a:normAutofit fontScale="92500" lnSpcReduction="10000"/>
          </a:bodyPr>
          <a:lstStyle/>
          <a:p>
            <a:r>
              <a:rPr lang="en-US" dirty="0"/>
              <a:t>The resulting </a:t>
            </a:r>
            <a:r>
              <a:rPr lang="en-US" b="1" dirty="0"/>
              <a:t>grid dimensions</a:t>
            </a:r>
            <a:r>
              <a:rPr lang="en-US" dirty="0"/>
              <a:t> (</a:t>
            </a:r>
            <a:r>
              <a:rPr lang="en-US" dirty="0" err="1"/>
              <a:t>Nx</a:t>
            </a:r>
            <a:r>
              <a:rPr lang="en-US" dirty="0"/>
              <a:t>​,Ny​) — the total number of windows in the X and Y directions become:</a:t>
            </a:r>
          </a:p>
          <a:p>
            <a:endParaRPr lang="en-US" dirty="0"/>
          </a:p>
          <a:p>
            <a:endParaRPr lang="en-US" dirty="0"/>
          </a:p>
          <a:p>
            <a:endParaRPr lang="en-US" dirty="0"/>
          </a:p>
          <a:p>
            <a:r>
              <a:rPr lang="en-US" dirty="0"/>
              <a:t>Each window </a:t>
            </a:r>
            <a:r>
              <a:rPr lang="en-US" dirty="0" err="1"/>
              <a:t>Wi,j</a:t>
            </a:r>
            <a:r>
              <a:rPr lang="en-US" dirty="0"/>
              <a:t>​ at grid position (</a:t>
            </a:r>
            <a:r>
              <a:rPr lang="en-US" dirty="0" err="1"/>
              <a:t>i,j</a:t>
            </a:r>
            <a:r>
              <a:rPr lang="en-US" dirty="0"/>
              <a:t>) encompasses points within the region defined by:</a:t>
            </a:r>
          </a:p>
          <a:p>
            <a:endParaRPr lang="en-US" dirty="0"/>
          </a:p>
          <a:p>
            <a:endParaRPr lang="en-US" dirty="0"/>
          </a:p>
          <a:p>
            <a:r>
              <a:rPr lang="en-US" dirty="0"/>
              <a:t>where (</a:t>
            </a:r>
            <a:r>
              <a:rPr lang="en-US" dirty="0" err="1"/>
              <a:t>xmin</a:t>
            </a:r>
            <a:r>
              <a:rPr lang="en-US" dirty="0"/>
              <a:t>​,</a:t>
            </a:r>
            <a:r>
              <a:rPr lang="en-US" dirty="0" err="1"/>
              <a:t>ymin</a:t>
            </a:r>
            <a:r>
              <a:rPr lang="en-US" dirty="0"/>
              <a:t>​) are the minimum coordinates of the overall point cloud.</a:t>
            </a:r>
          </a:p>
          <a:p>
            <a:endParaRPr lang="en-US" dirty="0"/>
          </a:p>
        </p:txBody>
      </p:sp>
      <p:sp>
        <p:nvSpPr>
          <p:cNvPr id="4" name="Slide Number Placeholder 3">
            <a:extLst>
              <a:ext uri="{FF2B5EF4-FFF2-40B4-BE49-F238E27FC236}">
                <a16:creationId xmlns:a16="http://schemas.microsoft.com/office/drawing/2014/main" id="{A90CBB36-D978-9693-DF6E-0CA99049E49A}"/>
              </a:ext>
            </a:extLst>
          </p:cNvPr>
          <p:cNvSpPr>
            <a:spLocks noGrp="1"/>
          </p:cNvSpPr>
          <p:nvPr>
            <p:ph type="sldNum" sz="quarter" idx="12"/>
          </p:nvPr>
        </p:nvSpPr>
        <p:spPr/>
        <p:txBody>
          <a:bodyPr/>
          <a:lstStyle/>
          <a:p>
            <a:fld id="{DADAC235-C9E6-487D-8BF0-E0D19F810E81}" type="slidenum">
              <a:rPr lang="en-US" smtClean="0"/>
              <a:t>19</a:t>
            </a:fld>
            <a:endParaRPr lang="en-US"/>
          </a:p>
        </p:txBody>
      </p:sp>
      <p:pic>
        <p:nvPicPr>
          <p:cNvPr id="16" name="Picture 15" descr="A black and white image of a rectangular object with letters and numbers&#10;&#10;AI-generated content may be incorrect.">
            <a:extLst>
              <a:ext uri="{FF2B5EF4-FFF2-40B4-BE49-F238E27FC236}">
                <a16:creationId xmlns:a16="http://schemas.microsoft.com/office/drawing/2014/main" id="{0DAC5258-74ED-FA5E-59BB-37DC5A75D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737" y="2405324"/>
            <a:ext cx="1848108" cy="819264"/>
          </a:xfrm>
          <a:prstGeom prst="rect">
            <a:avLst/>
          </a:prstGeom>
        </p:spPr>
      </p:pic>
      <p:pic>
        <p:nvPicPr>
          <p:cNvPr id="6" name="Picture 5" descr="A black and white image of a mathematical equation&#10;&#10;AI-generated content may be incorrect.">
            <a:extLst>
              <a:ext uri="{FF2B5EF4-FFF2-40B4-BE49-F238E27FC236}">
                <a16:creationId xmlns:a16="http://schemas.microsoft.com/office/drawing/2014/main" id="{292E3C95-175B-BC30-6521-66A1C82E2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7526" y="2981262"/>
            <a:ext cx="1924319" cy="895475"/>
          </a:xfrm>
          <a:prstGeom prst="rect">
            <a:avLst/>
          </a:prstGeom>
        </p:spPr>
      </p:pic>
      <p:pic>
        <p:nvPicPr>
          <p:cNvPr id="8" name="Picture 7" descr="A black and white image of a triangle and a triangle&#10;&#10;AI-generated content may be incorrect.">
            <a:extLst>
              <a:ext uri="{FF2B5EF4-FFF2-40B4-BE49-F238E27FC236}">
                <a16:creationId xmlns:a16="http://schemas.microsoft.com/office/drawing/2014/main" id="{F45001A8-ECB5-B79C-DEB6-FD88B2A3C2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7786" y="4647257"/>
            <a:ext cx="4496427" cy="533474"/>
          </a:xfrm>
          <a:prstGeom prst="rect">
            <a:avLst/>
          </a:prstGeom>
        </p:spPr>
      </p:pic>
      <p:pic>
        <p:nvPicPr>
          <p:cNvPr id="10" name="Picture 9">
            <a:extLst>
              <a:ext uri="{FF2B5EF4-FFF2-40B4-BE49-F238E27FC236}">
                <a16:creationId xmlns:a16="http://schemas.microsoft.com/office/drawing/2014/main" id="{266AD6F6-E212-3F86-6FAA-E48C8E0854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34845" y="5035819"/>
            <a:ext cx="7335274" cy="428685"/>
          </a:xfrm>
          <a:prstGeom prst="rect">
            <a:avLst/>
          </a:prstGeom>
        </p:spPr>
      </p:pic>
    </p:spTree>
    <p:extLst>
      <p:ext uri="{BB962C8B-B14F-4D97-AF65-F5344CB8AC3E}">
        <p14:creationId xmlns:p14="http://schemas.microsoft.com/office/powerpoint/2010/main" val="1462053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aph of a graph of a graph&#10;&#10;AI-generated content may be incorrect.">
            <a:extLst>
              <a:ext uri="{FF2B5EF4-FFF2-40B4-BE49-F238E27FC236}">
                <a16:creationId xmlns:a16="http://schemas.microsoft.com/office/drawing/2014/main" id="{F6031F63-7BAD-FAEE-7D9F-6C7B098E2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6638" y="3015695"/>
            <a:ext cx="3775362" cy="3523217"/>
          </a:xfrm>
          <a:prstGeom prst="rect">
            <a:avLst/>
          </a:prstGeom>
        </p:spPr>
      </p:pic>
      <p:sp>
        <p:nvSpPr>
          <p:cNvPr id="2" name="Title 1">
            <a:extLst>
              <a:ext uri="{FF2B5EF4-FFF2-40B4-BE49-F238E27FC236}">
                <a16:creationId xmlns:a16="http://schemas.microsoft.com/office/drawing/2014/main" id="{5B0EFBEE-C122-27F7-6D70-A2625CCA3739}"/>
              </a:ext>
            </a:extLst>
          </p:cNvPr>
          <p:cNvSpPr>
            <a:spLocks noGrp="1"/>
          </p:cNvSpPr>
          <p:nvPr>
            <p:ph type="title"/>
          </p:nvPr>
        </p:nvSpPr>
        <p:spPr/>
        <p:txBody>
          <a:bodyPr/>
          <a:lstStyle/>
          <a:p>
            <a:r>
              <a:rPr lang="en-US" dirty="0"/>
              <a:t>Experimental Validation</a:t>
            </a:r>
          </a:p>
        </p:txBody>
      </p:sp>
      <p:sp>
        <p:nvSpPr>
          <p:cNvPr id="3" name="Content Placeholder 2">
            <a:extLst>
              <a:ext uri="{FF2B5EF4-FFF2-40B4-BE49-F238E27FC236}">
                <a16:creationId xmlns:a16="http://schemas.microsoft.com/office/drawing/2014/main" id="{D4A34E99-8489-218D-00D7-CDC8BDABEF61}"/>
              </a:ext>
            </a:extLst>
          </p:cNvPr>
          <p:cNvSpPr>
            <a:spLocks noGrp="1"/>
          </p:cNvSpPr>
          <p:nvPr>
            <p:ph idx="1"/>
          </p:nvPr>
        </p:nvSpPr>
        <p:spPr>
          <a:xfrm>
            <a:off x="277091" y="1368425"/>
            <a:ext cx="8679873" cy="5353050"/>
          </a:xfrm>
        </p:spPr>
        <p:txBody>
          <a:bodyPr>
            <a:normAutofit fontScale="47500" lnSpcReduction="20000"/>
          </a:bodyPr>
          <a:lstStyle/>
          <a:p>
            <a:pPr>
              <a:lnSpc>
                <a:spcPct val="170000"/>
              </a:lnSpc>
            </a:pPr>
            <a:r>
              <a:rPr lang="en-US" b="1" dirty="0"/>
              <a:t>Comparison Methods</a:t>
            </a:r>
          </a:p>
          <a:p>
            <a:pPr lvl="1">
              <a:lnSpc>
                <a:spcPct val="170000"/>
              </a:lnSpc>
            </a:pPr>
            <a:r>
              <a:rPr lang="en-US" b="1" dirty="0"/>
              <a:t>Fixed Patches (Baseline):</a:t>
            </a:r>
            <a:endParaRPr lang="en-US" dirty="0"/>
          </a:p>
          <a:p>
            <a:pPr lvl="2">
              <a:lnSpc>
                <a:spcPct val="170000"/>
              </a:lnSpc>
            </a:pPr>
            <a:r>
              <a:rPr lang="en-US" dirty="0"/>
              <a:t>Configuration: An 8×8 grid, resulting in a total of 64 discrete analysis points (patches). This served as the reference for comparison, reflecting our previous work.</a:t>
            </a:r>
          </a:p>
          <a:p>
            <a:pPr lvl="1">
              <a:lnSpc>
                <a:spcPct val="170000"/>
              </a:lnSpc>
            </a:pPr>
            <a:r>
              <a:rPr lang="en-US" b="1" dirty="0"/>
              <a:t>Sliding Window (Proposed):</a:t>
            </a:r>
            <a:endParaRPr lang="en-US" dirty="0"/>
          </a:p>
          <a:p>
            <a:pPr lvl="2">
              <a:lnSpc>
                <a:spcPct val="170000"/>
              </a:lnSpc>
            </a:pPr>
            <a:r>
              <a:rPr lang="en-US" dirty="0"/>
              <a:t>Configuration: Utilized a 50% overlap between adjacent windows. This design significantly increases the density of analysis points across the surface.</a:t>
            </a:r>
          </a:p>
          <a:p>
            <a:pPr>
              <a:lnSpc>
                <a:spcPct val="170000"/>
              </a:lnSpc>
            </a:pPr>
            <a:r>
              <a:rPr lang="en-US" b="1" dirty="0"/>
              <a:t>Data Used</a:t>
            </a:r>
          </a:p>
          <a:p>
            <a:pPr lvl="1">
              <a:lnSpc>
                <a:spcPct val="170000"/>
              </a:lnSpc>
            </a:pPr>
            <a:r>
              <a:rPr lang="en-US" b="1" dirty="0"/>
              <a:t>Synthetic Data:</a:t>
            </a:r>
            <a:endParaRPr lang="en-US" dirty="0"/>
          </a:p>
          <a:p>
            <a:pPr lvl="2">
              <a:lnSpc>
                <a:spcPct val="170000"/>
              </a:lnSpc>
            </a:pPr>
            <a:r>
              <a:rPr lang="en-US" dirty="0"/>
              <a:t>Description: Artificially generated 3D floor surfaces.</a:t>
            </a:r>
          </a:p>
          <a:p>
            <a:pPr lvl="2">
              <a:lnSpc>
                <a:spcPct val="170000"/>
              </a:lnSpc>
            </a:pPr>
            <a:r>
              <a:rPr lang="en-US" dirty="0"/>
              <a:t>Dimensions: 50×50 units.</a:t>
            </a:r>
          </a:p>
          <a:p>
            <a:pPr lvl="2">
              <a:lnSpc>
                <a:spcPct val="170000"/>
              </a:lnSpc>
            </a:pPr>
            <a:r>
              <a:rPr lang="en-US" dirty="0"/>
              <a:t>Point Count: Approximately 10,000 points.</a:t>
            </a:r>
          </a:p>
          <a:p>
            <a:pPr lvl="2">
              <a:lnSpc>
                <a:spcPct val="170000"/>
              </a:lnSpc>
            </a:pPr>
            <a:r>
              <a:rPr lang="en-US" dirty="0"/>
              <a:t>Patterns: Included various predefined patterns such as single bumps, double bumps, ridges, corners, circles, diagonals, and random irregularities, allowing for controlled testing of anomaly detection.</a:t>
            </a:r>
          </a:p>
          <a:p>
            <a:pPr lvl="1" eaLnBrk="0" fontAlgn="base" hangingPunct="0">
              <a:lnSpc>
                <a:spcPct val="170000"/>
              </a:lnSpc>
              <a:spcBef>
                <a:spcPct val="0"/>
              </a:spcBef>
              <a:spcAft>
                <a:spcPct val="0"/>
              </a:spcAft>
            </a:pPr>
            <a:r>
              <a:rPr lang="en-US" altLang="en-US" b="1" dirty="0"/>
              <a:t>Real-World Data:</a:t>
            </a:r>
          </a:p>
          <a:p>
            <a:pPr marL="914400" lvl="2" indent="0" eaLnBrk="0" fontAlgn="base" hangingPunct="0">
              <a:lnSpc>
                <a:spcPct val="170000"/>
              </a:lnSpc>
              <a:spcBef>
                <a:spcPct val="0"/>
              </a:spcBef>
              <a:spcAft>
                <a:spcPct val="0"/>
              </a:spcAft>
              <a:buFontTx/>
              <a:buChar char="•"/>
            </a:pPr>
            <a:r>
              <a:rPr lang="en-US" altLang="en-US" sz="2100" dirty="0"/>
              <a:t>File Type: PLY (Polygon File Format).</a:t>
            </a:r>
          </a:p>
          <a:p>
            <a:pPr marL="914400" lvl="2" indent="0" eaLnBrk="0" fontAlgn="base" hangingPunct="0">
              <a:lnSpc>
                <a:spcPct val="170000"/>
              </a:lnSpc>
              <a:spcBef>
                <a:spcPct val="0"/>
              </a:spcBef>
              <a:spcAft>
                <a:spcPct val="0"/>
              </a:spcAft>
              <a:buFontTx/>
              <a:buChar char="•"/>
            </a:pPr>
            <a:r>
              <a:rPr lang="en-US" altLang="en-US" sz="2100" dirty="0"/>
              <a:t>Point Count: A substantial 61,914 points, representing a realistic and noisy point cloud scan of a floor surface.</a:t>
            </a:r>
          </a:p>
          <a:p>
            <a:pPr marL="0" lvl="0" indent="0" eaLnBrk="0" fontAlgn="base" hangingPunct="0">
              <a:lnSpc>
                <a:spcPct val="170000"/>
              </a:lnSpc>
              <a:spcBef>
                <a:spcPct val="0"/>
              </a:spcBef>
              <a:spcAft>
                <a:spcPct val="0"/>
              </a:spcAft>
              <a:buNone/>
            </a:pPr>
            <a:endParaRPr lang="en-US" altLang="en-US" sz="1800" dirty="0">
              <a:latin typeface="Arial" panose="020B0604020202020204" pitchFamily="34" charset="0"/>
            </a:endParaRPr>
          </a:p>
          <a:p>
            <a:pPr lvl="2">
              <a:lnSpc>
                <a:spcPct val="170000"/>
              </a:lnSpc>
            </a:pPr>
            <a:endParaRPr lang="en-US" dirty="0"/>
          </a:p>
          <a:p>
            <a:pPr>
              <a:lnSpc>
                <a:spcPct val="170000"/>
              </a:lnSpc>
            </a:pPr>
            <a:endParaRPr lang="en-US" dirty="0"/>
          </a:p>
          <a:p>
            <a:pPr>
              <a:lnSpc>
                <a:spcPct val="170000"/>
              </a:lnSpc>
            </a:pPr>
            <a:endParaRPr lang="en-US" dirty="0"/>
          </a:p>
        </p:txBody>
      </p:sp>
      <p:sp>
        <p:nvSpPr>
          <p:cNvPr id="4" name="Slide Number Placeholder 3">
            <a:extLst>
              <a:ext uri="{FF2B5EF4-FFF2-40B4-BE49-F238E27FC236}">
                <a16:creationId xmlns:a16="http://schemas.microsoft.com/office/drawing/2014/main" id="{A5C4EECD-7E87-9C58-0609-CF0CC0763879}"/>
              </a:ext>
            </a:extLst>
          </p:cNvPr>
          <p:cNvSpPr>
            <a:spLocks noGrp="1"/>
          </p:cNvSpPr>
          <p:nvPr>
            <p:ph type="sldNum" sz="quarter" idx="12"/>
          </p:nvPr>
        </p:nvSpPr>
        <p:spPr/>
        <p:txBody>
          <a:bodyPr/>
          <a:lstStyle/>
          <a:p>
            <a:fld id="{DADAC235-C9E6-487D-8BF0-E0D19F810E81}" type="slidenum">
              <a:rPr lang="en-US" smtClean="0"/>
              <a:t>20</a:t>
            </a:fld>
            <a:endParaRPr lang="en-US"/>
          </a:p>
        </p:txBody>
      </p:sp>
      <p:sp>
        <p:nvSpPr>
          <p:cNvPr id="11" name="Rectangle 10">
            <a:extLst>
              <a:ext uri="{FF2B5EF4-FFF2-40B4-BE49-F238E27FC236}">
                <a16:creationId xmlns:a16="http://schemas.microsoft.com/office/drawing/2014/main" id="{B805AE3A-A510-FC0C-6675-34999BAAAFE3}"/>
              </a:ext>
            </a:extLst>
          </p:cNvPr>
          <p:cNvSpPr/>
          <p:nvPr/>
        </p:nvSpPr>
        <p:spPr>
          <a:xfrm>
            <a:off x="9150926" y="6469784"/>
            <a:ext cx="1877291" cy="2895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4FB0BE-07A7-5A0B-B886-A22FC6B1D0CF}"/>
              </a:ext>
            </a:extLst>
          </p:cNvPr>
          <p:cNvSpPr/>
          <p:nvPr/>
        </p:nvSpPr>
        <p:spPr>
          <a:xfrm>
            <a:off x="9476509" y="3020890"/>
            <a:ext cx="1877291" cy="2895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2661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41367-9ED3-42A3-EA76-BB0BB63C0BF8}"/>
              </a:ext>
            </a:extLst>
          </p:cNvPr>
          <p:cNvSpPr>
            <a:spLocks noGrp="1"/>
          </p:cNvSpPr>
          <p:nvPr>
            <p:ph type="title"/>
          </p:nvPr>
        </p:nvSpPr>
        <p:spPr/>
        <p:txBody>
          <a:bodyPr/>
          <a:lstStyle/>
          <a:p>
            <a:r>
              <a:rPr lang="en-US" dirty="0"/>
              <a:t>Experimental Validation</a:t>
            </a:r>
          </a:p>
        </p:txBody>
      </p:sp>
      <p:sp>
        <p:nvSpPr>
          <p:cNvPr id="3" name="Content Placeholder 2">
            <a:extLst>
              <a:ext uri="{FF2B5EF4-FFF2-40B4-BE49-F238E27FC236}">
                <a16:creationId xmlns:a16="http://schemas.microsoft.com/office/drawing/2014/main" id="{29EC5A85-5A43-B2C6-3FBD-C526E75309B9}"/>
              </a:ext>
            </a:extLst>
          </p:cNvPr>
          <p:cNvSpPr>
            <a:spLocks noGrp="1"/>
          </p:cNvSpPr>
          <p:nvPr>
            <p:ph idx="1"/>
          </p:nvPr>
        </p:nvSpPr>
        <p:spPr>
          <a:xfrm>
            <a:off x="838200" y="1825625"/>
            <a:ext cx="7422573" cy="4034848"/>
          </a:xfrm>
        </p:spPr>
        <p:txBody>
          <a:bodyPr>
            <a:normAutofit lnSpcReduction="10000"/>
          </a:bodyPr>
          <a:lstStyle/>
          <a:p>
            <a:r>
              <a:rPr lang="en-US" sz="1800" b="1" dirty="0"/>
              <a:t>Common Configuration Parameters</a:t>
            </a:r>
          </a:p>
          <a:p>
            <a:pPr lvl="1"/>
            <a:r>
              <a:rPr lang="en-US" sz="1600" b="1" dirty="0"/>
              <a:t>Subspace Dimension:</a:t>
            </a:r>
            <a:r>
              <a:rPr lang="en-US" sz="1600" dirty="0"/>
              <a:t> Set to 3 for all shape subspace computations, balancing dimensionality reduction with geometric representation.</a:t>
            </a:r>
          </a:p>
          <a:p>
            <a:pPr lvl="1"/>
            <a:r>
              <a:rPr lang="en-US" sz="1600" b="1" dirty="0"/>
              <a:t>Neighbor Computation:</a:t>
            </a:r>
            <a:r>
              <a:rPr lang="en-US" sz="1600" dirty="0"/>
              <a:t> An eight-neighbor approach was consistently applied for Difference Subspace calculation, considering a wider context around each patch/window.</a:t>
            </a:r>
          </a:p>
          <a:p>
            <a:pPr lvl="1"/>
            <a:r>
              <a:rPr lang="en-US" sz="1600" b="1" dirty="0"/>
              <a:t>Sliding Window Overlap:</a:t>
            </a:r>
            <a:r>
              <a:rPr lang="en-US" sz="1600" dirty="0"/>
              <a:t> Specifically set at 50% for the sliding window method to ensure substantial overlap and increased spatial resolution.</a:t>
            </a:r>
          </a:p>
          <a:p>
            <a:r>
              <a:rPr lang="en-US" sz="1800" b="1" dirty="0"/>
              <a:t>Preprocessing Steps</a:t>
            </a:r>
          </a:p>
          <a:p>
            <a:pPr lvl="1"/>
            <a:r>
              <a:rPr lang="en-US" sz="1600" b="1" dirty="0"/>
              <a:t>Centering:</a:t>
            </a:r>
            <a:r>
              <a:rPr lang="en-US" sz="1600" dirty="0"/>
              <a:t> All point clouds (both synthetic and real-world) were centered to remove translational variance, ensuring that shape subspace computations focused purely on geometric form.</a:t>
            </a:r>
          </a:p>
          <a:p>
            <a:pPr lvl="1"/>
            <a:r>
              <a:rPr lang="en-US" sz="1600" b="1" dirty="0"/>
              <a:t>Optional </a:t>
            </a:r>
            <a:r>
              <a:rPr lang="en-US" sz="1600" b="1" dirty="0" err="1"/>
              <a:t>Downsampling</a:t>
            </a:r>
            <a:r>
              <a:rPr lang="en-US" sz="1600" b="1" dirty="0"/>
              <a:t>:</a:t>
            </a:r>
            <a:r>
              <a:rPr lang="en-US" sz="1600" dirty="0"/>
              <a:t> For very dense point clouds, </a:t>
            </a:r>
            <a:r>
              <a:rPr lang="en-US" sz="1600" dirty="0" err="1"/>
              <a:t>downsampling</a:t>
            </a:r>
            <a:r>
              <a:rPr lang="en-US" sz="1600" dirty="0"/>
              <a:t> could be applied to manage computational load without significant loss of critical detail.</a:t>
            </a:r>
          </a:p>
          <a:p>
            <a:pPr lvl="1"/>
            <a:r>
              <a:rPr lang="en-US" sz="1600" b="1" dirty="0"/>
              <a:t>Minimum Point Filtering:</a:t>
            </a:r>
            <a:r>
              <a:rPr lang="en-US" sz="1600" dirty="0"/>
              <a:t> A crucial step to ensure that each patch or window contained a sufficient number of points to allow for meaningful and stable shape subspace computation, preventing degenerate cases.</a:t>
            </a:r>
          </a:p>
          <a:p>
            <a:pPr lvl="1"/>
            <a:endParaRPr lang="en-US" sz="1600" dirty="0"/>
          </a:p>
          <a:p>
            <a:endParaRPr lang="en-US" sz="1800" dirty="0"/>
          </a:p>
        </p:txBody>
      </p:sp>
      <p:sp>
        <p:nvSpPr>
          <p:cNvPr id="4" name="Slide Number Placeholder 3">
            <a:extLst>
              <a:ext uri="{FF2B5EF4-FFF2-40B4-BE49-F238E27FC236}">
                <a16:creationId xmlns:a16="http://schemas.microsoft.com/office/drawing/2014/main" id="{83BB00D3-BA41-B295-C5A6-3277B3AE3F2F}"/>
              </a:ext>
            </a:extLst>
          </p:cNvPr>
          <p:cNvSpPr>
            <a:spLocks noGrp="1"/>
          </p:cNvSpPr>
          <p:nvPr>
            <p:ph type="sldNum" sz="quarter" idx="12"/>
          </p:nvPr>
        </p:nvSpPr>
        <p:spPr/>
        <p:txBody>
          <a:bodyPr/>
          <a:lstStyle/>
          <a:p>
            <a:fld id="{DADAC235-C9E6-487D-8BF0-E0D19F810E81}" type="slidenum">
              <a:rPr lang="en-US" smtClean="0"/>
              <a:t>21</a:t>
            </a:fld>
            <a:endParaRPr lang="en-US"/>
          </a:p>
        </p:txBody>
      </p:sp>
      <p:pic>
        <p:nvPicPr>
          <p:cNvPr id="6" name="Picture 5" descr="A blue squares with white text&#10;&#10;AI-generated content may be incorrect.">
            <a:extLst>
              <a:ext uri="{FF2B5EF4-FFF2-40B4-BE49-F238E27FC236}">
                <a16:creationId xmlns:a16="http://schemas.microsoft.com/office/drawing/2014/main" id="{A3ACB788-0ECE-5FDB-535F-3E4BFF37A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0600" y="3212034"/>
            <a:ext cx="3398914" cy="3081601"/>
          </a:xfrm>
          <a:prstGeom prst="rect">
            <a:avLst/>
          </a:prstGeom>
        </p:spPr>
      </p:pic>
      <p:pic>
        <p:nvPicPr>
          <p:cNvPr id="8" name="Picture 7" descr="A graph of different colored patches&#10;&#10;AI-generated content may be incorrect.">
            <a:extLst>
              <a:ext uri="{FF2B5EF4-FFF2-40B4-BE49-F238E27FC236}">
                <a16:creationId xmlns:a16="http://schemas.microsoft.com/office/drawing/2014/main" id="{FB8059BD-D489-2DC2-FFEC-060EA3D2B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0000" y="298715"/>
            <a:ext cx="3080113" cy="2913319"/>
          </a:xfrm>
          <a:prstGeom prst="rect">
            <a:avLst/>
          </a:prstGeom>
        </p:spPr>
      </p:pic>
    </p:spTree>
    <p:extLst>
      <p:ext uri="{BB962C8B-B14F-4D97-AF65-F5344CB8AC3E}">
        <p14:creationId xmlns:p14="http://schemas.microsoft.com/office/powerpoint/2010/main" val="1084352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7A51F-8CB2-710B-7F2B-B8BEE592BD65}"/>
              </a:ext>
            </a:extLst>
          </p:cNvPr>
          <p:cNvSpPr>
            <a:spLocks noGrp="1"/>
          </p:cNvSpPr>
          <p:nvPr>
            <p:ph type="title"/>
          </p:nvPr>
        </p:nvSpPr>
        <p:spPr/>
        <p:txBody>
          <a:bodyPr/>
          <a:lstStyle/>
          <a:p>
            <a:r>
              <a:rPr lang="en-US" dirty="0"/>
              <a:t>Results: Synthetic Data Performance</a:t>
            </a:r>
          </a:p>
        </p:txBody>
      </p:sp>
      <p:graphicFrame>
        <p:nvGraphicFramePr>
          <p:cNvPr id="5" name="Content Placeholder 4">
            <a:extLst>
              <a:ext uri="{FF2B5EF4-FFF2-40B4-BE49-F238E27FC236}">
                <a16:creationId xmlns:a16="http://schemas.microsoft.com/office/drawing/2014/main" id="{2A8B10EA-A3F4-9C5B-EEB7-BCDDAEF87E09}"/>
              </a:ext>
            </a:extLst>
          </p:cNvPr>
          <p:cNvGraphicFramePr>
            <a:graphicFrameLocks noGrp="1"/>
          </p:cNvGraphicFramePr>
          <p:nvPr>
            <p:ph idx="1"/>
            <p:extLst>
              <p:ext uri="{D42A27DB-BD31-4B8C-83A1-F6EECF244321}">
                <p14:modId xmlns:p14="http://schemas.microsoft.com/office/powerpoint/2010/main" val="557687116"/>
              </p:ext>
            </p:extLst>
          </p:nvPr>
        </p:nvGraphicFramePr>
        <p:xfrm>
          <a:off x="838202" y="1825625"/>
          <a:ext cx="6279573" cy="1828800"/>
        </p:xfrm>
        <a:graphic>
          <a:graphicData uri="http://schemas.openxmlformats.org/drawingml/2006/table">
            <a:tbl>
              <a:tblPr firstRow="1" bandRow="1">
                <a:tableStyleId>{616DA210-FB5B-4158-B5E0-FEB733F419BA}</a:tableStyleId>
              </a:tblPr>
              <a:tblGrid>
                <a:gridCol w="2093191">
                  <a:extLst>
                    <a:ext uri="{9D8B030D-6E8A-4147-A177-3AD203B41FA5}">
                      <a16:colId xmlns:a16="http://schemas.microsoft.com/office/drawing/2014/main" val="3474261182"/>
                    </a:ext>
                  </a:extLst>
                </a:gridCol>
                <a:gridCol w="2093191">
                  <a:extLst>
                    <a:ext uri="{9D8B030D-6E8A-4147-A177-3AD203B41FA5}">
                      <a16:colId xmlns:a16="http://schemas.microsoft.com/office/drawing/2014/main" val="262583731"/>
                    </a:ext>
                  </a:extLst>
                </a:gridCol>
                <a:gridCol w="2093191">
                  <a:extLst>
                    <a:ext uri="{9D8B030D-6E8A-4147-A177-3AD203B41FA5}">
                      <a16:colId xmlns:a16="http://schemas.microsoft.com/office/drawing/2014/main" val="2454972448"/>
                    </a:ext>
                  </a:extLst>
                </a:gridCol>
              </a:tblGrid>
              <a:tr h="320675">
                <a:tc>
                  <a:txBody>
                    <a:bodyPr/>
                    <a:lstStyle/>
                    <a:p>
                      <a:r>
                        <a:rPr lang="en-US" dirty="0"/>
                        <a:t>Metric</a:t>
                      </a:r>
                    </a:p>
                  </a:txBody>
                  <a:tcPr/>
                </a:tc>
                <a:tc>
                  <a:txBody>
                    <a:bodyPr/>
                    <a:lstStyle/>
                    <a:p>
                      <a:r>
                        <a:rPr lang="en-US" dirty="0"/>
                        <a:t>Fixed Patches</a:t>
                      </a:r>
                    </a:p>
                  </a:txBody>
                  <a:tcPr/>
                </a:tc>
                <a:tc>
                  <a:txBody>
                    <a:bodyPr/>
                    <a:lstStyle/>
                    <a:p>
                      <a:r>
                        <a:rPr lang="en-US" dirty="0"/>
                        <a:t>Sliding Window</a:t>
                      </a:r>
                    </a:p>
                  </a:txBody>
                  <a:tcPr/>
                </a:tc>
                <a:extLst>
                  <a:ext uri="{0D108BD9-81ED-4DB2-BD59-A6C34878D82A}">
                    <a16:rowId xmlns:a16="http://schemas.microsoft.com/office/drawing/2014/main" val="2053491768"/>
                  </a:ext>
                </a:extLst>
              </a:tr>
              <a:tr h="320675">
                <a:tc>
                  <a:txBody>
                    <a:bodyPr/>
                    <a:lstStyle/>
                    <a:p>
                      <a:r>
                        <a:rPr lang="en-US" dirty="0"/>
                        <a:t>Max DS Magnitude</a:t>
                      </a:r>
                    </a:p>
                  </a:txBody>
                  <a:tcPr/>
                </a:tc>
                <a:tc>
                  <a:txBody>
                    <a:bodyPr/>
                    <a:lstStyle/>
                    <a:p>
                      <a:pPr algn="ctr"/>
                      <a:r>
                        <a:rPr lang="en-US" dirty="0"/>
                        <a:t>0.652</a:t>
                      </a:r>
                    </a:p>
                  </a:txBody>
                  <a:tcPr/>
                </a:tc>
                <a:tc>
                  <a:txBody>
                    <a:bodyPr/>
                    <a:lstStyle/>
                    <a:p>
                      <a:pPr algn="ctr"/>
                      <a:r>
                        <a:rPr lang="en-US" dirty="0"/>
                        <a:t>0.770</a:t>
                      </a:r>
                    </a:p>
                  </a:txBody>
                  <a:tcPr/>
                </a:tc>
                <a:extLst>
                  <a:ext uri="{0D108BD9-81ED-4DB2-BD59-A6C34878D82A}">
                    <a16:rowId xmlns:a16="http://schemas.microsoft.com/office/drawing/2014/main" val="4239784830"/>
                  </a:ext>
                </a:extLst>
              </a:tr>
              <a:tr h="320675">
                <a:tc>
                  <a:txBody>
                    <a:bodyPr/>
                    <a:lstStyle/>
                    <a:p>
                      <a:r>
                        <a:rPr lang="en-US" dirty="0"/>
                        <a:t>Mean DS Magnitude</a:t>
                      </a:r>
                    </a:p>
                  </a:txBody>
                  <a:tcPr/>
                </a:tc>
                <a:tc>
                  <a:txBody>
                    <a:bodyPr/>
                    <a:lstStyle/>
                    <a:p>
                      <a:pPr algn="ctr"/>
                      <a:r>
                        <a:rPr lang="en-US" dirty="0"/>
                        <a:t>0.494</a:t>
                      </a:r>
                    </a:p>
                  </a:txBody>
                  <a:tcPr/>
                </a:tc>
                <a:tc>
                  <a:txBody>
                    <a:bodyPr/>
                    <a:lstStyle/>
                    <a:p>
                      <a:pPr algn="ctr"/>
                      <a:r>
                        <a:rPr lang="en-US" dirty="0"/>
                        <a:t>0.445</a:t>
                      </a:r>
                    </a:p>
                  </a:txBody>
                  <a:tcPr/>
                </a:tc>
                <a:extLst>
                  <a:ext uri="{0D108BD9-81ED-4DB2-BD59-A6C34878D82A}">
                    <a16:rowId xmlns:a16="http://schemas.microsoft.com/office/drawing/2014/main" val="2507293999"/>
                  </a:ext>
                </a:extLst>
              </a:tr>
              <a:tr h="320675">
                <a:tc>
                  <a:txBody>
                    <a:bodyPr/>
                    <a:lstStyle/>
                    <a:p>
                      <a:r>
                        <a:rPr lang="en-US" dirty="0"/>
                        <a:t>Resolution Increase</a:t>
                      </a:r>
                    </a:p>
                  </a:txBody>
                  <a:tcPr/>
                </a:tc>
                <a:tc>
                  <a:txBody>
                    <a:bodyPr/>
                    <a:lstStyle/>
                    <a:p>
                      <a:pPr algn="ctr"/>
                      <a:r>
                        <a:rPr lang="en-US" dirty="0"/>
                        <a:t>-</a:t>
                      </a:r>
                    </a:p>
                  </a:txBody>
                  <a:tcPr/>
                </a:tc>
                <a:tc>
                  <a:txBody>
                    <a:bodyPr/>
                    <a:lstStyle/>
                    <a:p>
                      <a:pPr algn="ctr"/>
                      <a:r>
                        <a:rPr lang="en-US" dirty="0"/>
                        <a:t>3.6x</a:t>
                      </a:r>
                    </a:p>
                  </a:txBody>
                  <a:tcPr/>
                </a:tc>
                <a:extLst>
                  <a:ext uri="{0D108BD9-81ED-4DB2-BD59-A6C34878D82A}">
                    <a16:rowId xmlns:a16="http://schemas.microsoft.com/office/drawing/2014/main" val="130900104"/>
                  </a:ext>
                </a:extLst>
              </a:tr>
              <a:tr h="320675">
                <a:tc>
                  <a:txBody>
                    <a:bodyPr/>
                    <a:lstStyle/>
                    <a:p>
                      <a:r>
                        <a:rPr lang="en-US" dirty="0"/>
                        <a:t>Analysis Points</a:t>
                      </a:r>
                    </a:p>
                  </a:txBody>
                  <a:tcPr/>
                </a:tc>
                <a:tc>
                  <a:txBody>
                    <a:bodyPr/>
                    <a:lstStyle/>
                    <a:p>
                      <a:pPr algn="ctr"/>
                      <a:r>
                        <a:rPr lang="en-US" dirty="0"/>
                        <a:t>100</a:t>
                      </a:r>
                    </a:p>
                  </a:txBody>
                  <a:tcPr/>
                </a:tc>
                <a:tc>
                  <a:txBody>
                    <a:bodyPr/>
                    <a:lstStyle/>
                    <a:p>
                      <a:pPr algn="ctr"/>
                      <a:r>
                        <a:rPr lang="en-US" dirty="0"/>
                        <a:t>361</a:t>
                      </a:r>
                    </a:p>
                  </a:txBody>
                  <a:tcPr/>
                </a:tc>
                <a:extLst>
                  <a:ext uri="{0D108BD9-81ED-4DB2-BD59-A6C34878D82A}">
                    <a16:rowId xmlns:a16="http://schemas.microsoft.com/office/drawing/2014/main" val="527293429"/>
                  </a:ext>
                </a:extLst>
              </a:tr>
            </a:tbl>
          </a:graphicData>
        </a:graphic>
      </p:graphicFrame>
      <p:sp>
        <p:nvSpPr>
          <p:cNvPr id="4" name="Slide Number Placeholder 3">
            <a:extLst>
              <a:ext uri="{FF2B5EF4-FFF2-40B4-BE49-F238E27FC236}">
                <a16:creationId xmlns:a16="http://schemas.microsoft.com/office/drawing/2014/main" id="{A54C16B3-9373-ABAA-E589-1BC6F4459648}"/>
              </a:ext>
            </a:extLst>
          </p:cNvPr>
          <p:cNvSpPr>
            <a:spLocks noGrp="1"/>
          </p:cNvSpPr>
          <p:nvPr>
            <p:ph type="sldNum" sz="quarter" idx="12"/>
          </p:nvPr>
        </p:nvSpPr>
        <p:spPr/>
        <p:txBody>
          <a:bodyPr/>
          <a:lstStyle/>
          <a:p>
            <a:fld id="{DADAC235-C9E6-487D-8BF0-E0D19F810E81}" type="slidenum">
              <a:rPr lang="en-US" smtClean="0"/>
              <a:t>22</a:t>
            </a:fld>
            <a:endParaRPr lang="en-US"/>
          </a:p>
        </p:txBody>
      </p:sp>
      <p:sp>
        <p:nvSpPr>
          <p:cNvPr id="9" name="Rectangle 3">
            <a:extLst>
              <a:ext uri="{FF2B5EF4-FFF2-40B4-BE49-F238E27FC236}">
                <a16:creationId xmlns:a16="http://schemas.microsoft.com/office/drawing/2014/main" id="{708A02DA-5763-A357-823A-63F513932CBE}"/>
              </a:ext>
            </a:extLst>
          </p:cNvPr>
          <p:cNvSpPr>
            <a:spLocks noChangeArrowheads="1"/>
          </p:cNvSpPr>
          <p:nvPr/>
        </p:nvSpPr>
        <p:spPr bwMode="auto">
          <a:xfrm>
            <a:off x="692244" y="4170327"/>
            <a:ext cx="10807511" cy="2551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1200" b="1" dirty="0">
                <a:latin typeface="Arial" panose="020B0604020202020204" pitchFamily="34" charset="0"/>
              </a:rPr>
              <a:t>Improved Peak Detection:</a:t>
            </a:r>
            <a:r>
              <a:rPr lang="en-US" altLang="en-US" sz="1200" dirty="0">
                <a:latin typeface="Arial" panose="020B0604020202020204" pitchFamily="34" charset="0"/>
              </a:rPr>
              <a:t> The sliding window approach showed an </a:t>
            </a:r>
            <a:r>
              <a:rPr lang="en-US" altLang="en-US" sz="1200" b="1" dirty="0">
                <a:latin typeface="Arial" panose="020B0604020202020204" pitchFamily="34" charset="0"/>
              </a:rPr>
              <a:t>18% improvement in maximum DS magnitude</a:t>
            </a:r>
            <a:r>
              <a:rPr lang="en-US" altLang="en-US" sz="1200" dirty="0">
                <a:latin typeface="Arial" panose="020B0604020202020204" pitchFamily="34" charset="0"/>
              </a:rPr>
              <a:t> (0.770 vs. 0.652) for detected anomalies. This indicates a stronger and more distinct signal for anomalies.</a:t>
            </a:r>
          </a:p>
          <a:p>
            <a:pPr lvl="0" eaLnBrk="0" fontAlgn="base" hangingPunct="0">
              <a:lnSpc>
                <a:spcPct val="150000"/>
              </a:lnSpc>
              <a:spcBef>
                <a:spcPct val="0"/>
              </a:spcBef>
              <a:spcAft>
                <a:spcPct val="0"/>
              </a:spcAft>
              <a:buFontTx/>
              <a:buChar char="•"/>
            </a:pPr>
            <a:r>
              <a:rPr lang="en-US" altLang="en-US" sz="1200" b="1" dirty="0">
                <a:latin typeface="Arial" panose="020B0604020202020204" pitchFamily="34" charset="0"/>
              </a:rPr>
              <a:t>Consistent Mean Values:</a:t>
            </a:r>
            <a:r>
              <a:rPr lang="en-US" altLang="en-US" sz="1200" dirty="0">
                <a:latin typeface="Arial" panose="020B0604020202020204" pitchFamily="34" charset="0"/>
              </a:rPr>
              <a:t> Both methods maintained similar mean DS magnitudes, suggesting that the overall level of "difference" detected across the surface remained comparable, but the peak anomaly signals were enhanced by the sliding window.</a:t>
            </a:r>
          </a:p>
          <a:p>
            <a:pPr lvl="0" eaLnBrk="0" fontAlgn="base" hangingPunct="0">
              <a:lnSpc>
                <a:spcPct val="150000"/>
              </a:lnSpc>
              <a:spcBef>
                <a:spcPct val="0"/>
              </a:spcBef>
              <a:spcAft>
                <a:spcPct val="0"/>
              </a:spcAft>
              <a:buFontTx/>
              <a:buChar char="•"/>
            </a:pPr>
            <a:r>
              <a:rPr lang="en-US" altLang="en-US" sz="1200" b="1" dirty="0">
                <a:latin typeface="Arial" panose="020B0604020202020204" pitchFamily="34" charset="0"/>
              </a:rPr>
              <a:t>Significant Resolution Increase:</a:t>
            </a:r>
            <a:r>
              <a:rPr lang="en-US" altLang="en-US" sz="1200" dirty="0">
                <a:latin typeface="Arial" panose="020B0604020202020204" pitchFamily="34" charset="0"/>
              </a:rPr>
              <a:t> The sliding window method provided a </a:t>
            </a:r>
            <a:r>
              <a:rPr lang="en-US" altLang="en-US" sz="1200" b="1" dirty="0">
                <a:latin typeface="Arial" panose="020B0604020202020204" pitchFamily="34" charset="0"/>
              </a:rPr>
              <a:t>3.6x increase in spatial resolution</a:t>
            </a:r>
            <a:r>
              <a:rPr lang="en-US" altLang="en-US" sz="1200" dirty="0">
                <a:latin typeface="Arial" panose="020B0604020202020204" pitchFamily="34" charset="0"/>
              </a:rPr>
              <a:t>, yielding 361 analysis points compared to 100 for fixed patches. This confirms the theoretical advantage of overlapping analysis in providing a more detailed surface representation.</a:t>
            </a:r>
          </a:p>
          <a:p>
            <a:pPr lvl="0" eaLnBrk="0" fontAlgn="base" hangingPunct="0">
              <a:lnSpc>
                <a:spcPct val="150000"/>
              </a:lnSpc>
              <a:spcBef>
                <a:spcPct val="0"/>
              </a:spcBef>
              <a:spcAft>
                <a:spcPct val="0"/>
              </a:spcAft>
              <a:buFontTx/>
              <a:buChar char="•"/>
            </a:pPr>
            <a:r>
              <a:rPr lang="en-US" altLang="en-US" sz="1200" b="1" dirty="0">
                <a:latin typeface="Arial" panose="020B0604020202020204" pitchFamily="34" charset="0"/>
              </a:rPr>
              <a:t>Visual Confirmation:</a:t>
            </a:r>
            <a:r>
              <a:rPr lang="en-US" altLang="en-US" sz="1200" dirty="0">
                <a:latin typeface="Arial" panose="020B0604020202020204" pitchFamily="34" charset="0"/>
              </a:rPr>
              <a:t> Heatmaps of DS magnitudes for both methods clearly showed anomaly detection, but the sliding window often produced sharper and more localized anomaly representations.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5" name="Picture 14" descr="A graph of different colored columns&#10;&#10;AI-generated content may be incorrect.">
            <a:extLst>
              <a:ext uri="{FF2B5EF4-FFF2-40B4-BE49-F238E27FC236}">
                <a16:creationId xmlns:a16="http://schemas.microsoft.com/office/drawing/2014/main" id="{50542685-F0F2-8E09-5BA7-FF39F7F845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5678" y="1244440"/>
            <a:ext cx="3209911" cy="2991170"/>
          </a:xfrm>
          <a:prstGeom prst="rect">
            <a:avLst/>
          </a:prstGeom>
        </p:spPr>
      </p:pic>
    </p:spTree>
    <p:extLst>
      <p:ext uri="{BB962C8B-B14F-4D97-AF65-F5344CB8AC3E}">
        <p14:creationId xmlns:p14="http://schemas.microsoft.com/office/powerpoint/2010/main" val="3000762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79AE-F9EA-1E54-5B48-4FCF14A98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D507B-C1A2-E7CE-25D2-2F014A5F4C6E}"/>
              </a:ext>
            </a:extLst>
          </p:cNvPr>
          <p:cNvSpPr>
            <a:spLocks noGrp="1"/>
          </p:cNvSpPr>
          <p:nvPr>
            <p:ph type="title"/>
          </p:nvPr>
        </p:nvSpPr>
        <p:spPr/>
        <p:txBody>
          <a:bodyPr/>
          <a:lstStyle/>
          <a:p>
            <a:r>
              <a:rPr lang="en-US" dirty="0"/>
              <a:t>Results: Real-World Data Performance</a:t>
            </a:r>
          </a:p>
        </p:txBody>
      </p:sp>
      <p:graphicFrame>
        <p:nvGraphicFramePr>
          <p:cNvPr id="5" name="Content Placeholder 4">
            <a:extLst>
              <a:ext uri="{FF2B5EF4-FFF2-40B4-BE49-F238E27FC236}">
                <a16:creationId xmlns:a16="http://schemas.microsoft.com/office/drawing/2014/main" id="{CBC24BCE-A5EA-659A-8183-2BFB5ECD8493}"/>
              </a:ext>
            </a:extLst>
          </p:cNvPr>
          <p:cNvGraphicFramePr>
            <a:graphicFrameLocks noGrp="1"/>
          </p:cNvGraphicFramePr>
          <p:nvPr>
            <p:ph idx="1"/>
            <p:extLst>
              <p:ext uri="{D42A27DB-BD31-4B8C-83A1-F6EECF244321}">
                <p14:modId xmlns:p14="http://schemas.microsoft.com/office/powerpoint/2010/main" val="288553064"/>
              </p:ext>
            </p:extLst>
          </p:nvPr>
        </p:nvGraphicFramePr>
        <p:xfrm>
          <a:off x="838200" y="1825625"/>
          <a:ext cx="6487392" cy="2468880"/>
        </p:xfrm>
        <a:graphic>
          <a:graphicData uri="http://schemas.openxmlformats.org/drawingml/2006/table">
            <a:tbl>
              <a:tblPr firstRow="1" bandRow="1">
                <a:tableStyleId>{616DA210-FB5B-4158-B5E0-FEB733F419BA}</a:tableStyleId>
              </a:tblPr>
              <a:tblGrid>
                <a:gridCol w="2162464">
                  <a:extLst>
                    <a:ext uri="{9D8B030D-6E8A-4147-A177-3AD203B41FA5}">
                      <a16:colId xmlns:a16="http://schemas.microsoft.com/office/drawing/2014/main" val="3474261182"/>
                    </a:ext>
                  </a:extLst>
                </a:gridCol>
                <a:gridCol w="2162464">
                  <a:extLst>
                    <a:ext uri="{9D8B030D-6E8A-4147-A177-3AD203B41FA5}">
                      <a16:colId xmlns:a16="http://schemas.microsoft.com/office/drawing/2014/main" val="262583731"/>
                    </a:ext>
                  </a:extLst>
                </a:gridCol>
                <a:gridCol w="2162464">
                  <a:extLst>
                    <a:ext uri="{9D8B030D-6E8A-4147-A177-3AD203B41FA5}">
                      <a16:colId xmlns:a16="http://schemas.microsoft.com/office/drawing/2014/main" val="2454972448"/>
                    </a:ext>
                  </a:extLst>
                </a:gridCol>
              </a:tblGrid>
              <a:tr h="360747">
                <a:tc>
                  <a:txBody>
                    <a:bodyPr/>
                    <a:lstStyle/>
                    <a:p>
                      <a:r>
                        <a:rPr lang="en-US" dirty="0"/>
                        <a:t>Metric</a:t>
                      </a:r>
                    </a:p>
                  </a:txBody>
                  <a:tcPr/>
                </a:tc>
                <a:tc>
                  <a:txBody>
                    <a:bodyPr/>
                    <a:lstStyle/>
                    <a:p>
                      <a:r>
                        <a:rPr lang="en-US" dirty="0"/>
                        <a:t>Fixed Patches</a:t>
                      </a:r>
                    </a:p>
                  </a:txBody>
                  <a:tcPr/>
                </a:tc>
                <a:tc>
                  <a:txBody>
                    <a:bodyPr/>
                    <a:lstStyle/>
                    <a:p>
                      <a:r>
                        <a:rPr lang="en-US" dirty="0"/>
                        <a:t>Sliding Window</a:t>
                      </a:r>
                    </a:p>
                  </a:txBody>
                  <a:tcPr/>
                </a:tc>
                <a:extLst>
                  <a:ext uri="{0D108BD9-81ED-4DB2-BD59-A6C34878D82A}">
                    <a16:rowId xmlns:a16="http://schemas.microsoft.com/office/drawing/2014/main" val="2053491768"/>
                  </a:ext>
                </a:extLst>
              </a:tr>
              <a:tr h="360747">
                <a:tc>
                  <a:txBody>
                    <a:bodyPr/>
                    <a:lstStyle/>
                    <a:p>
                      <a:r>
                        <a:rPr lang="en-US" dirty="0"/>
                        <a:t>Max DS Magnitude</a:t>
                      </a:r>
                    </a:p>
                  </a:txBody>
                  <a:tcPr/>
                </a:tc>
                <a:tc>
                  <a:txBody>
                    <a:bodyPr/>
                    <a:lstStyle/>
                    <a:p>
                      <a:pPr algn="ctr"/>
                      <a:r>
                        <a:rPr lang="en-US" dirty="0"/>
                        <a:t>1.079</a:t>
                      </a:r>
                    </a:p>
                  </a:txBody>
                  <a:tcPr/>
                </a:tc>
                <a:tc>
                  <a:txBody>
                    <a:bodyPr/>
                    <a:lstStyle/>
                    <a:p>
                      <a:pPr algn="ctr"/>
                      <a:r>
                        <a:rPr lang="en-US" dirty="0"/>
                        <a:t>0.888</a:t>
                      </a:r>
                    </a:p>
                  </a:txBody>
                  <a:tcPr/>
                </a:tc>
                <a:extLst>
                  <a:ext uri="{0D108BD9-81ED-4DB2-BD59-A6C34878D82A}">
                    <a16:rowId xmlns:a16="http://schemas.microsoft.com/office/drawing/2014/main" val="4239784830"/>
                  </a:ext>
                </a:extLst>
              </a:tr>
              <a:tr h="360747">
                <a:tc>
                  <a:txBody>
                    <a:bodyPr/>
                    <a:lstStyle/>
                    <a:p>
                      <a:r>
                        <a:rPr lang="en-US" dirty="0"/>
                        <a:t>Mean DS Magnitude</a:t>
                      </a:r>
                    </a:p>
                  </a:txBody>
                  <a:tcPr/>
                </a:tc>
                <a:tc>
                  <a:txBody>
                    <a:bodyPr/>
                    <a:lstStyle/>
                    <a:p>
                      <a:pPr algn="ctr"/>
                      <a:r>
                        <a:rPr lang="en-US" dirty="0"/>
                        <a:t>0.977</a:t>
                      </a:r>
                    </a:p>
                  </a:txBody>
                  <a:tcPr/>
                </a:tc>
                <a:tc>
                  <a:txBody>
                    <a:bodyPr/>
                    <a:lstStyle/>
                    <a:p>
                      <a:pPr algn="ctr"/>
                      <a:r>
                        <a:rPr lang="en-US" dirty="0"/>
                        <a:t>0.547</a:t>
                      </a:r>
                    </a:p>
                  </a:txBody>
                  <a:tcPr/>
                </a:tc>
                <a:extLst>
                  <a:ext uri="{0D108BD9-81ED-4DB2-BD59-A6C34878D82A}">
                    <a16:rowId xmlns:a16="http://schemas.microsoft.com/office/drawing/2014/main" val="2507293999"/>
                  </a:ext>
                </a:extLst>
              </a:tr>
              <a:tr h="360747">
                <a:tc>
                  <a:txBody>
                    <a:bodyPr/>
                    <a:lstStyle/>
                    <a:p>
                      <a:r>
                        <a:rPr lang="en-US" dirty="0"/>
                        <a:t>Std Dev DS Magnitude</a:t>
                      </a:r>
                    </a:p>
                  </a:txBody>
                  <a:tcPr/>
                </a:tc>
                <a:tc>
                  <a:txBody>
                    <a:bodyPr/>
                    <a:lstStyle/>
                    <a:p>
                      <a:pPr algn="ctr"/>
                      <a:r>
                        <a:rPr lang="en-US" dirty="0"/>
                        <a:t>0.074</a:t>
                      </a:r>
                    </a:p>
                  </a:txBody>
                  <a:tcPr/>
                </a:tc>
                <a:tc>
                  <a:txBody>
                    <a:bodyPr/>
                    <a:lstStyle/>
                    <a:p>
                      <a:pPr algn="ctr"/>
                      <a:r>
                        <a:rPr lang="en-US" dirty="0"/>
                        <a:t>0.150</a:t>
                      </a:r>
                    </a:p>
                  </a:txBody>
                  <a:tcPr/>
                </a:tc>
                <a:extLst>
                  <a:ext uri="{0D108BD9-81ED-4DB2-BD59-A6C34878D82A}">
                    <a16:rowId xmlns:a16="http://schemas.microsoft.com/office/drawing/2014/main" val="228669962"/>
                  </a:ext>
                </a:extLst>
              </a:tr>
              <a:tr h="360747">
                <a:tc>
                  <a:txBody>
                    <a:bodyPr/>
                    <a:lstStyle/>
                    <a:p>
                      <a:r>
                        <a:rPr lang="en-US" dirty="0"/>
                        <a:t>Resolution Increase</a:t>
                      </a:r>
                    </a:p>
                  </a:txBody>
                  <a:tcPr/>
                </a:tc>
                <a:tc>
                  <a:txBody>
                    <a:bodyPr/>
                    <a:lstStyle/>
                    <a:p>
                      <a:pPr algn="ctr"/>
                      <a:r>
                        <a:rPr lang="en-US" dirty="0"/>
                        <a:t>-</a:t>
                      </a:r>
                    </a:p>
                  </a:txBody>
                  <a:tcPr/>
                </a:tc>
                <a:tc>
                  <a:txBody>
                    <a:bodyPr/>
                    <a:lstStyle/>
                    <a:p>
                      <a:pPr algn="ctr"/>
                      <a:r>
                        <a:rPr lang="en-US" dirty="0"/>
                        <a:t>3.5x</a:t>
                      </a:r>
                    </a:p>
                  </a:txBody>
                  <a:tcPr/>
                </a:tc>
                <a:extLst>
                  <a:ext uri="{0D108BD9-81ED-4DB2-BD59-A6C34878D82A}">
                    <a16:rowId xmlns:a16="http://schemas.microsoft.com/office/drawing/2014/main" val="130900104"/>
                  </a:ext>
                </a:extLst>
              </a:tr>
              <a:tr h="360747">
                <a:tc>
                  <a:txBody>
                    <a:bodyPr/>
                    <a:lstStyle/>
                    <a:p>
                      <a:r>
                        <a:rPr lang="en-US" dirty="0"/>
                        <a:t>Analysis Points</a:t>
                      </a:r>
                    </a:p>
                  </a:txBody>
                  <a:tcPr/>
                </a:tc>
                <a:tc>
                  <a:txBody>
                    <a:bodyPr/>
                    <a:lstStyle/>
                    <a:p>
                      <a:pPr algn="ctr"/>
                      <a:r>
                        <a:rPr lang="en-US" dirty="0"/>
                        <a:t>64</a:t>
                      </a:r>
                    </a:p>
                  </a:txBody>
                  <a:tcPr/>
                </a:tc>
                <a:tc>
                  <a:txBody>
                    <a:bodyPr/>
                    <a:lstStyle/>
                    <a:p>
                      <a:pPr algn="ctr"/>
                      <a:r>
                        <a:rPr lang="en-US" dirty="0"/>
                        <a:t>225</a:t>
                      </a:r>
                    </a:p>
                  </a:txBody>
                  <a:tcPr/>
                </a:tc>
                <a:extLst>
                  <a:ext uri="{0D108BD9-81ED-4DB2-BD59-A6C34878D82A}">
                    <a16:rowId xmlns:a16="http://schemas.microsoft.com/office/drawing/2014/main" val="527293429"/>
                  </a:ext>
                </a:extLst>
              </a:tr>
            </a:tbl>
          </a:graphicData>
        </a:graphic>
      </p:graphicFrame>
      <p:sp>
        <p:nvSpPr>
          <p:cNvPr id="4" name="Slide Number Placeholder 3">
            <a:extLst>
              <a:ext uri="{FF2B5EF4-FFF2-40B4-BE49-F238E27FC236}">
                <a16:creationId xmlns:a16="http://schemas.microsoft.com/office/drawing/2014/main" id="{A7FECC06-DF71-F09E-0BB7-B7D9FFB8A6F3}"/>
              </a:ext>
            </a:extLst>
          </p:cNvPr>
          <p:cNvSpPr>
            <a:spLocks noGrp="1"/>
          </p:cNvSpPr>
          <p:nvPr>
            <p:ph type="sldNum" sz="quarter" idx="12"/>
          </p:nvPr>
        </p:nvSpPr>
        <p:spPr/>
        <p:txBody>
          <a:bodyPr/>
          <a:lstStyle/>
          <a:p>
            <a:fld id="{DADAC235-C9E6-487D-8BF0-E0D19F810E81}" type="slidenum">
              <a:rPr lang="en-US" smtClean="0"/>
              <a:t>23</a:t>
            </a:fld>
            <a:endParaRPr lang="en-US"/>
          </a:p>
        </p:txBody>
      </p:sp>
      <p:sp>
        <p:nvSpPr>
          <p:cNvPr id="6" name="Rectangle 2">
            <a:extLst>
              <a:ext uri="{FF2B5EF4-FFF2-40B4-BE49-F238E27FC236}">
                <a16:creationId xmlns:a16="http://schemas.microsoft.com/office/drawing/2014/main" id="{59959F3A-01CB-9088-D6BB-1A282044FF81}"/>
              </a:ext>
            </a:extLst>
          </p:cNvPr>
          <p:cNvSpPr>
            <a:spLocks noChangeArrowheads="1"/>
          </p:cNvSpPr>
          <p:nvPr/>
        </p:nvSpPr>
        <p:spPr bwMode="auto">
          <a:xfrm>
            <a:off x="670657" y="4121340"/>
            <a:ext cx="10977552" cy="2600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Lower Absolute Peak Magnitudes (Sliding Window):</a:t>
            </a:r>
            <a:r>
              <a:rPr kumimoji="0" lang="en-US" altLang="en-US" sz="1100" b="0" i="0" u="none" strike="noStrike" cap="none" normalizeH="0" baseline="0" dirty="0">
                <a:ln>
                  <a:noFill/>
                </a:ln>
                <a:solidFill>
                  <a:schemeClr val="tx1"/>
                </a:solidFill>
                <a:effectLst/>
                <a:latin typeface="Arial" panose="020B0604020202020204" pitchFamily="34" charset="0"/>
              </a:rPr>
              <a:t> Interestingly, the sliding window showed a lower </a:t>
            </a:r>
            <a:r>
              <a:rPr kumimoji="0" lang="en-US" altLang="en-US" sz="1100" b="0" i="1" u="none" strike="noStrike" cap="none" normalizeH="0" baseline="0" dirty="0">
                <a:ln>
                  <a:noFill/>
                </a:ln>
                <a:solidFill>
                  <a:schemeClr val="tx1"/>
                </a:solidFill>
                <a:effectLst/>
                <a:latin typeface="Arial" panose="020B0604020202020204" pitchFamily="34" charset="0"/>
              </a:rPr>
              <a:t>absolute</a:t>
            </a:r>
            <a:r>
              <a:rPr kumimoji="0" lang="en-US" altLang="en-US" sz="1100" b="0" i="0" u="none" strike="noStrike" cap="none" normalizeH="0" baseline="0" dirty="0">
                <a:ln>
                  <a:noFill/>
                </a:ln>
                <a:solidFill>
                  <a:schemeClr val="tx1"/>
                </a:solidFill>
                <a:effectLst/>
                <a:latin typeface="Arial" panose="020B0604020202020204" pitchFamily="34" charset="0"/>
              </a:rPr>
              <a:t> maximum DS magnitude (0.888 vs. 1.079) on real data. This is a critical observation, as it suggests the sliding window's noise averaging effect might reduce the raw magnitude of </a:t>
            </a:r>
            <a:r>
              <a:rPr kumimoji="0" lang="en-US" altLang="en-US" sz="1100" b="0" i="1" u="none" strike="noStrike" cap="none" normalizeH="0" baseline="0" dirty="0">
                <a:ln>
                  <a:noFill/>
                </a:ln>
                <a:solidFill>
                  <a:schemeClr val="tx1"/>
                </a:solidFill>
                <a:effectLst/>
                <a:latin typeface="Arial" panose="020B0604020202020204" pitchFamily="34" charset="0"/>
              </a:rPr>
              <a:t>all</a:t>
            </a:r>
            <a:r>
              <a:rPr kumimoji="0" lang="en-US" altLang="en-US" sz="1100" b="0" i="0" u="none" strike="noStrike" cap="none" normalizeH="0" baseline="0" dirty="0">
                <a:ln>
                  <a:noFill/>
                </a:ln>
                <a:solidFill>
                  <a:schemeClr val="tx1"/>
                </a:solidFill>
                <a:effectLst/>
                <a:latin typeface="Arial" panose="020B0604020202020204" pitchFamily="34" charset="0"/>
              </a:rPr>
              <a:t> signals, including anomalies.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Significantly Improved Signal-to-Background Ratio:</a:t>
            </a:r>
            <a:r>
              <a:rPr kumimoji="0" lang="en-US" altLang="en-US" sz="1100" b="0" i="0" u="none" strike="noStrike" cap="none" normalizeH="0" baseline="0" dirty="0">
                <a:ln>
                  <a:noFill/>
                </a:ln>
                <a:solidFill>
                  <a:schemeClr val="tx1"/>
                </a:solidFill>
                <a:effectLst/>
                <a:latin typeface="Arial" panose="020B0604020202020204" pitchFamily="34" charset="0"/>
              </a:rPr>
              <a:t> Despite lower absolute peaks, the sliding window achieved a </a:t>
            </a:r>
            <a:r>
              <a:rPr kumimoji="0" lang="en-US" altLang="en-US" sz="1100" b="1" i="0" u="none" strike="noStrike" cap="none" normalizeH="0" baseline="0" dirty="0">
                <a:ln>
                  <a:noFill/>
                </a:ln>
                <a:solidFill>
                  <a:schemeClr val="tx1"/>
                </a:solidFill>
                <a:effectLst/>
                <a:latin typeface="Arial" panose="020B0604020202020204" pitchFamily="34" charset="0"/>
              </a:rPr>
              <a:t>wider dynamic range</a:t>
            </a:r>
            <a:r>
              <a:rPr kumimoji="0" lang="en-US" altLang="en-US" sz="1100" b="0" i="0" u="none" strike="noStrike" cap="none" normalizeH="0" baseline="0" dirty="0">
                <a:ln>
                  <a:noFill/>
                </a:ln>
                <a:solidFill>
                  <a:schemeClr val="tx1"/>
                </a:solidFill>
                <a:effectLst/>
                <a:latin typeface="Arial" panose="020B0604020202020204" pitchFamily="34" charset="0"/>
              </a:rPr>
              <a:t> (0.22-0.89 for sliding window vs. 0.73-1.08 for fixed patches). This indicates that the </a:t>
            </a:r>
            <a:r>
              <a:rPr kumimoji="0" lang="en-US" altLang="en-US" sz="1100" b="0" i="1" u="none" strike="noStrike" cap="none" normalizeH="0" baseline="0" dirty="0">
                <a:ln>
                  <a:noFill/>
                </a:ln>
                <a:solidFill>
                  <a:schemeClr val="tx1"/>
                </a:solidFill>
                <a:effectLst/>
                <a:latin typeface="Arial" panose="020B0604020202020204" pitchFamily="34" charset="0"/>
              </a:rPr>
              <a:t>contrast</a:t>
            </a:r>
            <a:r>
              <a:rPr kumimoji="0" lang="en-US" altLang="en-US" sz="1100" b="0" i="0" u="none" strike="noStrike" cap="none" normalizeH="0" baseline="0" dirty="0">
                <a:ln>
                  <a:noFill/>
                </a:ln>
                <a:solidFill>
                  <a:schemeClr val="tx1"/>
                </a:solidFill>
                <a:effectLst/>
                <a:latin typeface="Arial" panose="020B0604020202020204" pitchFamily="34" charset="0"/>
              </a:rPr>
              <a:t> between anomaly signals and the surrounding noise is much higher, making anomalies stand out more clearly.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Higher Standard Deviation (Sliding Window):</a:t>
            </a:r>
            <a:r>
              <a:rPr kumimoji="0" lang="en-US" altLang="en-US" sz="1100" b="0" i="0" u="none" strike="noStrike" cap="none" normalizeH="0" baseline="0" dirty="0">
                <a:ln>
                  <a:noFill/>
                </a:ln>
                <a:solidFill>
                  <a:schemeClr val="tx1"/>
                </a:solidFill>
                <a:effectLst/>
                <a:latin typeface="Arial" panose="020B0604020202020204" pitchFamily="34" charset="0"/>
              </a:rPr>
              <a:t> The increased standard deviation (0.150 vs. 0.074) for the sliding window suggests better differentiation between anomalous and non-anomalous regions, indicating a more sensitive response to local variations.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Substantial Resolution Increase:</a:t>
            </a:r>
            <a:r>
              <a:rPr kumimoji="0" lang="en-US" altLang="en-US" sz="1100" b="0" i="0" u="none" strike="noStrike" cap="none" normalizeH="0" baseline="0" dirty="0">
                <a:ln>
                  <a:noFill/>
                </a:ln>
                <a:solidFill>
                  <a:schemeClr val="tx1"/>
                </a:solidFill>
                <a:effectLst/>
                <a:latin typeface="Arial" panose="020B0604020202020204" pitchFamily="34" charset="0"/>
              </a:rPr>
              <a:t> Similar to synthetic data, the sliding window provided a </a:t>
            </a:r>
            <a:r>
              <a:rPr kumimoji="0" lang="en-US" altLang="en-US" sz="1100" b="1" i="0" u="none" strike="noStrike" cap="none" normalizeH="0" baseline="0" dirty="0">
                <a:ln>
                  <a:noFill/>
                </a:ln>
                <a:solidFill>
                  <a:schemeClr val="tx1"/>
                </a:solidFill>
                <a:effectLst/>
                <a:latin typeface="Arial" panose="020B0604020202020204" pitchFamily="34" charset="0"/>
              </a:rPr>
              <a:t>3.5x increase in spatial resolution</a:t>
            </a:r>
            <a:r>
              <a:rPr kumimoji="0" lang="en-US" altLang="en-US" sz="1100" b="0" i="0" u="none" strike="noStrike" cap="none" normalizeH="0" baseline="0" dirty="0">
                <a:ln>
                  <a:noFill/>
                </a:ln>
                <a:solidFill>
                  <a:schemeClr val="tx1"/>
                </a:solidFill>
                <a:effectLst/>
                <a:latin typeface="Arial" panose="020B0604020202020204" pitchFamily="34" charset="0"/>
              </a:rPr>
              <a:t> (225 vs. 64 analysis points), contributing to more precise anomaly localization.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Superior Visual Contrast:</a:t>
            </a:r>
            <a:r>
              <a:rPr kumimoji="0" lang="en-US" altLang="en-US" sz="1100" b="0" i="0" u="none" strike="noStrike" cap="none" normalizeH="0" baseline="0" dirty="0">
                <a:ln>
                  <a:noFill/>
                </a:ln>
                <a:solidFill>
                  <a:schemeClr val="tx1"/>
                </a:solidFill>
                <a:effectLst/>
                <a:latin typeface="Arial" panose="020B0604020202020204" pitchFamily="34" charset="0"/>
              </a:rPr>
              <a:t> As depicted in comparative visualizations (e.g., Figure 2 in the full report), the sliding window approach consistently produced clearer visual contrast for anomaly identification on noisy real data. The overlapping analysis created smoother gradients and more distinct anomaly regions.</a:t>
            </a:r>
          </a:p>
        </p:txBody>
      </p:sp>
      <p:pic>
        <p:nvPicPr>
          <p:cNvPr id="11" name="Picture 10" descr="A graph of different colored bars&#10;&#10;AI-generated content may be incorrect.">
            <a:extLst>
              <a:ext uri="{FF2B5EF4-FFF2-40B4-BE49-F238E27FC236}">
                <a16:creationId xmlns:a16="http://schemas.microsoft.com/office/drawing/2014/main" id="{B97DA8F3-98E1-8417-557D-45F5D46EFD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6604" y="1526555"/>
            <a:ext cx="3069649" cy="2758918"/>
          </a:xfrm>
          <a:prstGeom prst="rect">
            <a:avLst/>
          </a:prstGeom>
        </p:spPr>
      </p:pic>
    </p:spTree>
    <p:extLst>
      <p:ext uri="{BB962C8B-B14F-4D97-AF65-F5344CB8AC3E}">
        <p14:creationId xmlns:p14="http://schemas.microsoft.com/office/powerpoint/2010/main" val="575016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F41-94CA-F349-8EF7-6D33E6D28F40}"/>
              </a:ext>
            </a:extLst>
          </p:cNvPr>
          <p:cNvSpPr>
            <a:spLocks noGrp="1"/>
          </p:cNvSpPr>
          <p:nvPr>
            <p:ph type="title"/>
          </p:nvPr>
        </p:nvSpPr>
        <p:spPr/>
        <p:txBody>
          <a:bodyPr/>
          <a:lstStyle/>
          <a:p>
            <a:r>
              <a:rPr lang="en-US" dirty="0"/>
              <a:t>Key Finding: Data-Dependent Performance</a:t>
            </a:r>
          </a:p>
        </p:txBody>
      </p:sp>
      <p:pic>
        <p:nvPicPr>
          <p:cNvPr id="6" name="Content Placeholder 5" descr="A close-up of several graphs&#10;&#10;AI-generated content may be incorrect.">
            <a:extLst>
              <a:ext uri="{FF2B5EF4-FFF2-40B4-BE49-F238E27FC236}">
                <a16:creationId xmlns:a16="http://schemas.microsoft.com/office/drawing/2014/main" id="{2AEAFBE4-39DD-E4DC-9D04-F3C6911C17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7161" y="1690687"/>
            <a:ext cx="6709001" cy="3986639"/>
          </a:xfrm>
        </p:spPr>
      </p:pic>
      <p:sp>
        <p:nvSpPr>
          <p:cNvPr id="4" name="Slide Number Placeholder 3">
            <a:extLst>
              <a:ext uri="{FF2B5EF4-FFF2-40B4-BE49-F238E27FC236}">
                <a16:creationId xmlns:a16="http://schemas.microsoft.com/office/drawing/2014/main" id="{569ACDD2-9DE7-3830-8B32-DED05DA2B214}"/>
              </a:ext>
            </a:extLst>
          </p:cNvPr>
          <p:cNvSpPr>
            <a:spLocks noGrp="1"/>
          </p:cNvSpPr>
          <p:nvPr>
            <p:ph type="sldNum" sz="quarter" idx="12"/>
          </p:nvPr>
        </p:nvSpPr>
        <p:spPr/>
        <p:txBody>
          <a:bodyPr/>
          <a:lstStyle/>
          <a:p>
            <a:fld id="{DADAC235-C9E6-487D-8BF0-E0D19F810E81}" type="slidenum">
              <a:rPr lang="en-US" smtClean="0"/>
              <a:t>24</a:t>
            </a:fld>
            <a:endParaRPr lang="en-US"/>
          </a:p>
        </p:txBody>
      </p:sp>
      <p:sp>
        <p:nvSpPr>
          <p:cNvPr id="7" name="TextBox 6">
            <a:extLst>
              <a:ext uri="{FF2B5EF4-FFF2-40B4-BE49-F238E27FC236}">
                <a16:creationId xmlns:a16="http://schemas.microsoft.com/office/drawing/2014/main" id="{12A82ECD-2D49-17D2-EF2F-FAFD1D85C240}"/>
              </a:ext>
            </a:extLst>
          </p:cNvPr>
          <p:cNvSpPr txBox="1"/>
          <p:nvPr/>
        </p:nvSpPr>
        <p:spPr>
          <a:xfrm>
            <a:off x="135083" y="1690687"/>
            <a:ext cx="4395354" cy="50969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a:t>Clean Synthetic Data</a:t>
            </a:r>
          </a:p>
          <a:p>
            <a:pPr marL="742950" lvl="1" indent="-285750">
              <a:lnSpc>
                <a:spcPct val="150000"/>
              </a:lnSpc>
              <a:buFont typeface="Arial" panose="020B0604020202020204" pitchFamily="34" charset="0"/>
              <a:buChar char="•"/>
            </a:pPr>
            <a:r>
              <a:rPr lang="en-US" sz="1400" b="1" dirty="0"/>
              <a:t>Performance:</a:t>
            </a:r>
            <a:r>
              <a:rPr lang="en-US" sz="1400" dirty="0"/>
              <a:t> Both fixed patch and sliding window methods perform well in detecting anomalies.</a:t>
            </a:r>
          </a:p>
          <a:p>
            <a:pPr marL="285750" indent="-285750">
              <a:lnSpc>
                <a:spcPct val="150000"/>
              </a:lnSpc>
              <a:buFont typeface="Arial" panose="020B0604020202020204" pitchFamily="34" charset="0"/>
              <a:buChar char="•"/>
            </a:pPr>
            <a:r>
              <a:rPr lang="en-US" sz="1400" b="1" dirty="0"/>
              <a:t>Noisy Real-World Data</a:t>
            </a:r>
          </a:p>
          <a:p>
            <a:pPr marL="742950" lvl="1" indent="-285750">
              <a:buFont typeface="Arial" panose="020B0604020202020204" pitchFamily="34" charset="0"/>
              <a:buChar char="•"/>
            </a:pPr>
            <a:r>
              <a:rPr lang="en-US" sz="1400" dirty="0"/>
              <a:t>The </a:t>
            </a:r>
            <a:r>
              <a:rPr lang="en-US" sz="1400" b="1" dirty="0"/>
              <a:t>sliding window approach</a:t>
            </a:r>
            <a:r>
              <a:rPr lang="en-US" sz="1400" dirty="0"/>
              <a:t> outperforms fixed patches in processing </a:t>
            </a:r>
            <a:r>
              <a:rPr lang="en-US" sz="1400" b="1" dirty="0"/>
              <a:t>noisy real-world point cloud data</a:t>
            </a:r>
            <a:r>
              <a:rPr lang="en-US" sz="1400" dirty="0"/>
              <a:t>, offering:</a:t>
            </a:r>
          </a:p>
          <a:p>
            <a:pPr marL="742950" lvl="1" indent="-285750">
              <a:buFont typeface="Arial" panose="020B0604020202020204" pitchFamily="34" charset="0"/>
              <a:buChar char="•"/>
            </a:pPr>
            <a:r>
              <a:rPr lang="en-US" sz="1400" b="1" dirty="0"/>
              <a:t>Higher Signal-to-Background Ratio</a:t>
            </a:r>
            <a:r>
              <a:rPr lang="en-US" sz="1400" dirty="0"/>
              <a:t>: Sliding window yields a wider dynamic range (0.22–0.89) compared to fixed patches (0.73–1.08), making anomalies more distinguishable from background noise.</a:t>
            </a:r>
          </a:p>
          <a:p>
            <a:pPr marL="742950" lvl="1" indent="-285750">
              <a:buFont typeface="Arial" panose="020B0604020202020204" pitchFamily="34" charset="0"/>
              <a:buChar char="•"/>
            </a:pPr>
            <a:r>
              <a:rPr lang="en-US" sz="1400" b="1" dirty="0"/>
              <a:t>Improved Visual Contrast</a:t>
            </a:r>
            <a:r>
              <a:rPr lang="en-US" sz="1400" dirty="0"/>
              <a:t>: It suppresses background noise effectively while preserving anomalies, resulting in clearer visualizations with smoother gradients—enhancing both </a:t>
            </a:r>
            <a:r>
              <a:rPr lang="en-US" sz="1400" b="1" dirty="0"/>
              <a:t>human interpretation</a:t>
            </a:r>
            <a:r>
              <a:rPr lang="en-US" sz="1400" dirty="0"/>
              <a:t> and </a:t>
            </a:r>
            <a:r>
              <a:rPr lang="en-US" sz="1400" b="1" dirty="0"/>
              <a:t>automated detection</a:t>
            </a:r>
            <a:r>
              <a:rPr lang="en-US" sz="1400" dirty="0"/>
              <a:t>.</a:t>
            </a:r>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76702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A270-BF44-9639-89D0-F379C0C60DFC}"/>
              </a:ext>
            </a:extLst>
          </p:cNvPr>
          <p:cNvSpPr>
            <a:spLocks noGrp="1"/>
          </p:cNvSpPr>
          <p:nvPr>
            <p:ph type="title"/>
          </p:nvPr>
        </p:nvSpPr>
        <p:spPr/>
        <p:txBody>
          <a:bodyPr/>
          <a:lstStyle/>
          <a:p>
            <a:r>
              <a:rPr lang="en-US" dirty="0">
                <a:latin typeface="游ゴシック (Body)"/>
              </a:rPr>
              <a:t>Future Work</a:t>
            </a:r>
          </a:p>
        </p:txBody>
      </p:sp>
      <p:sp>
        <p:nvSpPr>
          <p:cNvPr id="3" name="Content Placeholder 2">
            <a:extLst>
              <a:ext uri="{FF2B5EF4-FFF2-40B4-BE49-F238E27FC236}">
                <a16:creationId xmlns:a16="http://schemas.microsoft.com/office/drawing/2014/main" id="{F9ED5FF3-69F6-762A-94C0-96DFB26CEC22}"/>
              </a:ext>
            </a:extLst>
          </p:cNvPr>
          <p:cNvSpPr>
            <a:spLocks noGrp="1"/>
          </p:cNvSpPr>
          <p:nvPr>
            <p:ph idx="1"/>
          </p:nvPr>
        </p:nvSpPr>
        <p:spPr/>
        <p:txBody>
          <a:bodyPr>
            <a:normAutofit/>
          </a:bodyPr>
          <a:lstStyle/>
          <a:p>
            <a:r>
              <a:rPr lang="en-US" sz="2400" b="1" dirty="0"/>
              <a:t>Adaptive Parameter Selection</a:t>
            </a:r>
            <a:endParaRPr lang="en-US" sz="2400" dirty="0"/>
          </a:p>
          <a:p>
            <a:pPr lvl="1"/>
            <a:r>
              <a:rPr lang="en-US" sz="2000" b="1" dirty="0"/>
              <a:t>Goal</a:t>
            </a:r>
            <a:r>
              <a:rPr lang="en-US" sz="2000" dirty="0"/>
              <a:t>: Eliminate fixed window sizes and overlaps.</a:t>
            </a:r>
          </a:p>
          <a:p>
            <a:pPr lvl="1"/>
            <a:r>
              <a:rPr lang="en-US" sz="2000" b="1" dirty="0"/>
              <a:t>Approach</a:t>
            </a:r>
            <a:r>
              <a:rPr lang="en-US" sz="2000" dirty="0"/>
              <a:t>: Use algorithms that adaptively choose window size and overlap based on </a:t>
            </a:r>
            <a:r>
              <a:rPr lang="en-US" sz="2000" b="1" dirty="0"/>
              <a:t>local point density</a:t>
            </a:r>
            <a:r>
              <a:rPr lang="en-US" sz="2000" dirty="0"/>
              <a:t> and </a:t>
            </a:r>
            <a:r>
              <a:rPr lang="en-US" sz="2000" b="1" dirty="0"/>
              <a:t>noise levels</a:t>
            </a:r>
            <a:r>
              <a:rPr lang="en-US" sz="2000" dirty="0"/>
              <a:t>, improving robustness across diverse data.</a:t>
            </a:r>
          </a:p>
          <a:p>
            <a:r>
              <a:rPr lang="en-US" sz="2400" b="1" dirty="0"/>
              <a:t>Multi-Scale Analysis</a:t>
            </a:r>
            <a:endParaRPr lang="en-US" sz="2400" dirty="0"/>
          </a:p>
          <a:p>
            <a:pPr lvl="1"/>
            <a:r>
              <a:rPr lang="en-US" sz="2000" b="1" dirty="0"/>
              <a:t>Goal</a:t>
            </a:r>
            <a:r>
              <a:rPr lang="en-US" sz="2000" dirty="0"/>
              <a:t>: Capture anomalies of varying sizes.</a:t>
            </a:r>
          </a:p>
          <a:p>
            <a:pPr lvl="1"/>
            <a:r>
              <a:rPr lang="en-US" sz="2000" b="1" dirty="0"/>
              <a:t>Approach</a:t>
            </a:r>
            <a:r>
              <a:rPr lang="en-US" sz="2000" dirty="0"/>
              <a:t>: Apply a </a:t>
            </a:r>
            <a:r>
              <a:rPr lang="en-US" sz="2000" b="1" dirty="0"/>
              <a:t>hierarchical sliding window</a:t>
            </a:r>
            <a:r>
              <a:rPr lang="en-US" sz="2000" dirty="0"/>
              <a:t> with multiple window sizes to detect both </a:t>
            </a:r>
            <a:r>
              <a:rPr lang="en-US" sz="2000" b="1" dirty="0"/>
              <a:t>small localized</a:t>
            </a:r>
            <a:r>
              <a:rPr lang="en-US" sz="2000" dirty="0"/>
              <a:t> and </a:t>
            </a:r>
            <a:r>
              <a:rPr lang="en-US" sz="2000" b="1" dirty="0"/>
              <a:t>large diffuse</a:t>
            </a:r>
            <a:r>
              <a:rPr lang="en-US" sz="2000" dirty="0"/>
              <a:t> anomalies.</a:t>
            </a:r>
          </a:p>
          <a:p>
            <a:r>
              <a:rPr lang="en-US" sz="2400" b="1" dirty="0"/>
              <a:t>Performance Optimization</a:t>
            </a:r>
            <a:endParaRPr lang="en-US" sz="2400" dirty="0"/>
          </a:p>
          <a:p>
            <a:pPr lvl="1"/>
            <a:r>
              <a:rPr lang="en-US" sz="2000" b="1" dirty="0"/>
              <a:t>Goal</a:t>
            </a:r>
            <a:r>
              <a:rPr lang="en-US" sz="2000" dirty="0"/>
              <a:t>: Enable real-time analysis for large datasets.</a:t>
            </a:r>
          </a:p>
          <a:p>
            <a:pPr lvl="1"/>
            <a:r>
              <a:rPr lang="en-US" sz="2000" b="1" dirty="0"/>
              <a:t>Approach</a:t>
            </a:r>
            <a:r>
              <a:rPr lang="en-US" sz="2000" dirty="0"/>
              <a:t>: Use </a:t>
            </a:r>
            <a:r>
              <a:rPr lang="en-US" sz="2000" b="1" dirty="0"/>
              <a:t>parallel processing</a:t>
            </a:r>
            <a:r>
              <a:rPr lang="en-US" sz="2000" dirty="0"/>
              <a:t> and </a:t>
            </a:r>
            <a:r>
              <a:rPr lang="en-US" sz="2000" b="1" dirty="0"/>
              <a:t>GPU acceleration</a:t>
            </a:r>
            <a:r>
              <a:rPr lang="en-US" sz="2000" dirty="0"/>
              <a:t> to reduce computation time and support high-throughput scenarios.</a:t>
            </a:r>
          </a:p>
          <a:p>
            <a:endParaRPr lang="en-US" sz="2400" dirty="0"/>
          </a:p>
        </p:txBody>
      </p:sp>
      <p:sp>
        <p:nvSpPr>
          <p:cNvPr id="4" name="Slide Number Placeholder 3">
            <a:extLst>
              <a:ext uri="{FF2B5EF4-FFF2-40B4-BE49-F238E27FC236}">
                <a16:creationId xmlns:a16="http://schemas.microsoft.com/office/drawing/2014/main" id="{FBCAD2B4-B2A7-5C8E-C720-C5B24D76E8EC}"/>
              </a:ext>
            </a:extLst>
          </p:cNvPr>
          <p:cNvSpPr>
            <a:spLocks noGrp="1"/>
          </p:cNvSpPr>
          <p:nvPr>
            <p:ph type="sldNum" sz="quarter" idx="12"/>
          </p:nvPr>
        </p:nvSpPr>
        <p:spPr/>
        <p:txBody>
          <a:bodyPr/>
          <a:lstStyle/>
          <a:p>
            <a:fld id="{DADAC235-C9E6-487D-8BF0-E0D19F810E81}" type="slidenum">
              <a:rPr lang="en-US" smtClean="0"/>
              <a:t>25</a:t>
            </a:fld>
            <a:endParaRPr lang="en-US"/>
          </a:p>
        </p:txBody>
      </p:sp>
      <p:pic>
        <p:nvPicPr>
          <p:cNvPr id="8" name="Picture 7">
            <a:extLst>
              <a:ext uri="{FF2B5EF4-FFF2-40B4-BE49-F238E27FC236}">
                <a16:creationId xmlns:a16="http://schemas.microsoft.com/office/drawing/2014/main" id="{F64F142C-5B1E-5365-2C1B-8BE7E380E8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6203" y="136525"/>
            <a:ext cx="5113236" cy="2299482"/>
          </a:xfrm>
          <a:prstGeom prst="rect">
            <a:avLst/>
          </a:prstGeom>
        </p:spPr>
      </p:pic>
    </p:spTree>
    <p:extLst>
      <p:ext uri="{BB962C8B-B14F-4D97-AF65-F5344CB8AC3E}">
        <p14:creationId xmlns:p14="http://schemas.microsoft.com/office/powerpoint/2010/main" val="2102702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30D2561-E63E-CF92-7B98-5B2077533B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26371"/>
            <a:ext cx="3918751" cy="3793119"/>
          </a:xfrm>
        </p:spPr>
      </p:pic>
      <p:sp>
        <p:nvSpPr>
          <p:cNvPr id="4" name="Slide Number Placeholder 3">
            <a:extLst>
              <a:ext uri="{FF2B5EF4-FFF2-40B4-BE49-F238E27FC236}">
                <a16:creationId xmlns:a16="http://schemas.microsoft.com/office/drawing/2014/main" id="{1A56B93A-1127-541A-7200-DF6CE1F62E47}"/>
              </a:ext>
            </a:extLst>
          </p:cNvPr>
          <p:cNvSpPr>
            <a:spLocks noGrp="1"/>
          </p:cNvSpPr>
          <p:nvPr>
            <p:ph type="sldNum" sz="quarter" idx="12"/>
          </p:nvPr>
        </p:nvSpPr>
        <p:spPr/>
        <p:txBody>
          <a:bodyPr/>
          <a:lstStyle/>
          <a:p>
            <a:fld id="{DADAC235-C9E6-487D-8BF0-E0D19F810E81}" type="slidenum">
              <a:rPr lang="en-US" smtClean="0"/>
              <a:t>26</a:t>
            </a:fld>
            <a:endParaRPr lang="en-US"/>
          </a:p>
        </p:txBody>
      </p:sp>
      <p:pic>
        <p:nvPicPr>
          <p:cNvPr id="8" name="Picture 7">
            <a:extLst>
              <a:ext uri="{FF2B5EF4-FFF2-40B4-BE49-F238E27FC236}">
                <a16:creationId xmlns:a16="http://schemas.microsoft.com/office/drawing/2014/main" id="{7FBCD012-B40D-EF24-FD66-2759FFD19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8751" y="1417783"/>
            <a:ext cx="3829695" cy="3410293"/>
          </a:xfrm>
          <a:prstGeom prst="rect">
            <a:avLst/>
          </a:prstGeom>
        </p:spPr>
      </p:pic>
      <p:pic>
        <p:nvPicPr>
          <p:cNvPr id="10" name="Picture 9">
            <a:extLst>
              <a:ext uri="{FF2B5EF4-FFF2-40B4-BE49-F238E27FC236}">
                <a16:creationId xmlns:a16="http://schemas.microsoft.com/office/drawing/2014/main" id="{9FA7E882-7B01-C611-25C7-F2F563EC4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66595" y="1417783"/>
            <a:ext cx="3831210" cy="3410293"/>
          </a:xfrm>
          <a:prstGeom prst="rect">
            <a:avLst/>
          </a:prstGeom>
        </p:spPr>
      </p:pic>
      <p:sp>
        <p:nvSpPr>
          <p:cNvPr id="11" name="Title 1">
            <a:extLst>
              <a:ext uri="{FF2B5EF4-FFF2-40B4-BE49-F238E27FC236}">
                <a16:creationId xmlns:a16="http://schemas.microsoft.com/office/drawing/2014/main" id="{7B91AF3F-6A14-FD28-7280-5424FD208E49}"/>
              </a:ext>
            </a:extLst>
          </p:cNvPr>
          <p:cNvSpPr>
            <a:spLocks noGrp="1"/>
          </p:cNvSpPr>
          <p:nvPr>
            <p:ph type="title"/>
          </p:nvPr>
        </p:nvSpPr>
        <p:spPr>
          <a:xfrm>
            <a:off x="294195" y="136525"/>
            <a:ext cx="10515600" cy="1325563"/>
          </a:xfrm>
        </p:spPr>
        <p:txBody>
          <a:bodyPr/>
          <a:lstStyle/>
          <a:p>
            <a:r>
              <a:rPr lang="en-US" dirty="0">
                <a:latin typeface="游ゴシック (Body)"/>
              </a:rPr>
              <a:t>3D mesh</a:t>
            </a:r>
          </a:p>
        </p:txBody>
      </p:sp>
    </p:spTree>
    <p:extLst>
      <p:ext uri="{BB962C8B-B14F-4D97-AF65-F5344CB8AC3E}">
        <p14:creationId xmlns:p14="http://schemas.microsoft.com/office/powerpoint/2010/main" val="681189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274D-E72D-2AC2-1B8F-5FD23825B4B2}"/>
              </a:ext>
            </a:extLst>
          </p:cNvPr>
          <p:cNvSpPr>
            <a:spLocks noGrp="1"/>
          </p:cNvSpPr>
          <p:nvPr>
            <p:ph type="title"/>
          </p:nvPr>
        </p:nvSpPr>
        <p:spPr/>
        <p:txBody>
          <a:bodyPr/>
          <a:lstStyle/>
          <a:p>
            <a:r>
              <a:rPr lang="en-US" dirty="0">
                <a:latin typeface="游ゴシック (Body)"/>
              </a:rPr>
              <a:t>References</a:t>
            </a:r>
          </a:p>
        </p:txBody>
      </p:sp>
      <p:sp>
        <p:nvSpPr>
          <p:cNvPr id="4" name="Slide Number Placeholder 3">
            <a:extLst>
              <a:ext uri="{FF2B5EF4-FFF2-40B4-BE49-F238E27FC236}">
                <a16:creationId xmlns:a16="http://schemas.microsoft.com/office/drawing/2014/main" id="{27CA8097-B362-FCE2-147D-FB244826113D}"/>
              </a:ext>
            </a:extLst>
          </p:cNvPr>
          <p:cNvSpPr>
            <a:spLocks noGrp="1"/>
          </p:cNvSpPr>
          <p:nvPr>
            <p:ph type="sldNum" sz="quarter" idx="12"/>
          </p:nvPr>
        </p:nvSpPr>
        <p:spPr/>
        <p:txBody>
          <a:bodyPr/>
          <a:lstStyle/>
          <a:p>
            <a:fld id="{DADAC235-C9E6-487D-8BF0-E0D19F810E81}" type="slidenum">
              <a:rPr lang="en-US" smtClean="0"/>
              <a:t>27</a:t>
            </a:fld>
            <a:endParaRPr lang="en-US"/>
          </a:p>
        </p:txBody>
      </p:sp>
      <p:pic>
        <p:nvPicPr>
          <p:cNvPr id="16" name="Content Placeholder 15">
            <a:extLst>
              <a:ext uri="{FF2B5EF4-FFF2-40B4-BE49-F238E27FC236}">
                <a16:creationId xmlns:a16="http://schemas.microsoft.com/office/drawing/2014/main" id="{ABCFB71C-04B1-B813-F2F9-E3FCF87848D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690688"/>
            <a:ext cx="9699203" cy="4393561"/>
          </a:xfrm>
        </p:spPr>
      </p:pic>
    </p:spTree>
    <p:extLst>
      <p:ext uri="{BB962C8B-B14F-4D97-AF65-F5344CB8AC3E}">
        <p14:creationId xmlns:p14="http://schemas.microsoft.com/office/powerpoint/2010/main" val="1218941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6568</TotalTime>
  <Words>3464</Words>
  <Application>Microsoft Office PowerPoint</Application>
  <PresentationFormat>Widescreen</PresentationFormat>
  <Paragraphs>450</Paragraphs>
  <Slides>27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游ゴシック (Body)</vt:lpstr>
      <vt:lpstr>Arial</vt:lpstr>
      <vt:lpstr>Calibri</vt:lpstr>
      <vt:lpstr>Calibri Light</vt:lpstr>
      <vt:lpstr>Curlz MT</vt:lpstr>
      <vt:lpstr>Office Theme</vt:lpstr>
      <vt:lpstr>Surface Pattern Recognition Using Shape Subspace</vt:lpstr>
      <vt:lpstr>Contents</vt:lpstr>
      <vt:lpstr>Research Problem</vt:lpstr>
      <vt:lpstr>Research Background</vt:lpstr>
      <vt:lpstr>Research Background</vt:lpstr>
      <vt:lpstr>Related Research</vt:lpstr>
      <vt:lpstr>Related Research</vt:lpstr>
      <vt:lpstr>Related Research</vt:lpstr>
      <vt:lpstr>Proposed Method</vt:lpstr>
      <vt:lpstr>Experiment</vt:lpstr>
      <vt:lpstr>Experiment</vt:lpstr>
      <vt:lpstr>Experiment</vt:lpstr>
      <vt:lpstr>Experiment</vt:lpstr>
      <vt:lpstr>Experiment</vt:lpstr>
      <vt:lpstr>Summary of Initial Research</vt:lpstr>
      <vt:lpstr>Limitations Identified in Previous Work</vt:lpstr>
      <vt:lpstr>Sliding Window Approach</vt:lpstr>
      <vt:lpstr>Methodology</vt:lpstr>
      <vt:lpstr>Methodology</vt:lpstr>
      <vt:lpstr>Experimental Validation</vt:lpstr>
      <vt:lpstr>Experimental Validation</vt:lpstr>
      <vt:lpstr>Results: Synthetic Data Performance</vt:lpstr>
      <vt:lpstr>Results: Real-World Data Performance</vt:lpstr>
      <vt:lpstr>Key Finding: Data-Dependent Performance</vt:lpstr>
      <vt:lpstr>Future Work</vt:lpstr>
      <vt:lpstr>3D mesh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Naish</dc:creator>
  <cp:lastModifiedBy>Naish</cp:lastModifiedBy>
  <cp:revision>39</cp:revision>
  <dcterms:created xsi:type="dcterms:W3CDTF">2025-01-13T12:13:34Z</dcterms:created>
  <dcterms:modified xsi:type="dcterms:W3CDTF">2025-07-24T15:45:08Z</dcterms:modified>
</cp:coreProperties>
</file>